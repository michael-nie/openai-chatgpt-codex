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118872" cy="566928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10896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01 战略定位  </a:t>
            </a:r>
            <a:r>
              <a:rPr sz="25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一家公司,两套生意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68680"/>
            <a:ext cx="10789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上层抢 C 端入口,下层做 B 端底座,中间用算力飞轮把两头咬合起来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1064240" cy="16459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资料来源:国泰海通证券《OpenAI:AI 时代的基础设施与超级入口》(2026.05)及公开资料,本团队整理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144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01 /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6B52"/>
                </a:solidFill>
                <a:latin typeface="微软雅黑"/>
                <a:ea typeface="微软雅黑"/>
                <a:cs typeface="微软雅黑"/>
              </a:rPr>
              <a:t>两套生意,一个飞轮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55648"/>
            <a:ext cx="5120640" cy="1078992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83664"/>
            <a:ext cx="91440" cy="822959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28800"/>
            <a:ext cx="4754880" cy="93268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超级入口 · C 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数亿周活、ChatGPT、广告变现。流量是底盘,决定</a:t>
            </a:r>
            <a:r>
              <a:rPr sz="1150" b="1">
                <a:solidFill>
                  <a:srgbClr val="0A6B52"/>
                </a:solidFill>
                <a:latin typeface="微软雅黑"/>
                <a:ea typeface="微软雅黑"/>
                <a:cs typeface="微软雅黑"/>
              </a:rPr>
              <a:t>收入天花板</a:t>
            </a:r>
            <a:r>
              <a:rPr sz="115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44368"/>
            <a:ext cx="5120640" cy="1078992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072384"/>
            <a:ext cx="91440" cy="822959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017520"/>
            <a:ext cx="4754880" cy="93268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基础设施 · B 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企业 API、Codex、Frontier 智能体。高价值任务是</a:t>
            </a:r>
            <a:r>
              <a:rPr sz="1150" b="1">
                <a:solidFill>
                  <a:srgbClr val="0A6B52"/>
                </a:solidFill>
                <a:latin typeface="微软雅黑"/>
                <a:ea typeface="微软雅黑"/>
                <a:cs typeface="微软雅黑"/>
              </a:rPr>
              <a:t>利润来源</a:t>
            </a:r>
            <a:r>
              <a:rPr sz="115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,最先兑现现金流。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33087"/>
            <a:ext cx="5120640" cy="1700784"/>
          </a:xfrm>
          <a:prstGeom prst="roundRect">
            <a:avLst>
              <a:gd name="adj" fmla="val 6000"/>
            </a:avLst>
          </a:prstGeom>
          <a:solidFill>
            <a:srgbClr val="EA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261103"/>
            <a:ext cx="91440" cy="1444752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224528"/>
            <a:ext cx="475488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算力飞轮</a:t>
            </a:r>
            <a:r>
              <a:rPr sz="10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(自我强化的正循环)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算力扩张 → 模型变强 → 单位 token 成本下降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→ 收入增长 → 再投算力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管理层原话:每一代新基础设施,都让每个 token 比上一代更聪明。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1389888"/>
            <a:ext cx="5760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6B52"/>
                </a:solidFill>
                <a:latin typeface="微软雅黑"/>
                <a:ea typeface="微软雅黑"/>
                <a:cs typeface="微软雅黑"/>
              </a:rPr>
              <a:t>四个正在发生的转变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755648"/>
            <a:ext cx="5733288" cy="978408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97880" y="1883664"/>
            <a:ext cx="91440" cy="722376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755648"/>
            <a:ext cx="502920" cy="9784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10512"/>
            <a:ext cx="498348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模型竞赛 → 全栈竞赛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比的不再是单点跑分。4 月一个月内:功能密集更新(16 日)→ 接入 GPT-5.5(24 日)→ Codex 下载量反超(30 日)。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2802636"/>
            <a:ext cx="5733288" cy="978408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97880" y="2930652"/>
            <a:ext cx="91440" cy="722376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3328" y="2802636"/>
            <a:ext cx="502920" cy="9784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57500"/>
            <a:ext cx="498348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流量经济 → Token 经济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25% 的高价值场景拿走约 80% 收入。Claude Code 用户只有 ChatGPT 的 1/20,ARR 却已反超。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3849624"/>
            <a:ext cx="5733288" cy="978408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97880" y="3977639"/>
            <a:ext cx="91440" cy="722376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3328" y="3849624"/>
            <a:ext cx="502920" cy="9784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904487"/>
            <a:ext cx="498348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对话 → 自主执行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高价值任务讲究端到端闭环,单次 token 消耗是普通问答的几十到上百倍——这才是 B 端肯付高价的根因。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97880" y="4896612"/>
            <a:ext cx="5733288" cy="978408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97880" y="5024628"/>
            <a:ext cx="91440" cy="722376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4896612"/>
            <a:ext cx="502920" cy="9784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951476"/>
            <a:ext cx="498348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算力 → 收入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2025 年算力同比 +3 倍,ARR 同步 +3 倍。算力的锁定量,基本就是未来收入的先行指标。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989320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989320"/>
            <a:ext cx="118872" cy="475488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989320"/>
            <a:ext cx="10607040" cy="47548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决策启示  </a:t>
            </a: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看 OpenAI 别套互联网的 MAU×ARPU——决定胜负的是高价值任务的承载力,和提前锁定的算力。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118872" cy="566928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10896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02 技术路线  </a:t>
            </a:r>
            <a:r>
              <a:rPr sz="25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Coding 落后是“路线”问题,不是“能力”问题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68680"/>
            <a:ext cx="10789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Anthropic 早押 Harness,OpenAI 早押 RL;GPT-5.5 叠加 token 效率,差距正在被快速抹平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1064240" cy="16459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资料来源:国泰海通证券《OpenAI:AI 时代的基础设施与超级入口》(2026.05)及公开资料,本团队整理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144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02 /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17320"/>
            <a:ext cx="5440680" cy="1993392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45336"/>
            <a:ext cx="91440" cy="1737360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508760"/>
            <a:ext cx="50292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路线分化:为什么慢了半拍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A6B52"/>
                </a:solidFill>
                <a:latin typeface="微软雅黑"/>
                <a:ea typeface="微软雅黑"/>
                <a:cs typeface="微软雅黑"/>
              </a:rPr>
              <a:t>Anthropic — Harness 路线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把 Claude Code 直接嵌进真实开发流程,早早占住工作流。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OpenAI — RL 路线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靠评测、测试通过率、强化学习堆能力,产品化和工作流渗透慢半拍。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结论:不是模型不行,是产品化节奏落后——</a:t>
            </a:r>
            <a:r>
              <a:rPr sz="1080" b="1">
                <a:solidFill>
                  <a:srgbClr val="0A6B52"/>
                </a:solidFill>
                <a:latin typeface="微软雅黑"/>
                <a:ea typeface="微软雅黑"/>
                <a:cs typeface="微软雅黑"/>
              </a:rPr>
              <a:t>所以可追。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17320"/>
            <a:ext cx="5431536" cy="1993392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545336"/>
            <a:ext cx="91440" cy="1737360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08760"/>
            <a:ext cx="5020056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拐点:GPT-5.5 接入 Codex(4/24)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上下文窗口:</a:t>
            </a:r>
            <a:r>
              <a:rPr sz="110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工具端 400K / API 端 1M tokens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单任务 token 消耗:</a:t>
            </a:r>
            <a:r>
              <a:rPr sz="110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较前代下降约 40%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体验:</a:t>
            </a:r>
            <a:r>
              <a:rPr sz="110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长代码库理解、复杂任务执行明显改善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29584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657600"/>
            <a:ext cx="91440" cy="2075687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621024"/>
            <a:ext cx="502920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Token 效率:新的胜负手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同样 $20/月,Codex 的 token 效率约为 Claude Code 的 </a:t>
            </a:r>
            <a:r>
              <a:rPr sz="1080" b="1">
                <a:solidFill>
                  <a:srgbClr val="0A6B52"/>
                </a:solidFill>
                <a:latin typeface="微软雅黑"/>
                <a:ea typeface="微软雅黑"/>
                <a:cs typeface="微软雅黑"/>
              </a:rPr>
              <a:t>4 倍</a:t>
            </a:r>
            <a:r>
              <a:rPr sz="108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同一 Figma-to-code 任务:Codex 1.5M token(约 $15)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vs Claude Code 6.2M token(约 $155),价差 &gt;10 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882896"/>
            <a:ext cx="489204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周下载量(百万,5 月第一周)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157216"/>
            <a:ext cx="128016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Codex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85415" y="5193792"/>
            <a:ext cx="1920240" cy="256032"/>
          </a:xfrm>
          <a:prstGeom prst="roundRect">
            <a:avLst>
              <a:gd name="adj" fmla="val 6000"/>
            </a:avLst>
          </a:prstGeom>
          <a:solidFill>
            <a:srgbClr val="E4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85415" y="5193792"/>
            <a:ext cx="1920240" cy="256032"/>
          </a:xfrm>
          <a:prstGeom prst="roundRect">
            <a:avLst>
              <a:gd name="adj" fmla="val 6000"/>
            </a:avLst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9664" y="5157216"/>
            <a:ext cx="2103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86.1</a:t>
            </a:r>
            <a:r>
              <a:rPr sz="8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 环比 +1400%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541264"/>
            <a:ext cx="128016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Claude 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85415" y="5577840"/>
            <a:ext cx="1920240" cy="256032"/>
          </a:xfrm>
          <a:prstGeom prst="roundRect">
            <a:avLst>
              <a:gd name="adj" fmla="val 6000"/>
            </a:avLst>
          </a:prstGeom>
          <a:solidFill>
            <a:srgbClr val="E4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85415" y="5577840"/>
            <a:ext cx="160577" cy="256032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10001" y="5541264"/>
            <a:ext cx="21031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7.2</a:t>
            </a:r>
            <a:r>
              <a:rPr sz="8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  环比 -38%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529584"/>
            <a:ext cx="5431536" cy="2331720"/>
          </a:xfrm>
          <a:prstGeom prst="roundRect">
            <a:avLst>
              <a:gd name="adj" fmla="val 6000"/>
            </a:avLst>
          </a:prstGeom>
          <a:solidFill>
            <a:srgbClr val="EA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3657600"/>
            <a:ext cx="91440" cy="2075687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621024"/>
            <a:ext cx="502005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从“一个模型”到“一个平台”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企业可从多个入口接入,在同一平台完成扩展与深化。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4315968"/>
            <a:ext cx="235000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4315968"/>
            <a:ext cx="216712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ChatGPT for Work  </a:t>
            </a:r>
            <a:r>
              <a:rPr sz="93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办公协作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8552" y="4315968"/>
            <a:ext cx="235000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16568" y="4315968"/>
            <a:ext cx="216712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Codex  </a:t>
            </a:r>
            <a:r>
              <a:rPr sz="93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智能研发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73952" y="4864607"/>
            <a:ext cx="235000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4864607"/>
            <a:ext cx="216712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企业 API  </a:t>
            </a:r>
            <a:r>
              <a:rPr sz="93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规模化集成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8552" y="4864607"/>
            <a:ext cx="235000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16568" y="4864607"/>
            <a:ext cx="216712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Frontier  </a:t>
            </a:r>
            <a:r>
              <a:rPr sz="93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智能体 · 端到端执行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3952" y="5413248"/>
            <a:ext cx="486460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5413248"/>
            <a:ext cx="468172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芯片适配层  </a:t>
            </a:r>
            <a:r>
              <a:rPr sz="93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推理提效 · 降本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989320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5989320"/>
            <a:ext cx="118872" cy="475488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989320"/>
            <a:ext cx="10607040" cy="47548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决策启示  </a:t>
            </a: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月费一样、用量差一个数量级,对价格敏感的开发者迁移几乎没有摩擦——这是 Codex 一周暴涨的真正原因。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118872" cy="566928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10896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03 算力护城河  </a:t>
            </a:r>
            <a:r>
              <a:rPr sz="25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算力即护城河:30GW vs 12.3GW 的代差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68680"/>
            <a:ext cx="10789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把资本开支变成技术飞轮,这是 OpenAI 手里最确定的一张牌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1064240" cy="16459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8686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资料来源:国泰海通证券《OpenAI:AI 时代的基础设施与超级入口》(2026.05)及公开资料,本团队整理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144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03 /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17320"/>
            <a:ext cx="5440680" cy="1993392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45336"/>
            <a:ext cx="91440" cy="1737360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508760"/>
            <a:ext cx="50292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双层算力架构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0A6B52"/>
                </a:solidFill>
                <a:latin typeface="微软雅黑"/>
                <a:ea typeface="微软雅黑"/>
                <a:cs typeface="微软雅黑"/>
              </a:rPr>
              <a:t>专属训练层 · 星际之门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Oracle 承建,Blackwell/Rubin,6GW,约 $300 亿,2027 投用。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2C3A4B"/>
                </a:solidFill>
                <a:latin typeface="微软雅黑"/>
                <a:ea typeface="微软雅黑"/>
                <a:cs typeface="微软雅黑"/>
              </a:rPr>
              <a:t>商用层 · 多云多芯片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Azure 主力 + AWS(2GW Trainium / $1380 亿合同)+ Google TPU + Cerebras + CoreWeave。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17320"/>
            <a:ext cx="5431536" cy="1993392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545336"/>
            <a:ext cx="91440" cy="1737360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08760"/>
            <a:ext cx="5020056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规模与代差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OpenAI:1.9GW(2025)→ 约 30GW(2030),约 15 倍。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Anthropic 累计锁定约 12.3GW,前期投入不足,产品端被迫限流。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23160"/>
            <a:ext cx="4882896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2030 年算力储备(GW)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11430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OpenAI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734056"/>
            <a:ext cx="2734056" cy="256032"/>
          </a:xfrm>
          <a:prstGeom prst="roundRect">
            <a:avLst>
              <a:gd name="adj" fmla="val 6000"/>
            </a:avLst>
          </a:prstGeom>
          <a:solidFill>
            <a:srgbClr val="E4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0" y="2734056"/>
            <a:ext cx="2734056" cy="256032"/>
          </a:xfrm>
          <a:prstGeom prst="roundRect">
            <a:avLst>
              <a:gd name="adj" fmla="val 6000"/>
            </a:avLst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9024" y="2697480"/>
            <a:ext cx="14173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30.0 GW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81528"/>
            <a:ext cx="11430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Anthropic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118104"/>
            <a:ext cx="2734056" cy="256032"/>
          </a:xfrm>
          <a:prstGeom prst="roundRect">
            <a:avLst>
              <a:gd name="adj" fmla="val 6000"/>
            </a:avLst>
          </a:prstGeom>
          <a:solidFill>
            <a:srgbClr val="E4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80960" y="3118104"/>
            <a:ext cx="1120962" cy="256032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5930" y="3081528"/>
            <a:ext cx="14173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12.3 GW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529584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657600"/>
            <a:ext cx="91440" cy="2075687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3621024"/>
            <a:ext cx="5029200" cy="216712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路线代价与盈利节奏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6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OpenAI 走 NVIDIA GPU(通用、生态广,但功耗成本高);Anthropic 走“大模型+ASIC”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(TPU/Trainium,单位能效优)→ OpenAI 训练成本长期更高。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毛利率:</a:t>
            </a:r>
            <a:r>
              <a:rPr sz="110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33%(2025)→ 67%(2030)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经营利润:</a:t>
            </a:r>
            <a:r>
              <a:rPr sz="110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2029 转正 $72 亿 → 2030 $857 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自由现金流:</a:t>
            </a:r>
            <a:r>
              <a:rPr sz="110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2030 年转正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529584"/>
            <a:ext cx="5431536" cy="23317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3657600"/>
            <a:ext cx="91440" cy="2075687"/>
          </a:xfrm>
          <a:prstGeom prst="rect">
            <a:avLst/>
          </a:prstGeom>
          <a:solidFill>
            <a:srgbClr val="C0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621024"/>
            <a:ext cx="5020056" cy="216712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需要盯住的风险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C0532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商业化:</a:t>
            </a:r>
            <a:r>
              <a:rPr sz="110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2030 年测算前提多,可能不及预期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C0532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竞争与迭代:</a:t>
            </a:r>
            <a:r>
              <a:rPr sz="110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Anthropic、Gemini、Grok 及中国模型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C0532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资产负债表:</a:t>
            </a:r>
            <a:r>
              <a:rPr sz="110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前置投入大,现金流承压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C0532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100" b="1">
                <a:solidFill>
                  <a:srgbClr val="1A1F2B"/>
                </a:solidFill>
                <a:latin typeface="微软雅黑"/>
                <a:ea typeface="微软雅黑"/>
                <a:cs typeface="微软雅黑"/>
              </a:rPr>
              <a:t>测算口径:</a:t>
            </a:r>
            <a:r>
              <a:rPr sz="1100" b="0">
                <a:solidFill>
                  <a:srgbClr val="333A46"/>
                </a:solidFill>
                <a:latin typeface="微软雅黑"/>
                <a:ea typeface="微软雅黑"/>
                <a:cs typeface="微软雅黑"/>
              </a:rPr>
              <a:t>财务假设偏乐观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989320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989320"/>
            <a:ext cx="118872" cy="475488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989320"/>
            <a:ext cx="10607040" cy="47548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8F6E"/>
                </a:solidFill>
                <a:latin typeface="微软雅黑"/>
                <a:ea typeface="微软雅黑"/>
                <a:cs typeface="微软雅黑"/>
              </a:rPr>
              <a:t>总落点  </a:t>
            </a: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短期看 Coding 追赶,中期看广告弹性($1020 亿目标),长期赌算力飞轮——三者里,算力最确定。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