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98480" y="640080"/>
            <a:ext cx="457200" cy="457200"/>
          </a:xfrm>
          <a:prstGeom prst="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1371600"/>
            <a:ext cx="256032" cy="25603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0" y="5394960"/>
            <a:ext cx="310896" cy="310896"/>
          </a:xfrm>
          <a:prstGeom prst="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21440" y="4572000"/>
            <a:ext cx="201168" cy="201168"/>
          </a:xfrm>
          <a:prstGeom prst="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0515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020"/>
                </a:solidFill>
                <a:latin typeface="Arial"/>
                <a:ea typeface="Microsoft YaHei"/>
              </a:rPr>
              <a:t>开源项目深度洞察报告  ·  AI AGENT SKILLS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0020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0" b="1" i="0">
                <a:solidFill>
                  <a:srgbClr val="FFFFFF"/>
                </a:solidFill>
                <a:latin typeface="Arial"/>
                <a:ea typeface="Microsoft YaHei"/>
              </a:rPr>
              <a:t>Superpowers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7180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CECFEC"/>
                </a:solidFill>
                <a:latin typeface="Arial"/>
                <a:ea typeface="Microsoft YaHei"/>
              </a:rPr>
              <a:t>给 AI 编码代理装上一整套「软件开发方法论」的可自动触发技能框架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822191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9DCF"/>
                </a:solidFill>
                <a:latin typeface="Arial"/>
                <a:ea typeface="Microsoft YaHei"/>
              </a:rPr>
              <a:t>github.com/obra/superpowers   ·   作者 Jesse Vincent / Prime Radiant   ·   MIT 许可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" y="4709160"/>
            <a:ext cx="2468880" cy="1051560"/>
          </a:xfrm>
          <a:prstGeom prst="roundRect">
            <a:avLst>
              <a:gd name="adj" fmla="val 4500"/>
            </a:avLst>
          </a:prstGeom>
          <a:solidFill>
            <a:srgbClr val="202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855464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B020"/>
                </a:solidFill>
                <a:latin typeface="Arial"/>
                <a:ea typeface="Microsoft YaHei"/>
              </a:rPr>
              <a:t>232k+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367528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8BAE0"/>
                </a:solidFill>
                <a:latin typeface="Arial"/>
                <a:ea typeface="Microsoft YaHei"/>
              </a:rPr>
              <a:t>GitHub Stars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11296" y="4709160"/>
            <a:ext cx="2468880" cy="1051560"/>
          </a:xfrm>
          <a:prstGeom prst="roundRect">
            <a:avLst>
              <a:gd name="adj" fmla="val 4500"/>
            </a:avLst>
          </a:prstGeom>
          <a:solidFill>
            <a:srgbClr val="202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6" y="4855464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B020"/>
                </a:solidFill>
                <a:latin typeface="Arial"/>
                <a:ea typeface="Microsoft YaHe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5367528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8BAE0"/>
                </a:solidFill>
                <a:latin typeface="Arial"/>
                <a:ea typeface="Microsoft YaHei"/>
              </a:rPr>
              <a:t>核心技能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4709160"/>
            <a:ext cx="2468880" cy="1051560"/>
          </a:xfrm>
          <a:prstGeom prst="roundRect">
            <a:avLst>
              <a:gd name="adj" fmla="val 4500"/>
            </a:avLst>
          </a:prstGeom>
          <a:solidFill>
            <a:srgbClr val="202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4855464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B020"/>
                </a:solidFill>
                <a:latin typeface="Arial"/>
                <a:ea typeface="Microsoft YaHe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5367528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8BAE0"/>
                </a:solidFill>
                <a:latin typeface="Arial"/>
                <a:ea typeface="Microsoft YaHei"/>
              </a:rPr>
              <a:t>支持的平台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709160"/>
            <a:ext cx="2468880" cy="1051560"/>
          </a:xfrm>
          <a:prstGeom prst="roundRect">
            <a:avLst>
              <a:gd name="adj" fmla="val 4500"/>
            </a:avLst>
          </a:prstGeom>
          <a:solidFill>
            <a:srgbClr val="202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855464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B020"/>
                </a:solidFill>
                <a:latin typeface="Arial"/>
                <a:ea typeface="Microsoft YaHei"/>
              </a:rPr>
              <a:t>v6.0.2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367528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8BAE0"/>
                </a:solidFill>
                <a:latin typeface="Arial"/>
                <a:ea typeface="Microsoft YaHei"/>
              </a:rPr>
              <a:t>最新版本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6080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3A6"/>
                </a:solidFill>
                <a:latin typeface="Arial"/>
                <a:ea typeface="Microsoft YaHei"/>
              </a:rPr>
              <a:t>报告日期 2026-06-18   |   数据来源：项目仓库源码 (v6.0.2) 与公开资料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报告导览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本报告的六个部分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01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3529584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109728" cy="1920240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157984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C3BE0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5292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3263B"/>
                </a:solidFill>
                <a:latin typeface="Arial"/>
                <a:ea typeface="Microsoft YaHei"/>
              </a:rPr>
              <a:t>项目是什么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291840"/>
            <a:ext cx="2962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B8096"/>
                </a:solidFill>
                <a:latin typeface="Arial"/>
                <a:ea typeface="Microsoft YaHei"/>
              </a:rPr>
              <a:t>定位、作者、影响力数据与生态地位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920240"/>
            <a:ext cx="3529584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920240"/>
            <a:ext cx="109728" cy="1920240"/>
          </a:xfrm>
          <a:prstGeom prst="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2157984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6C79A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85292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3263B"/>
                </a:solidFill>
                <a:latin typeface="Arial"/>
                <a:ea typeface="Microsoft YaHei"/>
              </a:rPr>
              <a:t>核心理念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291840"/>
            <a:ext cx="2962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B8096"/>
                </a:solidFill>
                <a:latin typeface="Arial"/>
                <a:ea typeface="Microsoft YaHei"/>
              </a:rPr>
              <a:t>TDD、系统化、证据优先的四大支柱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3296" y="1920240"/>
            <a:ext cx="3529584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920240"/>
            <a:ext cx="109728" cy="1920240"/>
          </a:xfrm>
          <a:prstGeom prst="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2157984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7A5CF0"/>
                </a:solidFill>
                <a:latin typeface="Arial"/>
                <a:ea typeface="Microsoft YaHe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5292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3263B"/>
                </a:solidFill>
                <a:latin typeface="Arial"/>
                <a:ea typeface="Microsoft YaHei"/>
              </a:rPr>
              <a:t>架构与机制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3291840"/>
            <a:ext cx="2962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B8096"/>
                </a:solidFill>
                <a:latin typeface="Arial"/>
                <a:ea typeface="Microsoft YaHei"/>
              </a:rPr>
              <a:t>三层架构、自动触发、端到端工作流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096512"/>
            <a:ext cx="3529584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096512"/>
            <a:ext cx="109728" cy="19202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334256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B020"/>
                </a:solidFill>
                <a:latin typeface="Arial"/>
                <a:ea typeface="Microsoft YaHei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02920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3263B"/>
                </a:solidFill>
                <a:latin typeface="Arial"/>
                <a:ea typeface="Microsoft YaHei"/>
              </a:rPr>
              <a:t>招牌技能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5468112"/>
            <a:ext cx="2962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B8096"/>
                </a:solidFill>
                <a:latin typeface="Arial"/>
                <a:ea typeface="Microsoft YaHei"/>
              </a:rPr>
              <a:t>TDD / 子代理开发 / 头脑风暴 拆解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5968" y="4096512"/>
            <a:ext cx="3529584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15968" y="4096512"/>
            <a:ext cx="109728" cy="1920240"/>
          </a:xfrm>
          <a:prstGeom prst="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6864" y="4334256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5D8F"/>
                </a:solidFill>
                <a:latin typeface="Arial"/>
                <a:ea typeface="Microsoft YaHei"/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502920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3263B"/>
                </a:solidFill>
                <a:latin typeface="Arial"/>
                <a:ea typeface="Microsoft YaHei"/>
              </a:rPr>
              <a:t>杀手锏设计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6864" y="5468112"/>
            <a:ext cx="2962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B8096"/>
                </a:solidFill>
                <a:latin typeface="Arial"/>
                <a:ea typeface="Microsoft YaHei"/>
              </a:rPr>
              <a:t>技能即代码、对抗合理化、说服心理学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83296" y="4096512"/>
            <a:ext cx="3529584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83296" y="4096512"/>
            <a:ext cx="109728" cy="1920240"/>
          </a:xfrm>
          <a:prstGeom prst="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4334256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6C79A"/>
                </a:solidFill>
                <a:latin typeface="Arial"/>
                <a:ea typeface="Microsoft YaHei"/>
              </a:rPr>
              <a:t>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502920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3263B"/>
                </a:solidFill>
                <a:latin typeface="Arial"/>
                <a:ea typeface="Microsoft YaHei"/>
              </a:rPr>
              <a:t>价值与启示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5468112"/>
            <a:ext cx="2962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B8096"/>
                </a:solidFill>
                <a:latin typeface="Arial"/>
                <a:ea typeface="Microsoft YaHei"/>
              </a:rPr>
              <a:t>跨平台移植、社区治理、优势与局限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一句话看懂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它不是「提示词集合」，而是一套方法论操作系统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02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11091672" cy="1371600"/>
          </a:xfrm>
          <a:prstGeom prst="roundRect">
            <a:avLst>
              <a:gd name="adj" fmla="val 4500"/>
            </a:avLst>
          </a:prstGeom>
          <a:solidFill>
            <a:srgbClr val="F1EFFD"/>
          </a:solidFill>
          <a:ln>
            <a:noFill/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128016" cy="1371600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10515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C3BE0"/>
                </a:solidFill>
                <a:latin typeface="Arial"/>
                <a:ea typeface="Microsoft YaHei"/>
              </a:rPr>
              <a:t>核心结论：</a:t>
            </a:r>
            <a:r>
              <a:rPr sz="1800" b="1" i="0">
                <a:solidFill>
                  <a:srgbClr val="23263B"/>
                </a:solidFill>
                <a:latin typeface="Arial"/>
                <a:ea typeface="Microsoft YaHei"/>
              </a:rPr>
              <a:t>Superpowers 把「先想清楚→写计划→测试驱动→子代理执行→分级评审」这套人类工程纪律，</a:t>
            </a:r>
            <a:r>
              <a:rPr sz="1800" b="1" i="0">
                <a:solidFill>
                  <a:srgbClr val="23263B"/>
                </a:solidFill>
                <a:latin typeface="Arial"/>
                <a:ea typeface="Microsoft YaHei"/>
              </a:rPr>
              <a:t>固化为会自动触发的技能，让 AI 代理「不假思索地按最佳实践干活」。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56432"/>
            <a:ext cx="2706624" cy="26060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3730752"/>
            <a:ext cx="457200" cy="457200"/>
          </a:xfrm>
          <a:prstGeom prst="ellipse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7307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370832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263B"/>
                </a:solidFill>
                <a:latin typeface="Arial"/>
                <a:ea typeface="Microsoft YaHei"/>
              </a:rPr>
              <a:t>强制流程，而非建议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029200"/>
            <a:ext cx="22311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B8096"/>
                </a:solidFill>
                <a:latin typeface="Arial"/>
                <a:ea typeface="Microsoft YaHei"/>
              </a:rPr>
              <a:t>开场即注入规则：哪怕只有 1% 可能相关，也必须先调用技能——把方法论变成不可绕过的默认行为。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456432"/>
            <a:ext cx="2706624" cy="26060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85032" y="3730752"/>
            <a:ext cx="457200" cy="457200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5032" y="37307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4370832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263B"/>
                </a:solidFill>
                <a:latin typeface="Arial"/>
                <a:ea typeface="Microsoft YaHei"/>
              </a:rPr>
              <a:t>技能即代码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5029200"/>
            <a:ext cx="22311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B8096"/>
                </a:solidFill>
                <a:latin typeface="Arial"/>
                <a:ea typeface="Microsoft YaHei"/>
              </a:rPr>
              <a:t>每条技能都用「对流程做 TDD」的方式编写与压力测试，而不是随手写的散文。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456432"/>
            <a:ext cx="2706624" cy="26060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65392" y="3730752"/>
            <a:ext cx="457200" cy="457200"/>
          </a:xfrm>
          <a:prstGeom prst="ellipse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7307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4370832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263B"/>
                </a:solidFill>
                <a:latin typeface="Arial"/>
                <a:ea typeface="Microsoft YaHei"/>
              </a:rPr>
              <a:t>一份内容跑遍 8 个平台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029200"/>
            <a:ext cx="22311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B8096"/>
                </a:solidFill>
                <a:latin typeface="Arial"/>
                <a:ea typeface="Microsoft YaHei"/>
              </a:rPr>
              <a:t>技能只描述「动作」不绑定工具，靠各平台的薄引导层适配 Claude Code / Codex / Gemini 等。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3456432"/>
            <a:ext cx="2706624" cy="26060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45752" y="3730752"/>
            <a:ext cx="457200" cy="4572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45752" y="37307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4370832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263B"/>
                </a:solidFill>
                <a:latin typeface="Arial"/>
                <a:ea typeface="Microsoft YaHei"/>
              </a:rPr>
              <a:t>可自主运行数小时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5752" y="5029200"/>
            <a:ext cx="22311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B8096"/>
                </a:solidFill>
                <a:latin typeface="Arial"/>
                <a:ea typeface="Microsoft YaHei"/>
              </a:rPr>
              <a:t>子代理逐任务实现+评审，常见可连续无人工干预工作 1–2 小时不偏离计划。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项目概览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项目是什么 · 谁在做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03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65836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4C3BE0"/>
                </a:solidFill>
                <a:latin typeface="Arial"/>
                <a:ea typeface="Microsoft YaHei"/>
              </a:rPr>
              <a:t>Superpowers</a:t>
            </a:r>
            <a:r>
              <a:rPr sz="1400" b="0" i="0">
                <a:solidFill>
                  <a:srgbClr val="23263B"/>
                </a:solidFill>
                <a:latin typeface="Arial"/>
                <a:ea typeface="Microsoft YaHei"/>
              </a:rPr>
              <a:t> 自称「一套真正可用的 AI 软件开发方法论」，由一组可组合的技能 (skills) 加上一段让代理务必使用它们的开场指令构成。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350" b="1">
                <a:solidFill>
                  <a:srgbClr val="23263B"/>
                </a:solidFill>
                <a:latin typeface="Arial"/>
                <a:ea typeface="Microsoft YaHei"/>
              </a:rPr>
              <a:t>形态：</a:t>
            </a:r>
            <a:r>
              <a:rPr sz="1350" b="0">
                <a:solidFill>
                  <a:srgbClr val="23263B"/>
                </a:solidFill>
                <a:latin typeface="Arial"/>
                <a:ea typeface="Microsoft YaHei"/>
              </a:rPr>
              <a:t>由一系列 SKILL.md 文档组成，而非传统代码库——文档即是塑造代理行为的「源码」。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350" b="1">
                <a:solidFill>
                  <a:srgbClr val="23263B"/>
                </a:solidFill>
                <a:latin typeface="Arial"/>
                <a:ea typeface="Microsoft YaHei"/>
              </a:rPr>
              <a:t>作者：</a:t>
            </a:r>
            <a:r>
              <a:rPr sz="1350" b="0">
                <a:solidFill>
                  <a:srgbClr val="23263B"/>
                </a:solidFill>
                <a:latin typeface="Arial"/>
                <a:ea typeface="Microsoft YaHei"/>
              </a:rPr>
              <a:t>Jesse Vincent（@obra）——Request Tracker 作者、Perl 5 前 pumpking、Keyboardio 联合创始人，背后是 Prime Radiant 团队。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350" b="1">
                <a:solidFill>
                  <a:srgbClr val="23263B"/>
                </a:solidFill>
                <a:latin typeface="Arial"/>
                <a:ea typeface="Microsoft YaHei"/>
              </a:rPr>
              <a:t>里程碑：</a:t>
            </a:r>
            <a:r>
              <a:rPr sz="1350" b="0">
                <a:solidFill>
                  <a:srgbClr val="23263B"/>
                </a:solidFill>
                <a:latin typeface="Arial"/>
                <a:ea typeface="Microsoft YaHei"/>
              </a:rPr>
              <a:t>2025 年 10 月发布；2026 年 1 月被 Anthropic 正式收入官方 Claude 插件市场。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350" b="1">
                <a:solidFill>
                  <a:srgbClr val="23263B"/>
                </a:solidFill>
                <a:latin typeface="Arial"/>
                <a:ea typeface="Microsoft YaHei"/>
              </a:rPr>
              <a:t>许可：</a:t>
            </a:r>
            <a:r>
              <a:rPr sz="1350" b="0">
                <a:solidFill>
                  <a:srgbClr val="23263B"/>
                </a:solidFill>
                <a:latin typeface="Arial"/>
                <a:ea typeface="Microsoft YaHei"/>
              </a:rPr>
              <a:t>MIT 许可证，零第三方依赖，刻意保持「纯插件」设计。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350" b="1">
                <a:solidFill>
                  <a:srgbClr val="23263B"/>
                </a:solidFill>
                <a:latin typeface="Arial"/>
                <a:ea typeface="Microsoft YaHei"/>
              </a:rPr>
              <a:t>覆盖：</a:t>
            </a:r>
            <a:r>
              <a:rPr sz="1350" b="0">
                <a:solidFill>
                  <a:srgbClr val="23263B"/>
                </a:solidFill>
                <a:latin typeface="Arial"/>
                <a:ea typeface="Microsoft YaHei"/>
              </a:rPr>
              <a:t>可在 8 个编码代理平台运行（Claude Code、Codex、Cursor、Gemini、Copilot、Kimi、OpenCode、Pi 等）。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920240"/>
            <a:ext cx="4279392" cy="4069080"/>
          </a:xfrm>
          <a:prstGeom prst="roundRect">
            <a:avLst>
              <a:gd name="adj" fmla="val 4500"/>
            </a:avLst>
          </a:prstGeom>
          <a:solidFill>
            <a:srgbClr val="0F1031"/>
          </a:solidFill>
          <a:ln>
            <a:noFill/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1920240"/>
            <a:ext cx="4279392" cy="1097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24028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7A5CF0"/>
                </a:solidFill>
                <a:latin typeface="Arial"/>
                <a:ea typeface="Microsoft YaHei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926080"/>
            <a:ext cx="3657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FFFFFF"/>
                </a:solidFill>
                <a:latin typeface="Arial"/>
                <a:ea typeface="Microsoft YaHei"/>
              </a:rPr>
              <a:t>Jesse Vincent 是我所认识的、最具创造力的编码代理使用者之一；Superpowers 里的想法令人着迷。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0749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8BAE0"/>
                </a:solidFill>
                <a:latin typeface="Arial"/>
                <a:ea typeface="Microsoft YaHei"/>
              </a:rPr>
              <a:t>— Simon Willison（Datasette 作者）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4864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8084B8"/>
                </a:solidFill>
                <a:latin typeface="Arial"/>
                <a:ea typeface="Microsoft YaHei"/>
              </a:rPr>
              <a:t>仓库自我定位：An agentic skills framework that 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影响力数据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五个月从 0 到行业现象级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04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2706624" cy="173736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502151"/>
            <a:ext cx="2706624" cy="109728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48839"/>
            <a:ext cx="27066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C3BE0"/>
                </a:solidFill>
                <a:latin typeface="Arial"/>
                <a:ea typeface="Microsoft YaHei"/>
              </a:rPr>
              <a:t>232k+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19"/>
            <a:ext cx="2706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B8096"/>
                </a:solidFill>
                <a:latin typeface="Arial"/>
                <a:ea typeface="Microsoft YaHei"/>
              </a:rPr>
              <a:t>GitHub Stars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874519"/>
            <a:ext cx="2706624" cy="173736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3502151"/>
            <a:ext cx="2706624" cy="109728"/>
          </a:xfrm>
          <a:prstGeom prst="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148839"/>
            <a:ext cx="27066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6C79A"/>
                </a:solidFill>
                <a:latin typeface="Arial"/>
                <a:ea typeface="Microsoft YaHei"/>
              </a:rPr>
              <a:t>20.6k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017519"/>
            <a:ext cx="2706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B8096"/>
                </a:solidFill>
                <a:latin typeface="Arial"/>
                <a:ea typeface="Microsoft YaHei"/>
              </a:rPr>
              <a:t>Forks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74519"/>
            <a:ext cx="2706624" cy="173736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502151"/>
            <a:ext cx="2706624" cy="109728"/>
          </a:xfrm>
          <a:prstGeom prst="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148839"/>
            <a:ext cx="27066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7A5CF0"/>
                </a:solidFill>
                <a:latin typeface="Arial"/>
                <a:ea typeface="Microsoft YaHe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17519"/>
            <a:ext cx="2706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B8096"/>
                </a:solidFill>
                <a:latin typeface="Arial"/>
                <a:ea typeface="Microsoft YaHei"/>
              </a:rPr>
              <a:t>支持平台 (Harness)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874519"/>
            <a:ext cx="2706624" cy="173736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3502151"/>
            <a:ext cx="2706624" cy="1097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48839"/>
            <a:ext cx="27066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B020"/>
                </a:solidFill>
                <a:latin typeface="Arial"/>
                <a:ea typeface="Microsoft YaHei"/>
              </a:rPr>
              <a:t>40+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017519"/>
            <a:ext cx="2706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B8096"/>
                </a:solidFill>
                <a:latin typeface="Arial"/>
                <a:ea typeface="Microsoft YaHei"/>
              </a:rPr>
              <a:t>已发布版本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86200"/>
            <a:ext cx="11091672" cy="21031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069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263B"/>
                </a:solidFill>
                <a:latin typeface="Arial"/>
                <a:ea typeface="Microsoft YaHei"/>
              </a:rPr>
              <a:t>成长轨迹与生态地位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" y="5074920"/>
            <a:ext cx="10058400" cy="254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3000" y="4992624"/>
            <a:ext cx="182880" cy="182880"/>
          </a:xfrm>
          <a:prstGeom prst="ellipse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257800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C3BE0"/>
                </a:solidFill>
                <a:latin typeface="Arial"/>
                <a:ea typeface="Microsoft YaHei"/>
              </a:rPr>
              <a:t>2025·10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53212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B8096"/>
                </a:solidFill>
                <a:latin typeface="Arial"/>
                <a:ea typeface="Microsoft YaHei"/>
              </a:rPr>
              <a:t>项目发布，配套博客 fsck.com 公开</a:t>
            </a:r>
          </a:p>
        </p:txBody>
      </p:sp>
      <p:sp>
        <p:nvSpPr>
          <p:cNvPr id="33" name="Oval 32"/>
          <p:cNvSpPr/>
          <p:nvPr/>
        </p:nvSpPr>
        <p:spPr>
          <a:xfrm>
            <a:off x="3749040" y="4992624"/>
            <a:ext cx="182880" cy="182880"/>
          </a:xfrm>
          <a:prstGeom prst="ellipse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5257800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5D8F"/>
                </a:solidFill>
                <a:latin typeface="Arial"/>
                <a:ea typeface="Microsoft YaHei"/>
              </a:rPr>
              <a:t>5 个月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53212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B8096"/>
                </a:solidFill>
                <a:latin typeface="Arial"/>
                <a:ea typeface="Microsoft YaHei"/>
              </a:rPr>
              <a:t>GitHub Stars 突破 10 万，成长极快</a:t>
            </a:r>
          </a:p>
        </p:txBody>
      </p:sp>
      <p:sp>
        <p:nvSpPr>
          <p:cNvPr id="36" name="Oval 35"/>
          <p:cNvSpPr/>
          <p:nvPr/>
        </p:nvSpPr>
        <p:spPr>
          <a:xfrm>
            <a:off x="6355080" y="4992624"/>
            <a:ext cx="182880" cy="182880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5257800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C79A"/>
                </a:solidFill>
                <a:latin typeface="Arial"/>
                <a:ea typeface="Microsoft YaHei"/>
              </a:rPr>
              <a:t>2026·01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53212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B8096"/>
                </a:solidFill>
                <a:latin typeface="Arial"/>
                <a:ea typeface="Microsoft YaHei"/>
              </a:rPr>
              <a:t>进入 Anthropic 官方 Claude 插件市场</a:t>
            </a:r>
          </a:p>
        </p:txBody>
      </p:sp>
      <p:sp>
        <p:nvSpPr>
          <p:cNvPr id="39" name="Oval 38"/>
          <p:cNvSpPr/>
          <p:nvPr/>
        </p:nvSpPr>
        <p:spPr>
          <a:xfrm>
            <a:off x="8961120" y="4992624"/>
            <a:ext cx="182880" cy="18288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5257800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B020"/>
                </a:solidFill>
                <a:latin typeface="Arial"/>
                <a:ea typeface="Microsoft YaHei"/>
              </a:rPr>
              <a:t>2026·06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553212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B8096"/>
                </a:solidFill>
                <a:latin typeface="Arial"/>
                <a:ea typeface="Microsoft YaHei"/>
              </a:rPr>
              <a:t>v6.0.2：子代理评审重写、新增 3 个平台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核心理念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四大支柱：纪律高于灵感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05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5449824" cy="1993392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128016" cy="1993392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57984"/>
            <a:ext cx="34381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263B"/>
                </a:solidFill>
                <a:latin typeface="Arial"/>
                <a:ea typeface="Microsoft YaHei"/>
              </a:rPr>
              <a:t>测试驱动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670048"/>
            <a:ext cx="40782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Test-Driven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035808"/>
            <a:ext cx="47183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B8096"/>
                </a:solidFill>
                <a:latin typeface="Arial"/>
                <a:ea typeface="Microsoft YaHei"/>
              </a:rPr>
              <a:t>始终先写测试。没看着测试失败，就不知道它测对了没有。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084832"/>
            <a:ext cx="1188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EEFF8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920240"/>
            <a:ext cx="5449824" cy="1993392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920240"/>
            <a:ext cx="128016" cy="1993392"/>
          </a:xfrm>
          <a:prstGeom prst="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157984"/>
            <a:ext cx="34381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263B"/>
                </a:solidFill>
                <a:latin typeface="Arial"/>
                <a:ea typeface="Microsoft YaHei"/>
              </a:rPr>
              <a:t>系统化优于随意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70048"/>
            <a:ext cx="40782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C79A"/>
                </a:solidFill>
                <a:latin typeface="Arial"/>
                <a:ea typeface="Microsoft YaHei"/>
              </a:rPr>
              <a:t>Systematic over ad-hoc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035808"/>
            <a:ext cx="47183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B8096"/>
                </a:solidFill>
                <a:latin typeface="Arial"/>
                <a:ea typeface="Microsoft YaHei"/>
              </a:rPr>
              <a:t>用流程取代猜测：随机修补浪费时间，还制造新问题。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9568" y="2084832"/>
            <a:ext cx="1188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EEFF8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5449824" cy="1993392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128016" cy="1993392"/>
          </a:xfrm>
          <a:prstGeom prst="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52544"/>
            <a:ext cx="34381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263B"/>
                </a:solidFill>
                <a:latin typeface="Arial"/>
                <a:ea typeface="Microsoft YaHei"/>
              </a:rPr>
              <a:t>复杂度削减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864608"/>
            <a:ext cx="40782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A5CF0"/>
                </a:solidFill>
                <a:latin typeface="Arial"/>
                <a:ea typeface="Microsoft YaHei"/>
              </a:rPr>
              <a:t>Complexity 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230368"/>
            <a:ext cx="47183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B8096"/>
                </a:solidFill>
                <a:latin typeface="Arial"/>
                <a:ea typeface="Microsoft YaHei"/>
              </a:rPr>
              <a:t>把「简单」当成首要目标，YAGNI / DRY 贯穿设计。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4279392"/>
            <a:ext cx="1188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EEFF8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114800"/>
            <a:ext cx="5449824" cy="1993392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114800"/>
            <a:ext cx="128016" cy="199339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352544"/>
            <a:ext cx="34381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263B"/>
                </a:solidFill>
                <a:latin typeface="Arial"/>
                <a:ea typeface="Microsoft YaHei"/>
              </a:rPr>
              <a:t>证据优于断言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4864608"/>
            <a:ext cx="40782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B020"/>
                </a:solidFill>
                <a:latin typeface="Arial"/>
                <a:ea typeface="Microsoft YaHei"/>
              </a:rPr>
              <a:t>Evidence over claims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5230368"/>
            <a:ext cx="47183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B8096"/>
                </a:solidFill>
                <a:latin typeface="Arial"/>
                <a:ea typeface="Microsoft YaHei"/>
              </a:rPr>
              <a:t>声称完成前必须跑验证命令——没有证据就是撒谎。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4279392"/>
            <a:ext cx="1188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EEFF8"/>
                </a:solidFill>
                <a:latin typeface="Arial"/>
                <a:ea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架构与机制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三层架构：内容与平台彻底解耦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06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B8096"/>
                </a:solidFill>
                <a:latin typeface="Arial"/>
                <a:ea typeface="Microsoft YaHei"/>
              </a:rPr>
              <a:t>「同一份技能内容，跑遍每一个平台」——变化的只是把内容送到模型面前的那层薄适配。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6000"/>
            <a:ext cx="11091672" cy="1207008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640080" cy="1207008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86000"/>
            <a:ext cx="4572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5059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63B"/>
                </a:solidFill>
                <a:latin typeface="Arial"/>
                <a:ea typeface="Microsoft YaHei"/>
              </a:rPr>
              <a:t>1 · 技能层  Skills（平台无关）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52928"/>
            <a:ext cx="9966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7B8096"/>
                </a:solidFill>
                <a:latin typeface="Arial"/>
                <a:ea typeface="Microsoft YaHei"/>
              </a:rPr>
              <a:t>skills/ 目录是唯一真源，所有平台逐字共享。技能只描述动作——「调用技能」「读文件」「派发子代理」「建待办」——绝不写死任何具体工具名。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11091672" cy="1207008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640080" cy="1207008"/>
          </a:xfrm>
          <a:prstGeom prst="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611880"/>
            <a:ext cx="4572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77647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63B"/>
                </a:solidFill>
                <a:latin typeface="Arial"/>
                <a:ea typeface="Microsoft YaHei"/>
              </a:rPr>
              <a:t>2 · 工具映射  Tool Mapping（每平台一份）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178808"/>
            <a:ext cx="9966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7B8096"/>
                </a:solidFill>
                <a:latin typeface="Arial"/>
                <a:ea typeface="Microsoft YaHei"/>
              </a:rPr>
              <a:t>把动作词汇翻译成各平台真实工具名，存放于 references/&lt;harness&gt;-tools.md。例：「派发子代理」→ 调用 task 并指定 subagent_type。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11091672" cy="1207008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640080" cy="120700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37760"/>
            <a:ext cx="4572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10235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63B"/>
                </a:solidFill>
                <a:latin typeface="Arial"/>
                <a:ea typeface="Microsoft YaHei"/>
              </a:rPr>
              <a:t>3 · 引导层  Bootstrap（每平台一份）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504688"/>
            <a:ext cx="9966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7B8096"/>
                </a:solidFill>
                <a:latin typeface="Arial"/>
                <a:ea typeface="Microsoft YaHei"/>
              </a:rPr>
              <a:t>每次会话开始，把 using-superpowers 全文包进 &lt;EXTREMELY_IMPORTANT&gt; 注入上下文。它是整个集成的全部——没有它，技能文件只是磁盘上从不被调用的死代码。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架构与机制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自动触发：把方法论变成默认行为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07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263B"/>
                </a:solidFill>
                <a:latin typeface="Arial"/>
                <a:ea typeface="Microsoft YaHei"/>
              </a:rPr>
              <a:t>会话开始那一刻发生了什么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31720"/>
            <a:ext cx="5486400" cy="786384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91440" cy="78638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414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B"/>
                </a:solidFill>
                <a:latin typeface="Arial"/>
                <a:ea typeface="Microsoft YaHei"/>
              </a:rPr>
              <a:t>1. SessionStart 钩子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B8096"/>
                </a:solidFill>
                <a:latin typeface="Arial"/>
                <a:ea typeface="Microsoft YaHei"/>
              </a:rPr>
              <a:t>平台在每次会话/清空/压缩后触发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108960" y="3136392"/>
            <a:ext cx="219456" cy="109728"/>
          </a:xfrm>
          <a:prstGeom prst="downArrow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236976"/>
            <a:ext cx="5486400" cy="786384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91440" cy="786384"/>
          </a:xfrm>
          <a:prstGeom prst="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4670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B"/>
                </a:solidFill>
                <a:latin typeface="Arial"/>
                <a:ea typeface="Microsoft YaHei"/>
              </a:rPr>
              <a:t>2. 注入 using-superpowers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9417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B8096"/>
                </a:solidFill>
                <a:latin typeface="Arial"/>
                <a:ea typeface="Microsoft YaHei"/>
              </a:rPr>
              <a:t>开场指令进入上下文，告知「你拥有超能力」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108960" y="4041648"/>
            <a:ext cx="219456" cy="109728"/>
          </a:xfrm>
          <a:prstGeom prst="downArrow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142232"/>
            <a:ext cx="5486400" cy="786384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42232"/>
            <a:ext cx="91440" cy="78638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B"/>
                </a:solidFill>
                <a:latin typeface="Arial"/>
                <a:ea typeface="Microsoft YaHei"/>
              </a:rPr>
              <a:t>3. 1% 规则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9943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B8096"/>
                </a:solidFill>
                <a:latin typeface="Arial"/>
                <a:ea typeface="Microsoft YaHei"/>
              </a:rPr>
              <a:t>只要有 1% 可能某技能适用，就必须先调用它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3108960" y="4946904"/>
            <a:ext cx="219456" cy="109728"/>
          </a:xfrm>
          <a:prstGeom prst="down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047488"/>
            <a:ext cx="5486400" cy="786384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047488"/>
            <a:ext cx="91440" cy="786384"/>
          </a:xfrm>
          <a:prstGeom prst="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5721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B"/>
                </a:solidFill>
                <a:latin typeface="Arial"/>
                <a:ea typeface="Microsoft YaHei"/>
              </a:rPr>
              <a:t>4. 强制按技能执行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504688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B8096"/>
                </a:solidFill>
                <a:latin typeface="Arial"/>
                <a:ea typeface="Microsoft YaHei"/>
              </a:rPr>
              <a:t>宣布所用技能→为清单建待办→严格照做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1874519"/>
            <a:ext cx="5285232" cy="1417320"/>
          </a:xfrm>
          <a:prstGeom prst="roundRect">
            <a:avLst>
              <a:gd name="adj" fmla="val 4500"/>
            </a:avLst>
          </a:prstGeom>
          <a:solidFill>
            <a:srgbClr val="0F1031"/>
          </a:solidFill>
          <a:ln>
            <a:noFill/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2029968"/>
            <a:ext cx="4754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Microsoft YaHei"/>
              </a:rPr>
              <a:t>「如果一项技能适用于你的任务，你没有选择——必须使用它。</a:t>
            </a:r>
            <a:r>
              <a:rPr sz="1500" b="1" i="0">
                <a:solidFill>
                  <a:srgbClr val="FFB020"/>
                </a:solidFill>
                <a:latin typeface="Arial"/>
                <a:ea typeface="Microsoft YaHei"/>
              </a:rPr>
              <a:t>这不容商量，也无法靠自我说服绕过。」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456432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63B"/>
                </a:solidFill>
                <a:latin typeface="Arial"/>
                <a:ea typeface="Microsoft YaHei"/>
              </a:rPr>
              <a:t>内置「红旗」自检表：这些念头=正在合理化偷懒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886200"/>
            <a:ext cx="5303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F5D8F"/>
                </a:solidFill>
                <a:latin typeface="Arial"/>
                <a:ea typeface="Microsoft YaHei"/>
              </a:rPr>
              <a:t>✕  </a:t>
            </a:r>
            <a:r>
              <a:rPr sz="1250" b="0">
                <a:solidFill>
                  <a:srgbClr val="23263B"/>
                </a:solidFill>
                <a:latin typeface="Arial"/>
                <a:ea typeface="Microsoft YaHei"/>
              </a:rPr>
              <a:t>“这只是个简单问题” → 问题也是任务，先查技能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F5D8F"/>
                </a:solidFill>
                <a:latin typeface="Arial"/>
                <a:ea typeface="Microsoft YaHei"/>
              </a:rPr>
              <a:t>✕  </a:t>
            </a:r>
            <a:r>
              <a:rPr sz="1250" b="0">
                <a:solidFill>
                  <a:srgbClr val="23263B"/>
                </a:solidFill>
                <a:latin typeface="Arial"/>
                <a:ea typeface="Microsoft YaHei"/>
              </a:rPr>
              <a:t>“我得先了解下代码库” → 技能会告诉你「怎么」探索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F5D8F"/>
                </a:solidFill>
                <a:latin typeface="Arial"/>
                <a:ea typeface="Microsoft YaHei"/>
              </a:rPr>
              <a:t>✕  </a:t>
            </a:r>
            <a:r>
              <a:rPr sz="1250" b="0">
                <a:solidFill>
                  <a:srgbClr val="23263B"/>
                </a:solidFill>
                <a:latin typeface="Arial"/>
                <a:ea typeface="Microsoft YaHei"/>
              </a:rPr>
              <a:t>“这个不需要正式技能” → 技能存在就得用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F5D8F"/>
                </a:solidFill>
                <a:latin typeface="Arial"/>
                <a:ea typeface="Microsoft YaHei"/>
              </a:rPr>
              <a:t>✕  </a:t>
            </a:r>
            <a:r>
              <a:rPr sz="1250" b="0">
                <a:solidFill>
                  <a:srgbClr val="23263B"/>
                </a:solidFill>
                <a:latin typeface="Arial"/>
                <a:ea typeface="Microsoft YaHei"/>
              </a:rPr>
              <a:t>“我记得这个技能” → 技能会演进，读当前版本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架构与机制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端到端工作流：从想法到合并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08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1517904" cy="155448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502920" y="2011680"/>
            <a:ext cx="1517904" cy="457200"/>
          </a:xfrm>
          <a:prstGeom prst="round2Same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29968"/>
            <a:ext cx="15179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786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B"/>
                </a:solidFill>
                <a:latin typeface="Arial"/>
                <a:ea typeface="Microsoft YaHei"/>
              </a:rPr>
              <a:t>头脑风暴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358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B8096"/>
                </a:solidFill>
                <a:latin typeface="Arial"/>
                <a:ea typeface="Microsoft YaHei"/>
              </a:rPr>
              <a:t>Brainstorm</a:t>
            </a:r>
          </a:p>
        </p:txBody>
      </p:sp>
      <p:sp>
        <p:nvSpPr>
          <p:cNvPr id="16" name="Chevron 15"/>
          <p:cNvSpPr/>
          <p:nvPr/>
        </p:nvSpPr>
        <p:spPr>
          <a:xfrm>
            <a:off x="2002536" y="2578608"/>
            <a:ext cx="146304" cy="420624"/>
          </a:xfrm>
          <a:prstGeom prst="chevron">
            <a:avLst/>
          </a:prstGeom>
          <a:solidFill>
            <a:srgbClr val="C9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39696" y="2011680"/>
            <a:ext cx="1517904" cy="155448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2139696" y="2011680"/>
            <a:ext cx="1517904" cy="457200"/>
          </a:xfrm>
          <a:prstGeom prst="round2Same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9696" y="2029968"/>
            <a:ext cx="15179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9696" y="25786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B"/>
                </a:solidFill>
                <a:latin typeface="Arial"/>
                <a:ea typeface="Microsoft YaHei"/>
              </a:rPr>
              <a:t>隔离工作区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9696" y="30358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B8096"/>
                </a:solidFill>
                <a:latin typeface="Arial"/>
                <a:ea typeface="Microsoft YaHei"/>
              </a:rPr>
              <a:t>Worktree</a:t>
            </a:r>
          </a:p>
        </p:txBody>
      </p:sp>
      <p:sp>
        <p:nvSpPr>
          <p:cNvPr id="22" name="Chevron 21"/>
          <p:cNvSpPr/>
          <p:nvPr/>
        </p:nvSpPr>
        <p:spPr>
          <a:xfrm>
            <a:off x="3639312" y="2578608"/>
            <a:ext cx="146304" cy="420624"/>
          </a:xfrm>
          <a:prstGeom prst="chevron">
            <a:avLst/>
          </a:prstGeom>
          <a:solidFill>
            <a:srgbClr val="C9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76472" y="2011680"/>
            <a:ext cx="1517904" cy="155448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3776472" y="2011680"/>
            <a:ext cx="1517904" cy="457200"/>
          </a:xfrm>
          <a:prstGeom prst="round2Same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6472" y="2029968"/>
            <a:ext cx="15179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25786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B"/>
                </a:solidFill>
                <a:latin typeface="Arial"/>
                <a:ea typeface="Microsoft YaHei"/>
              </a:rPr>
              <a:t>写实现计划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30358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B8096"/>
                </a:solidFill>
                <a:latin typeface="Arial"/>
                <a:ea typeface="Microsoft YaHei"/>
              </a:rPr>
              <a:t>Plan</a:t>
            </a:r>
          </a:p>
        </p:txBody>
      </p:sp>
      <p:sp>
        <p:nvSpPr>
          <p:cNvPr id="28" name="Chevron 27"/>
          <p:cNvSpPr/>
          <p:nvPr/>
        </p:nvSpPr>
        <p:spPr>
          <a:xfrm>
            <a:off x="5276088" y="2578608"/>
            <a:ext cx="146304" cy="420624"/>
          </a:xfrm>
          <a:prstGeom prst="chevron">
            <a:avLst/>
          </a:prstGeom>
          <a:solidFill>
            <a:srgbClr val="C9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13248" y="2011680"/>
            <a:ext cx="1517904" cy="155448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>
            <a:off x="5413248" y="2011680"/>
            <a:ext cx="1517904" cy="457200"/>
          </a:xfrm>
          <a:prstGeom prst="round2Same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3248" y="2029968"/>
            <a:ext cx="15179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3248" y="25786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B"/>
                </a:solidFill>
                <a:latin typeface="Arial"/>
                <a:ea typeface="Microsoft YaHei"/>
              </a:rPr>
              <a:t>子代理执行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30358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B8096"/>
                </a:solidFill>
                <a:latin typeface="Arial"/>
                <a:ea typeface="Microsoft YaHei"/>
              </a:rPr>
              <a:t>Subagent-Dev</a:t>
            </a:r>
          </a:p>
        </p:txBody>
      </p:sp>
      <p:sp>
        <p:nvSpPr>
          <p:cNvPr id="34" name="Chevron 33"/>
          <p:cNvSpPr/>
          <p:nvPr/>
        </p:nvSpPr>
        <p:spPr>
          <a:xfrm>
            <a:off x="6912864" y="2578608"/>
            <a:ext cx="146304" cy="420624"/>
          </a:xfrm>
          <a:prstGeom prst="chevron">
            <a:avLst/>
          </a:prstGeom>
          <a:solidFill>
            <a:srgbClr val="C9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50024" y="2011680"/>
            <a:ext cx="1517904" cy="155448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7050024" y="2011680"/>
            <a:ext cx="1517904" cy="457200"/>
          </a:xfrm>
          <a:prstGeom prst="round2Same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0024" y="2029968"/>
            <a:ext cx="15179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0024" y="25786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B"/>
                </a:solidFill>
                <a:latin typeface="Arial"/>
                <a:ea typeface="Microsoft YaHei"/>
              </a:rPr>
              <a:t>测试驱动实现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0024" y="30358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B8096"/>
                </a:solidFill>
                <a:latin typeface="Arial"/>
                <a:ea typeface="Microsoft YaHei"/>
              </a:rPr>
              <a:t>TDD</a:t>
            </a:r>
          </a:p>
        </p:txBody>
      </p:sp>
      <p:sp>
        <p:nvSpPr>
          <p:cNvPr id="40" name="Chevron 39"/>
          <p:cNvSpPr/>
          <p:nvPr/>
        </p:nvSpPr>
        <p:spPr>
          <a:xfrm>
            <a:off x="8549640" y="2578608"/>
            <a:ext cx="146304" cy="420624"/>
          </a:xfrm>
          <a:prstGeom prst="chevron">
            <a:avLst/>
          </a:prstGeom>
          <a:solidFill>
            <a:srgbClr val="C9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86800" y="2011680"/>
            <a:ext cx="1517904" cy="155448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8686800" y="2011680"/>
            <a:ext cx="1517904" cy="457200"/>
          </a:xfrm>
          <a:prstGeom prst="round2Same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2029968"/>
            <a:ext cx="15179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25786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B"/>
                </a:solidFill>
                <a:latin typeface="Arial"/>
                <a:ea typeface="Microsoft YaHei"/>
              </a:rPr>
              <a:t>分级代码评审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0358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B8096"/>
                </a:solidFill>
                <a:latin typeface="Arial"/>
                <a:ea typeface="Microsoft YaHei"/>
              </a:rPr>
              <a:t>Review</a:t>
            </a:r>
          </a:p>
        </p:txBody>
      </p:sp>
      <p:sp>
        <p:nvSpPr>
          <p:cNvPr id="46" name="Chevron 45"/>
          <p:cNvSpPr/>
          <p:nvPr/>
        </p:nvSpPr>
        <p:spPr>
          <a:xfrm>
            <a:off x="10186416" y="2578608"/>
            <a:ext cx="146304" cy="420624"/>
          </a:xfrm>
          <a:prstGeom prst="chevron">
            <a:avLst/>
          </a:prstGeom>
          <a:solidFill>
            <a:srgbClr val="C9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23576" y="2011680"/>
            <a:ext cx="1517904" cy="155448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10323576" y="2011680"/>
            <a:ext cx="1517904" cy="457200"/>
          </a:xfrm>
          <a:prstGeom prst="round2Same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23576" y="2029968"/>
            <a:ext cx="15179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23576" y="25786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B"/>
                </a:solidFill>
                <a:latin typeface="Arial"/>
                <a:ea typeface="Microsoft YaHei"/>
              </a:rPr>
              <a:t>合并/收尾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23576" y="3035808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B8096"/>
                </a:solidFill>
                <a:latin typeface="Arial"/>
                <a:ea typeface="Microsoft YaHei"/>
              </a:rPr>
              <a:t>Finish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160520"/>
            <a:ext cx="3630168" cy="16916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22960" y="4416552"/>
            <a:ext cx="365760" cy="365760"/>
          </a:xfrm>
          <a:prstGeom prst="ellipse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910328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263B"/>
                </a:solidFill>
                <a:latin typeface="Arial"/>
                <a:ea typeface="Microsoft YaHei"/>
              </a:rPr>
              <a:t>自动触发，无需指令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5330952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B8096"/>
                </a:solidFill>
                <a:latin typeface="Arial"/>
                <a:ea typeface="Microsoft YaHei"/>
              </a:rPr>
              <a:t>每一步的技能在恰当时机自动激活——用户无需记忆或手动调用。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70248" y="4160520"/>
            <a:ext cx="3630168" cy="16916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544568" y="4416552"/>
            <a:ext cx="365760" cy="365760"/>
          </a:xfrm>
          <a:prstGeom prst="ellipse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44568" y="4910328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263B"/>
                </a:solidFill>
                <a:latin typeface="Arial"/>
                <a:ea typeface="Microsoft YaHei"/>
              </a:rPr>
              <a:t>强约束门禁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44568" y="5330952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B8096"/>
                </a:solidFill>
                <a:latin typeface="Arial"/>
                <a:ea typeface="Microsoft YaHei"/>
              </a:rPr>
              <a:t>设计未获批准不写代码；任务有未修复的严重问题不进入下一个。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91856" y="4160520"/>
            <a:ext cx="3630168" cy="16916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66176" y="4416552"/>
            <a:ext cx="365760" cy="365760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66176" y="4910328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263B"/>
                </a:solidFill>
                <a:latin typeface="Arial"/>
                <a:ea typeface="Microsoft YaHei"/>
              </a:rPr>
              <a:t>可中断可恢复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66176" y="5330952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B8096"/>
                </a:solidFill>
                <a:latin typeface="Arial"/>
                <a:ea typeface="Microsoft YaHei"/>
              </a:rPr>
              <a:t>进度写入 ledger 文件，上下文被压缩后仍能从断点续跑。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招牌技能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14 个技能全景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09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2688336" cy="41605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548640" y="1874519"/>
            <a:ext cx="2688336" cy="512064"/>
          </a:xfrm>
          <a:prstGeom prst="round2Same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11095"/>
            <a:ext cx="26883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Microsoft YaHei"/>
              </a:rPr>
              <a:t>测试  · 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551175"/>
            <a:ext cx="2322576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test-driven-development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RED-GREEN-REFACTOR 循环，含测试反模式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874519"/>
            <a:ext cx="2688336" cy="41605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3328416" y="1874519"/>
            <a:ext cx="2688336" cy="512064"/>
          </a:xfrm>
          <a:prstGeom prst="round2Same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28416" y="1911095"/>
            <a:ext cx="26883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Microsoft YaHei"/>
              </a:rPr>
              <a:t>调试  · 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551175"/>
            <a:ext cx="2322576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systematic-debugging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四阶段根因分析法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verification-before-completion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声称完成前必须验证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1874519"/>
            <a:ext cx="2688336" cy="41605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108192" y="1874519"/>
            <a:ext cx="2688336" cy="512064"/>
          </a:xfrm>
          <a:prstGeom prst="round2Same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1911095"/>
            <a:ext cx="26883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Microsoft YaHei"/>
              </a:rPr>
              <a:t>协作  · 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51175"/>
            <a:ext cx="2322576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brainstorming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苏格拉底式设计细化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writing-plans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逐步可执行的实现计划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executing-plans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带检查点的批量执行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subagent-driven-development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子代理逐任务+两段评审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dispatching-parallel-agents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并发子代理工作流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requesting-code-review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评审前清单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receiving-code-review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回应评审反馈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using-git-worktrees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并行开发分支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finishing-a-development-branch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合并/PR 决策收尾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1874519"/>
            <a:ext cx="2752344" cy="41605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887968" y="1874519"/>
            <a:ext cx="2752344" cy="512064"/>
          </a:xfrm>
          <a:prstGeom prst="round2Same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1911095"/>
            <a:ext cx="2752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Microsoft YaHei"/>
              </a:rPr>
              <a:t>元技能  · 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551175"/>
            <a:ext cx="238658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writing-skills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按最佳实践创建并测试新技能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1" i="0">
                <a:solidFill>
                  <a:srgbClr val="23263B"/>
                </a:solidFill>
                <a:latin typeface="Arial"/>
                <a:ea typeface="Microsoft YaHei"/>
              </a:rPr>
              <a:t>using-superpowers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7B8096"/>
                </a:solidFill>
                <a:latin typeface="Arial"/>
                <a:ea typeface="Microsoft YaHei"/>
              </a:rPr>
              <a:t>技能系统的开场引导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招牌技能拆解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test-driven-development：铁律级纪律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10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11091672" cy="868680"/>
          </a:xfrm>
          <a:prstGeom prst="roundRect">
            <a:avLst>
              <a:gd name="adj" fmla="val 4500"/>
            </a:avLst>
          </a:prstGeom>
          <a:solidFill>
            <a:srgbClr val="0F1031"/>
          </a:solidFill>
          <a:ln>
            <a:noFill/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128016" cy="86868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B020"/>
                </a:solidFill>
                <a:latin typeface="Arial"/>
                <a:ea typeface="Microsoft YaHei"/>
              </a:rPr>
              <a:t>铁律：</a:t>
            </a:r>
            <a:r>
              <a:rPr sz="1600" b="1" i="0">
                <a:solidFill>
                  <a:srgbClr val="FFFFFF"/>
                </a:solidFill>
                <a:latin typeface="Arial"/>
                <a:ea typeface="Microsoft YaHei"/>
              </a:rPr>
              <a:t>没有先写一个失败的测试，就不写任何生产代码。先写了代码？删掉，重来——不留作「参考」，不「改造」，删就是删。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3346704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548640" y="3017520"/>
            <a:ext cx="3346704" cy="457200"/>
          </a:xfrm>
          <a:prstGeom prst="round2SameRect">
            <a:avLst/>
          </a:prstGeom>
          <a:solidFill>
            <a:srgbClr val="F1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35808"/>
            <a:ext cx="33467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Microsoft YaHei"/>
              </a:rPr>
              <a:t>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84448"/>
            <a:ext cx="33467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B"/>
                </a:solidFill>
                <a:latin typeface="Arial"/>
                <a:ea typeface="Microsoft YaHei"/>
              </a:rPr>
              <a:t>写一个失败的测试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13632" y="3520440"/>
            <a:ext cx="201168" cy="365760"/>
          </a:xfrm>
          <a:prstGeom prst="rightArrow">
            <a:avLst/>
          </a:prstGeom>
          <a:solidFill>
            <a:srgbClr val="F1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42232" y="3017520"/>
            <a:ext cx="3346704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4142232" y="3017520"/>
            <a:ext cx="3346704" cy="457200"/>
          </a:xfrm>
          <a:prstGeom prst="round2SameRect">
            <a:avLst/>
          </a:prstGeom>
          <a:solidFill>
            <a:srgbClr val="36C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2232" y="3035808"/>
            <a:ext cx="33467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Microsoft YaHei"/>
              </a:rPr>
              <a:t>GREEN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2232" y="3584448"/>
            <a:ext cx="33467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B"/>
                </a:solidFill>
                <a:latin typeface="Arial"/>
                <a:ea typeface="Microsoft YaHei"/>
              </a:rPr>
              <a:t>写最少代码让它通过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07224" y="3520440"/>
            <a:ext cx="201168" cy="365760"/>
          </a:xfrm>
          <a:prstGeom prst="rightArrow">
            <a:avLst/>
          </a:prstGeom>
          <a:solidFill>
            <a:srgbClr val="36C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35824" y="3017520"/>
            <a:ext cx="3346704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7735824" y="3017520"/>
            <a:ext cx="3346704" cy="457200"/>
          </a:xfrm>
          <a:prstGeom prst="round2Same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35824" y="3035808"/>
            <a:ext cx="33467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Microsoft YaHei"/>
              </a:rPr>
              <a:t>REFACTOR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4" y="3584448"/>
            <a:ext cx="33467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B"/>
                </a:solidFill>
                <a:latin typeface="Arial"/>
                <a:ea typeface="Microsoft YaHei"/>
              </a:rPr>
              <a:t>保持绿灯下清理重构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617720"/>
            <a:ext cx="5449824" cy="14173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54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C79A"/>
                </a:solidFill>
                <a:latin typeface="Arial"/>
                <a:ea typeface="Microsoft YaHei"/>
              </a:rPr>
              <a:t>为什么顺序至关重要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20640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B8096"/>
                </a:solidFill>
                <a:latin typeface="Arial"/>
                <a:ea typeface="Microsoft YaHei"/>
              </a:rPr>
              <a:t>事后补的测试会立刻通过——而立刻通过证明不了任何事。先写测试，逼你看着它失败，才证明它真的在测东西。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617720"/>
            <a:ext cx="5449824" cy="14173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754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5D8F"/>
                </a:solidFill>
                <a:latin typeface="Arial"/>
                <a:ea typeface="Microsoft YaHei"/>
              </a:rPr>
              <a:t>技能内置「合理化对照表」逐条封堵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5120640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B8096"/>
                </a:solidFill>
                <a:latin typeface="Arial"/>
                <a:ea typeface="Microsoft YaHei"/>
              </a:rPr>
              <a:t>“太简单不用测”“我已手动测过”“删掉太浪费(沉没成本)”“TDD 太教条”——每条借口都被预先写进表里并反驳。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招牌技能拆解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subagent-driven-development：质量与成本兼得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11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B8096"/>
                </a:solidFill>
                <a:latin typeface="Arial"/>
                <a:ea typeface="Microsoft YaHei"/>
              </a:rPr>
              <a:t>控制器（你）逐任务派发「全新子代理」实现，每个任务后做评审，分支结束做一次全局评审。子代理永不继承你的会话上下文——你为它精确构造所需的一切。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3630168" cy="14173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91440" cy="1417320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23744"/>
            <a:ext cx="3172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63B"/>
                </a:solidFill>
                <a:latin typeface="Arial"/>
                <a:ea typeface="Microsoft YaHei"/>
              </a:rPr>
              <a:t>全新子代理/任务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B8096"/>
                </a:solidFill>
                <a:latin typeface="Arial"/>
                <a:ea typeface="Microsoft YaHei"/>
              </a:rPr>
              <a:t>上下文隔离，互不污染；控制器专注协调，保留自身上下文。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2377440"/>
            <a:ext cx="3630168" cy="14173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2377440"/>
            <a:ext cx="91440" cy="1417320"/>
          </a:xfrm>
          <a:prstGeom prst="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2523744"/>
            <a:ext cx="3172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63B"/>
                </a:solidFill>
                <a:latin typeface="Arial"/>
                <a:ea typeface="Microsoft YaHei"/>
              </a:rPr>
              <a:t>两个裁决的单评审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926080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B8096"/>
                </a:solidFill>
                <a:latin typeface="Arial"/>
                <a:ea typeface="Microsoft YaHei"/>
              </a:rPr>
              <a:t>一个 task-reviewer 同时给出「规格符合度」+「代码质量」两个结论。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2377440"/>
            <a:ext cx="3630168" cy="14173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2377440"/>
            <a:ext cx="91440" cy="14173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23744"/>
            <a:ext cx="3172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63B"/>
                </a:solidFill>
                <a:latin typeface="Arial"/>
                <a:ea typeface="Microsoft YaHei"/>
              </a:rPr>
              <a:t>按需选模型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2926080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B8096"/>
                </a:solidFill>
                <a:latin typeface="Arial"/>
                <a:ea typeface="Microsoft YaHei"/>
              </a:rPr>
              <a:t>用「能胜任的最便宜模型」；每次派发必须显式指定，否则默默继承最贵的。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13632"/>
            <a:ext cx="3630168" cy="14173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13632"/>
            <a:ext cx="91440" cy="1417320"/>
          </a:xfrm>
          <a:prstGeom prst="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59936"/>
            <a:ext cx="3172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63B"/>
                </a:solidFill>
                <a:latin typeface="Arial"/>
                <a:ea typeface="Microsoft YaHei"/>
              </a:rPr>
              <a:t>文件式交接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462272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B8096"/>
                </a:solidFill>
                <a:latin typeface="Arial"/>
                <a:ea typeface="Microsoft YaHei"/>
              </a:rPr>
              <a:t>任务简报、diff、报告都以文件传递，不塞进上下文，省下最大一笔成本。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0248" y="3913632"/>
            <a:ext cx="3630168" cy="14173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3913632"/>
            <a:ext cx="91440" cy="1417320"/>
          </a:xfrm>
          <a:prstGeom prst="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4568" y="4059936"/>
            <a:ext cx="3172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63B"/>
                </a:solidFill>
                <a:latin typeface="Arial"/>
                <a:ea typeface="Microsoft YaHei"/>
              </a:rPr>
              <a:t>进度 Ledger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4462272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B8096"/>
                </a:solidFill>
                <a:latin typeface="Arial"/>
                <a:ea typeface="Microsoft YaHei"/>
              </a:rPr>
              <a:t>完成进度写入 git 路径下的 ledger，压缩/重启后照此恢复，不重做已完成任务。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3913632"/>
            <a:ext cx="3630168" cy="141732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91856" y="3913632"/>
            <a:ext cx="91440" cy="1417320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6" y="4059936"/>
            <a:ext cx="3172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63B"/>
                </a:solidFill>
                <a:latin typeface="Arial"/>
                <a:ea typeface="Microsoft YaHei"/>
              </a:rPr>
              <a:t>禁止「教练式」评审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4462272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B8096"/>
                </a:solidFill>
                <a:latin typeface="Arial"/>
                <a:ea typeface="Microsoft YaHei"/>
              </a:rPr>
              <a:t>不准让评审员忽略某发现或预判严重度——封堵自我放水。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68112"/>
            <a:ext cx="11091672" cy="566928"/>
          </a:xfrm>
          <a:prstGeom prst="roundRect">
            <a:avLst>
              <a:gd name="adj" fmla="val 4500"/>
            </a:avLst>
          </a:prstGeom>
          <a:solidFill>
            <a:srgbClr val="ECF8F3"/>
          </a:solidFill>
          <a:ln>
            <a:noFill/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468112"/>
            <a:ext cx="128016" cy="566928"/>
          </a:xfrm>
          <a:prstGeom prst="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46811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C79A"/>
                </a:solidFill>
                <a:latin typeface="Arial"/>
                <a:ea typeface="Microsoft YaHei"/>
              </a:rPr>
              <a:t>v6.0 实测：</a:t>
            </a:r>
            <a:r>
              <a:rPr sz="1400" b="1" i="0">
                <a:solidFill>
                  <a:srgbClr val="23263B"/>
                </a:solidFill>
                <a:latin typeface="Arial"/>
                <a:ea typeface="Microsoft YaHei"/>
              </a:rPr>
              <a:t>在 evals 中，Claude Code 与 Codex 产出同等高质量结果，速度约快一倍，token 花费减少近 50%。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招牌技能拆解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brainstorming：动手前先想清楚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12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64922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3263B"/>
                </a:solidFill>
                <a:latin typeface="Arial"/>
                <a:ea typeface="Microsoft YaHei"/>
              </a:rPr>
              <a:t>通过自然的协作式对话，把粗糙想法打磨成完整设计与规格说明。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350" b="1">
                <a:solidFill>
                  <a:srgbClr val="23263B"/>
                </a:solidFill>
                <a:latin typeface="Arial"/>
                <a:ea typeface="Microsoft YaHei"/>
              </a:rPr>
              <a:t>硬门禁：</a:t>
            </a:r>
            <a:r>
              <a:rPr sz="1350" b="0">
                <a:solidFill>
                  <a:srgbClr val="23263B"/>
                </a:solidFill>
                <a:latin typeface="Arial"/>
                <a:ea typeface="Microsoft YaHei"/>
              </a:rPr>
              <a:t>在你展示设计并获用户批准之前，禁止调用任何实现技能、写任何代码——「再简单的项目」也不例外。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350" b="1">
                <a:solidFill>
                  <a:srgbClr val="23263B"/>
                </a:solidFill>
                <a:latin typeface="Arial"/>
                <a:ea typeface="Microsoft YaHei"/>
              </a:rPr>
              <a:t>苏格拉底式：</a:t>
            </a:r>
            <a:r>
              <a:rPr sz="1350" b="0">
                <a:solidFill>
                  <a:srgbClr val="23263B"/>
                </a:solidFill>
                <a:latin typeface="Arial"/>
                <a:ea typeface="Microsoft YaHei"/>
              </a:rPr>
              <a:t>一次只问一个问题，优先给多选项；聚焦目的、约束与成功标准。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350" b="1">
                <a:solidFill>
                  <a:srgbClr val="23263B"/>
                </a:solidFill>
                <a:latin typeface="Arial"/>
                <a:ea typeface="Microsoft YaHei"/>
              </a:rPr>
              <a:t>探索备选：</a:t>
            </a:r>
            <a:r>
              <a:rPr sz="1350" b="0">
                <a:solidFill>
                  <a:srgbClr val="23263B"/>
                </a:solidFill>
                <a:latin typeface="Arial"/>
                <a:ea typeface="Microsoft YaHei"/>
              </a:rPr>
              <a:t>settling 前总是提出 2–3 种方案并给出推荐与权衡。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350" b="1">
                <a:solidFill>
                  <a:srgbClr val="23263B"/>
                </a:solidFill>
                <a:latin typeface="Arial"/>
                <a:ea typeface="Microsoft YaHei"/>
              </a:rPr>
              <a:t>增量验证：</a:t>
            </a:r>
            <a:r>
              <a:rPr sz="1350" b="0">
                <a:solidFill>
                  <a:srgbClr val="23263B"/>
                </a:solidFill>
                <a:latin typeface="Arial"/>
                <a:ea typeface="Microsoft YaHei"/>
              </a:rPr>
              <a:t>分段呈现设计、逐段获批；写入 docs/superpowers/specs/ 并提交 git。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350" b="1">
                <a:solidFill>
                  <a:srgbClr val="23263B"/>
                </a:solidFill>
                <a:latin typeface="Arial"/>
                <a:ea typeface="Microsoft YaHei"/>
              </a:rPr>
              <a:t>唯一出口：</a:t>
            </a:r>
            <a:r>
              <a:rPr sz="1350" b="0">
                <a:solidFill>
                  <a:srgbClr val="23263B"/>
                </a:solidFill>
                <a:latin typeface="Arial"/>
                <a:ea typeface="Microsoft YaHei"/>
              </a:rPr>
              <a:t>终态是调用 writing-plans——绝不直接跳到实现技能。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874519"/>
            <a:ext cx="4416552" cy="4114800"/>
          </a:xfrm>
          <a:prstGeom prst="roundRect">
            <a:avLst>
              <a:gd name="adj" fmla="val 4500"/>
            </a:avLst>
          </a:prstGeom>
          <a:solidFill>
            <a:srgbClr val="0F1031"/>
          </a:solidFill>
          <a:ln>
            <a:noFill/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760" y="1874519"/>
            <a:ext cx="4416552" cy="109728"/>
          </a:xfrm>
          <a:prstGeom prst="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1488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Microsoft YaHei"/>
              </a:rPr>
              <a:t>可视化伴侣 Visual Companion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697480"/>
            <a:ext cx="3931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FB020"/>
                </a:solidFill>
                <a:latin typeface="Arial"/>
                <a:ea typeface="Microsoft YaHei"/>
              </a:rPr>
              <a:t>▸  </a:t>
            </a:r>
            <a:r>
              <a:rPr sz="1200" b="0">
                <a:solidFill>
                  <a:srgbClr val="D7D8F0"/>
                </a:solidFill>
                <a:latin typeface="Arial"/>
                <a:ea typeface="Microsoft YaHei"/>
              </a:rPr>
              <a:t>一个零依赖的本地 Web 服务，用浏览器标签页展示线框图、布局对比、架构图。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FB020"/>
                </a:solidFill>
                <a:latin typeface="Arial"/>
                <a:ea typeface="Microsoft YaHei"/>
              </a:rPr>
              <a:t>▸  </a:t>
            </a:r>
            <a:r>
              <a:rPr sz="1200" b="0">
                <a:solidFill>
                  <a:srgbClr val="D7D8F0"/>
                </a:solidFill>
                <a:latin typeface="Arial"/>
                <a:ea typeface="Microsoft YaHei"/>
              </a:rPr>
              <a:t>即时按需提供——不是一上来就开，而是当「画出来比说出来更清楚」时才提议。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FB020"/>
                </a:solidFill>
                <a:latin typeface="Arial"/>
                <a:ea typeface="Microsoft YaHei"/>
              </a:rPr>
              <a:t>▸  </a:t>
            </a:r>
            <a:r>
              <a:rPr sz="1200" b="0">
                <a:solidFill>
                  <a:srgbClr val="D7D8F0"/>
                </a:solidFill>
                <a:latin typeface="Arial"/>
                <a:ea typeface="Microsoft YaHei"/>
              </a:rPr>
              <a:t>逐问决策：概念/权衡类问题走终端，真正的视觉问题才进浏览器。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FB020"/>
                </a:solidFill>
                <a:latin typeface="Arial"/>
                <a:ea typeface="Microsoft YaHei"/>
              </a:rPr>
              <a:t>▸  </a:t>
            </a:r>
            <a:r>
              <a:rPr sz="1200" b="0">
                <a:solidFill>
                  <a:srgbClr val="D7D8F0"/>
                </a:solidFill>
                <a:latin typeface="Arial"/>
                <a:ea typeface="Microsoft YaHei"/>
              </a:rPr>
              <a:t>v6 为其加上了认证与安全模型，可在共享/远程机器上安全使用。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杀手锏设计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技能即代码：对「流程文档」做 TDD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13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11091672" cy="868680"/>
          </a:xfrm>
          <a:prstGeom prst="roundRect">
            <a:avLst>
              <a:gd name="adj" fmla="val 4500"/>
            </a:avLst>
          </a:prstGeom>
          <a:solidFill>
            <a:srgbClr val="F1EFFD"/>
          </a:solidFill>
          <a:ln>
            <a:noFill/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128016" cy="868680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C3BE0"/>
                </a:solidFill>
                <a:latin typeface="Arial"/>
                <a:ea typeface="Microsoft YaHei"/>
              </a:rPr>
              <a:t>核心洞察：</a:t>
            </a:r>
            <a:r>
              <a:rPr sz="1450" b="1" i="0">
                <a:solidFill>
                  <a:srgbClr val="23263B"/>
                </a:solidFill>
                <a:latin typeface="Arial"/>
                <a:ea typeface="Microsoft YaHei"/>
              </a:rPr>
              <a:t>技能不是散文，而是塑造代理行为的「代码」。写技能 = 把 TDD 应用到流程文档——没有先看着代理在没有技能时失败，就不知道技能教对了没有。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4023360" cy="457200"/>
          </a:xfrm>
          <a:prstGeom prst="rect">
            <a:avLst/>
          </a:prstGeom>
          <a:solidFill>
            <a:srgbClr val="4C3BE0"/>
          </a:solidFill>
          <a:ln w="9525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3017520"/>
            <a:ext cx="7068312" cy="457200"/>
          </a:xfrm>
          <a:prstGeom prst="rect">
            <a:avLst/>
          </a:prstGeom>
          <a:solidFill>
            <a:srgbClr val="4C3BE0"/>
          </a:solidFill>
          <a:ln w="9525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</a:rPr>
              <a:t>TDD 概念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17520"/>
            <a:ext cx="6766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</a:rPr>
              <a:t>技能创建中的对应物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3474720"/>
            <a:ext cx="70683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263B"/>
                </a:solidFill>
                <a:latin typeface="Arial"/>
                <a:ea typeface="Microsoft YaHei"/>
              </a:rPr>
              <a:t>测试用例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74720"/>
            <a:ext cx="6766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B8096"/>
                </a:solidFill>
                <a:latin typeface="Arial"/>
                <a:ea typeface="Microsoft YaHei"/>
              </a:rPr>
              <a:t>对子代理施加的「压力场景」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4023360" cy="457200"/>
          </a:xfrm>
          <a:prstGeom prst="rect">
            <a:avLst/>
          </a:prstGeom>
          <a:solidFill>
            <a:srgbClr val="F7F7FC"/>
          </a:solidFill>
          <a:ln w="9525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931920"/>
            <a:ext cx="7068312" cy="457200"/>
          </a:xfrm>
          <a:prstGeom prst="rect">
            <a:avLst/>
          </a:prstGeom>
          <a:solidFill>
            <a:srgbClr val="F7F7FC"/>
          </a:solidFill>
          <a:ln w="9525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3192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63B"/>
                </a:solidFill>
                <a:latin typeface="Arial"/>
                <a:ea typeface="Microsoft YaHei"/>
              </a:rPr>
              <a:t>生产代码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931920"/>
            <a:ext cx="6766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B8096"/>
                </a:solidFill>
                <a:latin typeface="Arial"/>
                <a:ea typeface="Microsoft YaHei"/>
              </a:rPr>
              <a:t>技能文档 SKILL.md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8912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4389120"/>
            <a:ext cx="70683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8912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63B"/>
                </a:solidFill>
                <a:latin typeface="Arial"/>
                <a:ea typeface="Microsoft YaHei"/>
              </a:rPr>
              <a:t>测试失败 (RED)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389120"/>
            <a:ext cx="6766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B8096"/>
                </a:solidFill>
                <a:latin typeface="Arial"/>
                <a:ea typeface="Microsoft YaHei"/>
              </a:rPr>
              <a:t>无技能时，代理违反规则（基线行为）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46320"/>
            <a:ext cx="4023360" cy="457200"/>
          </a:xfrm>
          <a:prstGeom prst="rect">
            <a:avLst/>
          </a:prstGeom>
          <a:solidFill>
            <a:srgbClr val="F7F7FC"/>
          </a:solidFill>
          <a:ln w="9525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4846320"/>
            <a:ext cx="7068312" cy="457200"/>
          </a:xfrm>
          <a:prstGeom prst="rect">
            <a:avLst/>
          </a:prstGeom>
          <a:solidFill>
            <a:srgbClr val="F7F7FC"/>
          </a:solidFill>
          <a:ln w="9525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84632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63B"/>
                </a:solidFill>
                <a:latin typeface="Arial"/>
                <a:ea typeface="Microsoft YaHei"/>
              </a:rPr>
              <a:t>测试通过 (GREEN)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846320"/>
            <a:ext cx="6766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B8096"/>
                </a:solidFill>
                <a:latin typeface="Arial"/>
                <a:ea typeface="Microsoft YaHei"/>
              </a:rPr>
              <a:t>有技能时，代理遵守规则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30352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0" y="5303520"/>
            <a:ext cx="70683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30352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63B"/>
                </a:solidFill>
                <a:latin typeface="Arial"/>
                <a:ea typeface="Microsoft YaHei"/>
              </a:rPr>
              <a:t>重构 (REFACTOR)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303520"/>
            <a:ext cx="6766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B8096"/>
                </a:solidFill>
                <a:latin typeface="Arial"/>
                <a:ea typeface="Microsoft YaHei"/>
              </a:rPr>
              <a:t>在保持遵守的前提下封堵新出现的「合理化」漏洞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杀手锏设计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对抗「合理化」+ 把说服心理学工程化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14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3263B"/>
                </a:solidFill>
                <a:latin typeface="Arial"/>
                <a:ea typeface="Microsoft YaHei"/>
              </a:rPr>
              <a:t>让纪律在「压力下」也不崩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250" b="0">
                <a:solidFill>
                  <a:srgbClr val="23263B"/>
                </a:solidFill>
                <a:latin typeface="Arial"/>
                <a:ea typeface="Microsoft YaHei"/>
              </a:rPr>
              <a:t>红旗表 / 合理化对照表：把代理会用的每一句借口预先写下并逐条反驳。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250" b="0">
                <a:solidFill>
                  <a:srgbClr val="23263B"/>
                </a:solidFill>
                <a:latin typeface="Arial"/>
                <a:ea typeface="Microsoft YaHei"/>
              </a:rPr>
              <a:t>「违背字面=违背精神」：一句话切断「我在遵循精神」这一整类自我开脱。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250" b="0">
                <a:solidFill>
                  <a:srgbClr val="23263B"/>
                </a:solidFill>
                <a:latin typeface="Arial"/>
                <a:ea typeface="Microsoft YaHei"/>
              </a:rPr>
              <a:t>明确封堵每个漏洞：不只是说规则，还点名禁止「留作参考」「顺手改造」等具体绕过方式。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4C3BE0"/>
                </a:solidFill>
                <a:latin typeface="Arial"/>
                <a:ea typeface="Microsoft YaHei"/>
              </a:rPr>
              <a:t>▸  </a:t>
            </a:r>
            <a:r>
              <a:rPr sz="1250" b="0">
                <a:solidFill>
                  <a:srgbClr val="23263B"/>
                </a:solidFill>
                <a:latin typeface="Arial"/>
                <a:ea typeface="Microsoft YaHei"/>
              </a:rPr>
              <a:t>「按失败类型选表达形式」：纪律失败用禁令表；产出走形则用「正向配方」，因为禁令会适得其反。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376672" cy="4114800"/>
          </a:xfrm>
          <a:prstGeom prst="roundRect">
            <a:avLst>
              <a:gd name="adj" fmla="val 4500"/>
            </a:avLst>
          </a:prstGeom>
          <a:solidFill>
            <a:srgbClr val="0F1031"/>
          </a:solidFill>
          <a:ln>
            <a:noFill/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5376672" cy="1097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2140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Microsoft YaHei"/>
              </a:rPr>
              <a:t>有研究背书的说服设计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78608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020"/>
                </a:solidFill>
                <a:latin typeface="Arial"/>
                <a:ea typeface="Microsoft YaHei"/>
              </a:rPr>
              <a:t>Meincke et al. (2025)：N=28,000 次对话，说服技巧让合规率从 33% 提升到 72%。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310128"/>
            <a:ext cx="48463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80" b="1" i="0">
                <a:solidFill>
                  <a:srgbClr val="FFFFFF"/>
                </a:solidFill>
                <a:latin typeface="Arial"/>
                <a:ea typeface="Microsoft YaHei"/>
              </a:rPr>
              <a:t>权威 Authority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B6B8DE"/>
                </a:solidFill>
                <a:latin typeface="Arial"/>
                <a:ea typeface="Microsoft YaHei"/>
              </a:rPr>
              <a:t>「必须 / 永不 / 无例外」式祈使语气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80" b="1" i="0">
                <a:solidFill>
                  <a:srgbClr val="FFFFFF"/>
                </a:solidFill>
                <a:latin typeface="Arial"/>
                <a:ea typeface="Microsoft YaHei"/>
              </a:rPr>
              <a:t>承诺 Commitment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B6B8DE"/>
                </a:solidFill>
                <a:latin typeface="Arial"/>
                <a:ea typeface="Microsoft YaHei"/>
              </a:rPr>
              <a:t>要求宣布所用技能、强制显式选择、用待办追踪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80" b="1" i="0">
                <a:solidFill>
                  <a:srgbClr val="FFFFFF"/>
                </a:solidFill>
                <a:latin typeface="Arial"/>
                <a:ea typeface="Microsoft YaHei"/>
              </a:rPr>
              <a:t>社会认同 Social Proof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B6B8DE"/>
                </a:solidFill>
                <a:latin typeface="Arial"/>
                <a:ea typeface="Microsoft YaHei"/>
              </a:rPr>
              <a:t>「每一次」「没有 X 就会失败」确立常态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80" b="1" i="0">
                <a:solidFill>
                  <a:srgbClr val="FFFFFF"/>
                </a:solidFill>
                <a:latin typeface="Arial"/>
                <a:ea typeface="Microsoft YaHei"/>
              </a:rPr>
              <a:t>回避 喜好 Liking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B6B8DE"/>
                </a:solidFill>
                <a:latin typeface="Arial"/>
                <a:ea typeface="Microsoft YaHei"/>
              </a:rPr>
              <a:t>刻意不用——它制造谄媚，破坏诚实反馈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价值与启示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跨平台可移植性：一份内容，八个平台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15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B8096"/>
                </a:solidFill>
                <a:latin typeface="Arial"/>
                <a:ea typeface="Microsoft YaHei"/>
              </a:rPr>
              <a:t>移植一个新平台只做三件事：加一份工具映射、加一段开场引导、跑通验收测试——绝不修改技能正文。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31720"/>
            <a:ext cx="3630168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548640" y="2331720"/>
            <a:ext cx="3630168" cy="457200"/>
          </a:xfrm>
          <a:prstGeom prst="round2Same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50008"/>
            <a:ext cx="32644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Microsoft YaHei"/>
              </a:rPr>
              <a:t>Shape A · Shell 钩子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35224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B8096"/>
                </a:solidFill>
                <a:latin typeface="Arial"/>
                <a:ea typeface="Microsoft YaHei"/>
              </a:rPr>
              <a:t>会话开始运行 shell 命令并读其 stdout JSON。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749040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C3BE0"/>
                </a:solidFill>
                <a:latin typeface="Arial"/>
                <a:ea typeface="Microsoft YaHei"/>
              </a:rPr>
              <a:t>Claude Code · Codex · Cursor · Copilot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0248" y="2331720"/>
            <a:ext cx="3630168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4270248" y="2331720"/>
            <a:ext cx="3630168" cy="457200"/>
          </a:xfrm>
          <a:prstGeom prst="round2Same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2350008"/>
            <a:ext cx="32644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Microsoft YaHei"/>
              </a:rPr>
              <a:t>Shape B · 进程内插件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935224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B8096"/>
                </a:solidFill>
                <a:latin typeface="Arial"/>
                <a:ea typeface="Microsoft YaHei"/>
              </a:rPr>
              <a:t>加载 JS/TS 模块，用生命周期回调改写消息数组。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749040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A5CF0"/>
                </a:solidFill>
                <a:latin typeface="Arial"/>
                <a:ea typeface="Microsoft YaHei"/>
              </a:rPr>
              <a:t>OpenCode · 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2331720"/>
            <a:ext cx="3630168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7991856" y="2331720"/>
            <a:ext cx="3630168" cy="457200"/>
          </a:xfrm>
          <a:prstGeom prst="round2Same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456" y="2350008"/>
            <a:ext cx="32644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Microsoft YaHei"/>
              </a:rPr>
              <a:t>Shape C · 指令文件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935224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B8096"/>
                </a:solidFill>
                <a:latin typeface="Arial"/>
                <a:ea typeface="Microsoft YaHei"/>
              </a:rPr>
              <a:t>扩展自带并声明一个每次加载的上下文文件。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3749040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B020"/>
                </a:solidFill>
                <a:latin typeface="Arial"/>
                <a:ea typeface="Microsoft YaHei"/>
              </a:rPr>
              <a:t>Gemini CLI · Antigravity · Kimi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4500"/>
            </a:avLst>
          </a:prstGeom>
          <a:solidFill>
            <a:srgbClr val="F7F8FD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6817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3263B"/>
                </a:solidFill>
                <a:latin typeface="Arial"/>
                <a:ea typeface="Microsoft YaHei"/>
              </a:rPr>
              <a:t>唯一不可妥协的硬性要求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C3BE0"/>
                </a:solidFill>
                <a:latin typeface="Arial"/>
                <a:ea typeface="Microsoft YaHei"/>
              </a:rPr>
              <a:t>会话开始时必须能自动注入引导，且不需要用户每次手动开启。</a:t>
            </a:r>
            <a:r>
              <a:rPr sz="1300" b="0" i="0">
                <a:solidFill>
                  <a:srgbClr val="7B8096"/>
                </a:solidFill>
                <a:latin typeface="Arial"/>
                <a:ea typeface="Microsoft YaHei"/>
              </a:rPr>
              <a:t> 验收测试统一为：全新会话里发送「Let's make a react todo list」，必须在写任何代码前自动触发 brainstorming 技能——做不到，就不算真正的移植。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价值与启示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工程化与社区治理：质量是设计出来的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16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3630168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" y="2157984"/>
            <a:ext cx="420624" cy="420624"/>
          </a:xfrm>
          <a:prstGeom prst="ellipse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1579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176272"/>
            <a:ext cx="2624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B"/>
                </a:solidFill>
                <a:latin typeface="Arial"/>
                <a:ea typeface="Microsoft YaHei"/>
              </a:rPr>
              <a:t>零依赖设计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761488"/>
            <a:ext cx="31729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B8096"/>
                </a:solidFill>
                <a:latin typeface="Arial"/>
                <a:ea typeface="Microsoft YaHei"/>
              </a:rPr>
              <a:t>刻意保持纯插件、无第三方运行时依赖；需要外部工具的功能必须做成独立插件。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920240"/>
            <a:ext cx="3630168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2157984"/>
            <a:ext cx="420624" cy="420624"/>
          </a:xfrm>
          <a:prstGeom prst="ellipse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1579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176272"/>
            <a:ext cx="2624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B"/>
                </a:solidFill>
                <a:latin typeface="Arial"/>
                <a:ea typeface="Microsoft YaHei"/>
              </a:rPr>
              <a:t>94% PR 拒绝率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761488"/>
            <a:ext cx="31729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B8096"/>
                </a:solidFill>
                <a:latin typeface="Arial"/>
                <a:ea typeface="Microsoft YaHei"/>
              </a:rPr>
              <a:t>维护者数小时内关闭「AI 灌水 PR」；CLAUDE.md 开篇即警告代理别让搭档难堪。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1920240"/>
            <a:ext cx="3630168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47888" y="2157984"/>
            <a:ext cx="420624" cy="420624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1579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176272"/>
            <a:ext cx="2624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B"/>
                </a:solidFill>
                <a:latin typeface="Arial"/>
                <a:ea typeface="Microsoft YaHei"/>
              </a:rPr>
              <a:t>Evals 评测护栏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761488"/>
            <a:ext cx="31729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B8096"/>
                </a:solidFill>
                <a:latin typeface="Arial"/>
                <a:ea typeface="Microsoft YaHei"/>
              </a:rPr>
              <a:t>drill 框架驱动真实 tmux 会话跑 Claude/Codex/Gemini，由 LLM 裁判判定技能合规度。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77640"/>
            <a:ext cx="3630168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672" y="4215384"/>
            <a:ext cx="420624" cy="420624"/>
          </a:xfrm>
          <a:prstGeom prst="ellipse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215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4233672"/>
            <a:ext cx="2624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B"/>
                </a:solidFill>
                <a:latin typeface="Arial"/>
                <a:ea typeface="Microsoft YaHei"/>
              </a:rPr>
              <a:t>严格贡献规则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818888"/>
            <a:ext cx="31729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B8096"/>
                </a:solidFill>
                <a:latin typeface="Arial"/>
                <a:ea typeface="Microsoft YaHei"/>
              </a:rPr>
              <a:t>必须填满 PR 模板、披露所用模型/平台/插件、改技能须附 before/after eval 证据。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70248" y="3977640"/>
            <a:ext cx="3630168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4215384"/>
            <a:ext cx="420624" cy="420624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4215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233672"/>
            <a:ext cx="2624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B"/>
                </a:solidFill>
                <a:latin typeface="Arial"/>
                <a:ea typeface="Microsoft YaHei"/>
              </a:rPr>
              <a:t>术语即纪律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818888"/>
            <a:ext cx="31729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B8096"/>
                </a:solidFill>
                <a:latin typeface="Arial"/>
                <a:ea typeface="Microsoft YaHei"/>
              </a:rPr>
              <a:t>「your human partner」「不要合规化改写」等都是经测试调校的措辞，不可随意更改。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1856" y="3977640"/>
            <a:ext cx="3630168" cy="1920240"/>
          </a:xfrm>
          <a:prstGeom prst="roundRect">
            <a:avLst>
              <a:gd name="adj" fmla="val 4500"/>
            </a:avLst>
          </a:prstGeom>
          <a:solidFill>
            <a:srgbClr val="FBFBFE"/>
          </a:solidFill>
          <a:ln w="12700">
            <a:solidFill>
              <a:srgbClr val="E3E5F0"/>
            </a:solidFill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47888" y="4215384"/>
            <a:ext cx="420624" cy="420624"/>
          </a:xfrm>
          <a:prstGeom prst="ellipse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8" y="4215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6528" y="4233672"/>
            <a:ext cx="2624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B"/>
                </a:solidFill>
                <a:latin typeface="Arial"/>
                <a:ea typeface="Microsoft YaHei"/>
              </a:rPr>
              <a:t>可关闭的遥测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4818888"/>
            <a:ext cx="31729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B8096"/>
                </a:solidFill>
                <a:latin typeface="Arial"/>
                <a:ea typeface="Microsoft YaHei"/>
              </a:rPr>
              <a:t>可视化伴侣默认回传版本号用于估算用量，可一键环境变量关闭，尊重多种 opt-out。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4C3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3BE0"/>
                </a:solidFill>
                <a:latin typeface="Arial"/>
                <a:ea typeface="Microsoft YaHei"/>
              </a:rPr>
              <a:t>价值与启示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63B"/>
                </a:solidFill>
                <a:latin typeface="Arial"/>
                <a:ea typeface="Microsoft YaHei"/>
              </a:rPr>
              <a:t>优势 vs 局限：清醒地看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371600" cy="40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CEDF6"/>
                </a:solidFill>
                <a:latin typeface="Arial"/>
                <a:ea typeface="Microsoft YaHe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64224"/>
            <a:ext cx="11091672" cy="12700"/>
          </a:xfrm>
          <a:prstGeom prst="rect">
            <a:avLst/>
          </a:prstGeom>
          <a:solidFill>
            <a:srgbClr val="E3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Superpowers · 开源项目深度洞察报告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DB5"/>
                </a:solidFill>
                <a:latin typeface="Arial"/>
                <a:ea typeface="Microsoft YaHei"/>
              </a:rPr>
              <a:t>17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5449824" cy="4114800"/>
          </a:xfrm>
          <a:prstGeom prst="roundRect">
            <a:avLst>
              <a:gd name="adj" fmla="val 4500"/>
            </a:avLst>
          </a:prstGeom>
          <a:solidFill>
            <a:srgbClr val="EFFAF5"/>
          </a:solidFill>
          <a:ln>
            <a:noFill/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548640" y="1874519"/>
            <a:ext cx="5449824" cy="548640"/>
          </a:xfrm>
          <a:prstGeom prst="round2Same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01952"/>
            <a:ext cx="54498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Microsoft YaHei"/>
              </a:rPr>
              <a:t>优势  Strengths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06040"/>
            <a:ext cx="49377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80" b="1">
                <a:solidFill>
                  <a:srgbClr val="16C79A"/>
                </a:solidFill>
                <a:latin typeface="Arial"/>
                <a:ea typeface="Microsoft YaHei"/>
              </a:rPr>
              <a:t>✓  </a:t>
            </a:r>
            <a:r>
              <a:rPr sz="1280" b="0">
                <a:solidFill>
                  <a:srgbClr val="23263B"/>
                </a:solidFill>
                <a:latin typeface="Arial"/>
                <a:ea typeface="Microsoft YaHei"/>
              </a:rPr>
              <a:t>把工程纪律「默认化」，显著减少草率与返工。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80" b="1">
                <a:solidFill>
                  <a:srgbClr val="16C79A"/>
                </a:solidFill>
                <a:latin typeface="Arial"/>
                <a:ea typeface="Microsoft YaHei"/>
              </a:rPr>
              <a:t>✓  </a:t>
            </a:r>
            <a:r>
              <a:rPr sz="1280" b="0">
                <a:solidFill>
                  <a:srgbClr val="23263B"/>
                </a:solidFill>
                <a:latin typeface="Arial"/>
                <a:ea typeface="Microsoft YaHei"/>
              </a:rPr>
              <a:t>内容与平台解耦，一份方法论覆盖 8 个主流代理。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80" b="1">
                <a:solidFill>
                  <a:srgbClr val="16C79A"/>
                </a:solidFill>
                <a:latin typeface="Arial"/>
                <a:ea typeface="Microsoft YaHei"/>
              </a:rPr>
              <a:t>✓  </a:t>
            </a:r>
            <a:r>
              <a:rPr sz="1280" b="0">
                <a:solidFill>
                  <a:srgbClr val="23263B"/>
                </a:solidFill>
                <a:latin typeface="Arial"/>
                <a:ea typeface="Microsoft YaHei"/>
              </a:rPr>
              <a:t>技能经压力测试与 evals 调校，不是凭感觉写的。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80" b="1">
                <a:solidFill>
                  <a:srgbClr val="16C79A"/>
                </a:solidFill>
                <a:latin typeface="Arial"/>
                <a:ea typeface="Microsoft YaHei"/>
              </a:rPr>
              <a:t>✓  </a:t>
            </a:r>
            <a:r>
              <a:rPr sz="1280" b="0">
                <a:solidFill>
                  <a:srgbClr val="23263B"/>
                </a:solidFill>
                <a:latin typeface="Arial"/>
                <a:ea typeface="Microsoft YaHei"/>
              </a:rPr>
              <a:t>可自主连续运行数小时，子代理隔离上下文降本。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80" b="1">
                <a:solidFill>
                  <a:srgbClr val="16C79A"/>
                </a:solidFill>
                <a:latin typeface="Arial"/>
                <a:ea typeface="Microsoft YaHei"/>
              </a:rPr>
              <a:t>✓  </a:t>
            </a:r>
            <a:r>
              <a:rPr sz="1280" b="0">
                <a:solidFill>
                  <a:srgbClr val="23263B"/>
                </a:solidFill>
                <a:latin typeface="Arial"/>
                <a:ea typeface="Microsoft YaHei"/>
              </a:rPr>
              <a:t>强调可恢复性（ledger）与证据化完成，工程味浓。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874519"/>
            <a:ext cx="5449824" cy="4114800"/>
          </a:xfrm>
          <a:prstGeom prst="roundRect">
            <a:avLst>
              <a:gd name="adj" fmla="val 4500"/>
            </a:avLst>
          </a:prstGeom>
          <a:solidFill>
            <a:srgbClr val="FDF1F4"/>
          </a:solidFill>
          <a:ln>
            <a:noFill/>
          </a:ln>
          <a:effectLst/>
          <a:effectLst>
            <a:outerShdw blurRad="90000" dist="38100" dir="5400000" rotWithShape="0">
              <a:srgbClr val="1A1B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190488" y="1874519"/>
            <a:ext cx="5449824" cy="548640"/>
          </a:xfrm>
          <a:prstGeom prst="round2Same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1901952"/>
            <a:ext cx="54498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Microsoft YaHei"/>
              </a:rPr>
              <a:t>局限与权衡 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606040"/>
            <a:ext cx="49377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80" b="1">
                <a:solidFill>
                  <a:srgbClr val="FF5D8F"/>
                </a:solidFill>
                <a:latin typeface="Arial"/>
                <a:ea typeface="Microsoft YaHei"/>
              </a:rPr>
              <a:t>!  </a:t>
            </a:r>
            <a:r>
              <a:rPr sz="1280" b="0">
                <a:solidFill>
                  <a:srgbClr val="23263B"/>
                </a:solidFill>
                <a:latin typeface="Arial"/>
                <a:ea typeface="Microsoft YaHei"/>
              </a:rPr>
              <a:t>流程偏重：对一次性脚本/微小改动可能「杀鸡用牛刀」。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80" b="1">
                <a:solidFill>
                  <a:srgbClr val="FF5D8F"/>
                </a:solidFill>
                <a:latin typeface="Arial"/>
                <a:ea typeface="Microsoft YaHei"/>
              </a:rPr>
              <a:t>!  </a:t>
            </a:r>
            <a:r>
              <a:rPr sz="1280" b="0">
                <a:solidFill>
                  <a:srgbClr val="23263B"/>
                </a:solidFill>
                <a:latin typeface="Arial"/>
                <a:ea typeface="Microsoft YaHei"/>
              </a:rPr>
              <a:t>成本结构特殊：子代理多次派发+评审循环带来额外开销。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80" b="1">
                <a:solidFill>
                  <a:srgbClr val="FF5D8F"/>
                </a:solidFill>
                <a:latin typeface="Arial"/>
                <a:ea typeface="Microsoft YaHei"/>
              </a:rPr>
              <a:t>!  </a:t>
            </a:r>
            <a:r>
              <a:rPr sz="1280" b="0">
                <a:solidFill>
                  <a:srgbClr val="23263B"/>
                </a:solidFill>
                <a:latin typeface="Arial"/>
                <a:ea typeface="Microsoft YaHei"/>
              </a:rPr>
              <a:t>效果依赖模型对指令的「服从度」，弱模型可能打折扣。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80" b="1">
                <a:solidFill>
                  <a:srgbClr val="FF5D8F"/>
                </a:solidFill>
                <a:latin typeface="Arial"/>
                <a:ea typeface="Microsoft YaHei"/>
              </a:rPr>
              <a:t>!  </a:t>
            </a:r>
            <a:r>
              <a:rPr sz="1280" b="0">
                <a:solidFill>
                  <a:srgbClr val="23263B"/>
                </a:solidFill>
                <a:latin typeface="Arial"/>
                <a:ea typeface="Microsoft YaHei"/>
              </a:rPr>
              <a:t>刻意不接受新技能/领域贡献，社区扩展性受限。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80" b="1">
                <a:solidFill>
                  <a:srgbClr val="FF5D8F"/>
                </a:solidFill>
                <a:latin typeface="Arial"/>
                <a:ea typeface="Microsoft YaHei"/>
              </a:rPr>
              <a:t>!  </a:t>
            </a:r>
            <a:r>
              <a:rPr sz="1280" b="0">
                <a:solidFill>
                  <a:srgbClr val="23263B"/>
                </a:solidFill>
                <a:latin typeface="Arial"/>
                <a:ea typeface="Microsoft YaHei"/>
              </a:rPr>
              <a:t>默认遥测与多平台钩子，企业环境需评估合规与可控性。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B020"/>
                </a:solidFill>
                <a:latin typeface="Arial"/>
                <a:ea typeface="Microsoft YaHei"/>
              </a:rPr>
              <a:t>洞察与启示  · 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  <a:ea typeface="Microsoft YaHei"/>
              </a:rPr>
              <a:t>如果你在构建 Agent 系统，能学到什么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285232" cy="1280160"/>
          </a:xfrm>
          <a:prstGeom prst="roundRect">
            <a:avLst>
              <a:gd name="adj" fmla="val 4500"/>
            </a:avLst>
          </a:prstGeom>
          <a:solidFill>
            <a:srgbClr val="202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91440" cy="1280160"/>
          </a:xfrm>
          <a:prstGeom prst="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066544"/>
            <a:ext cx="48280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Microsoft YaHei"/>
              </a:rPr>
              <a:t>1. 把提示词当「被测代码」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487168"/>
            <a:ext cx="4782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2C4E4"/>
                </a:solidFill>
                <a:latin typeface="Arial"/>
                <a:ea typeface="Microsoft YaHei"/>
              </a:rPr>
              <a:t>用基线→编写→封堵漏洞的 TDD 方式开发与回归你的指令，而非一次性散文。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920240"/>
            <a:ext cx="5285232" cy="1280160"/>
          </a:xfrm>
          <a:prstGeom prst="roundRect">
            <a:avLst>
              <a:gd name="adj" fmla="val 4500"/>
            </a:avLst>
          </a:prstGeom>
          <a:solidFill>
            <a:srgbClr val="202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920240"/>
            <a:ext cx="91440" cy="1280160"/>
          </a:xfrm>
          <a:prstGeom prst="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66544"/>
            <a:ext cx="48280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Microsoft YaHei"/>
              </a:rPr>
              <a:t>2. 为「压力下的行为」而设计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87168"/>
            <a:ext cx="4782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2C4E4"/>
                </a:solidFill>
                <a:latin typeface="Arial"/>
                <a:ea typeface="Microsoft YaHei"/>
              </a:rPr>
              <a:t>明确预判合理化借口并逐条封堵；红旗表比温和建议有效得多。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64992"/>
            <a:ext cx="5285232" cy="1280160"/>
          </a:xfrm>
          <a:prstGeom prst="roundRect">
            <a:avLst>
              <a:gd name="adj" fmla="val 4500"/>
            </a:avLst>
          </a:prstGeom>
          <a:solidFill>
            <a:srgbClr val="202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64992"/>
            <a:ext cx="91440" cy="128016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511296"/>
            <a:ext cx="48280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Microsoft YaHei"/>
              </a:rPr>
              <a:t>3. 内容与运行时解耦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931920"/>
            <a:ext cx="4782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2C4E4"/>
                </a:solidFill>
                <a:latin typeface="Arial"/>
                <a:ea typeface="Microsoft YaHei"/>
              </a:rPr>
              <a:t>让能力只描述动作，用薄适配层对接不同平台——可移植性是架构决策。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364992"/>
            <a:ext cx="5285232" cy="1280160"/>
          </a:xfrm>
          <a:prstGeom prst="roundRect">
            <a:avLst>
              <a:gd name="adj" fmla="val 4500"/>
            </a:avLst>
          </a:prstGeom>
          <a:solidFill>
            <a:srgbClr val="202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3364992"/>
            <a:ext cx="91440" cy="1280160"/>
          </a:xfrm>
          <a:prstGeom prst="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511296"/>
            <a:ext cx="48280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Microsoft YaHei"/>
              </a:rPr>
              <a:t>4. 用明线规则消除自由裁量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4782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2C4E4"/>
                </a:solidFill>
                <a:latin typeface="Arial"/>
                <a:ea typeface="Microsoft YaHei"/>
              </a:rPr>
              <a:t>「必须/无例外」减少决策疲劳；显式选模型、显式宣布、显式验证。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809744"/>
            <a:ext cx="5285232" cy="1280160"/>
          </a:xfrm>
          <a:prstGeom prst="roundRect">
            <a:avLst>
              <a:gd name="adj" fmla="val 4500"/>
            </a:avLst>
          </a:prstGeom>
          <a:solidFill>
            <a:srgbClr val="202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809744"/>
            <a:ext cx="91440" cy="1280160"/>
          </a:xfrm>
          <a:prstGeom prst="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4956048"/>
            <a:ext cx="48280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Microsoft YaHei"/>
              </a:rPr>
              <a:t>5. 证据化的「完成」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376672"/>
            <a:ext cx="4782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2C4E4"/>
                </a:solidFill>
                <a:latin typeface="Arial"/>
                <a:ea typeface="Microsoft YaHei"/>
              </a:rPr>
              <a:t>声称通过前必须跑命令读输出；不信任子代理的口头成功报告。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4809744"/>
            <a:ext cx="5285232" cy="1280160"/>
          </a:xfrm>
          <a:prstGeom prst="roundRect">
            <a:avLst>
              <a:gd name="adj" fmla="val 4500"/>
            </a:avLst>
          </a:prstGeom>
          <a:solidFill>
            <a:srgbClr val="202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4809744"/>
            <a:ext cx="91440" cy="1280160"/>
          </a:xfrm>
          <a:prstGeom prst="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956048"/>
            <a:ext cx="48280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Microsoft YaHei"/>
              </a:rPr>
              <a:t>6. 子代理=上下文隔离器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376672"/>
            <a:ext cx="4782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2C4E4"/>
                </a:solidFill>
                <a:latin typeface="Arial"/>
                <a:ea typeface="Microsoft YaHei"/>
              </a:rPr>
              <a:t>为子代理精确构造输入、用文件交接产物，既保质量又控成本。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731520"/>
            <a:ext cx="457200" cy="457200"/>
          </a:xfrm>
          <a:prstGeom prst="rect">
            <a:avLst/>
          </a:prstGeom>
          <a:solidFill>
            <a:srgbClr val="7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47120" y="1554480"/>
            <a:ext cx="274320" cy="2743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5212080"/>
            <a:ext cx="329184" cy="329184"/>
          </a:xfrm>
          <a:prstGeom prst="rect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0" y="4389120"/>
            <a:ext cx="219456" cy="219456"/>
          </a:xfrm>
          <a:prstGeom prst="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020"/>
                </a:solidFill>
                <a:latin typeface="Arial"/>
                <a:ea typeface="Microsoft YaHei"/>
              </a:rPr>
              <a:t>结语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Microsoft YaHei"/>
              </a:rPr>
              <a:t>Superpowers 的真正价值，不在某个技能，而在「方法」本身：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ECFEC"/>
                </a:solidFill>
                <a:latin typeface="Arial"/>
                <a:ea typeface="Microsoft YaHei"/>
              </a:rPr>
              <a:t>把人类积累的软件工程纪律，编译成 AI 代理可自动触发、跨平台、经测试验证的行为规范——它示范了「如何把最佳实践工程化进 Agent」。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160520"/>
            <a:ext cx="10424160" cy="1371600"/>
          </a:xfrm>
          <a:prstGeom prst="roundRect">
            <a:avLst>
              <a:gd name="adj" fmla="val 4500"/>
            </a:avLst>
          </a:prstGeom>
          <a:solidFill>
            <a:srgbClr val="202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37083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B020"/>
                </a:solidFill>
                <a:latin typeface="Arial"/>
                <a:ea typeface="Microsoft YaHei"/>
              </a:rPr>
              <a:t>项目仓库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36592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</a:rPr>
              <a:t>github.com/obra/superpowers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37083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B020"/>
                </a:solidFill>
                <a:latin typeface="Arial"/>
                <a:ea typeface="Microsoft YaHei"/>
              </a:rPr>
              <a:t>发布博客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736592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</a:rPr>
              <a:t>blog.fsck.com/2025/10/superpowers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37083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B020"/>
                </a:solidFill>
                <a:latin typeface="Arial"/>
                <a:ea typeface="Microsoft YaHei"/>
              </a:rPr>
              <a:t>生态/维护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736592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</a:rPr>
              <a:t>Prime Radiant · primeradiant.com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3A6"/>
                </a:solidFill>
                <a:latin typeface="Arial"/>
                <a:ea typeface="Microsoft YaHei"/>
              </a:rPr>
              <a:t>本报告基于 v6.0.2 源码与公开资料整理  ·  2026-06-18  ·  仅供学习研究参考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