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754880"/>
            <a:ext cx="12191695" cy="381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64592" cy="228600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41732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自进化自治智能体框架 · 深度技术洞察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965960"/>
            <a:ext cx="10241280" cy="1463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5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GenericAgent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>
                <a:solidFill>
                  <a:srgbClr val="C9D6E0"/>
                </a:solidFill>
                <a:latin typeface="Microsoft YaHei"/>
                <a:ea typeface="Microsoft YaHei"/>
                <a:cs typeface="Microsoft YaHei"/>
              </a:rPr>
              <a:t>极简自进化 Agent 框架技术分析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29768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A9BCCC"/>
                </a:solidFill>
                <a:latin typeface="Microsoft YaHei"/>
                <a:ea typeface="Microsoft YaHei"/>
                <a:cs typeface="Microsoft YaHei"/>
              </a:rPr>
              <a:t>约 3,000 行种子代码　·　100 行 Agent 循环　·　9 个原子工具　·　5 层记忆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983480"/>
            <a:ext cx="100584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12.8k</a:t>
            </a:r>
            <a:r>
              <a:rPr sz="1300" b="0">
                <a:solidFill>
                  <a:srgbClr val="9AAEBF"/>
                </a:solidFill>
                <a:latin typeface="Microsoft YaHei"/>
                <a:ea typeface="Microsoft YaHei"/>
                <a:cs typeface="Microsoft YaHei"/>
              </a:rPr>
              <a:t>  Stars      </a:t>
            </a:r>
            <a:r>
              <a:rPr sz="26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1.5k</a:t>
            </a:r>
            <a:r>
              <a:rPr sz="1300" b="0">
                <a:solidFill>
                  <a:srgbClr val="9AAEBF"/>
                </a:solidFill>
                <a:latin typeface="Microsoft YaHei"/>
                <a:ea typeface="Microsoft YaHei"/>
                <a:cs typeface="Microsoft YaHei"/>
              </a:rPr>
              <a:t>  Forks      </a:t>
            </a:r>
            <a:r>
              <a:rPr sz="26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MIT</a:t>
            </a:r>
            <a:r>
              <a:rPr sz="1300" b="0">
                <a:solidFill>
                  <a:srgbClr val="9AAEBF"/>
                </a:solidFill>
                <a:latin typeface="Microsoft YaHei"/>
                <a:ea typeface="Microsoft YaHei"/>
                <a:cs typeface="Microsoft YaHei"/>
              </a:rPr>
              <a:t>  License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6035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7C90A3"/>
                </a:solidFill>
                <a:latin typeface="Microsoft YaHei"/>
                <a:ea typeface="Microsoft YaHei"/>
                <a:cs typeface="Microsoft YaHei"/>
              </a:rPr>
              <a:t>分析日期 2026-06　|　Python 88.6% · JavaScript 6.1% · PowerShell/Rust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76200" cy="566928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4592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PROJECT OVERVIEW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项目概览：它到底是什么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65760"/>
            <a:ext cx="822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3A5A72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25880"/>
            <a:ext cx="10972800" cy="8686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GenericAgent 是一个</a:t>
            </a:r>
            <a:r>
              <a:rPr sz="14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赋予任意大模型「系统级电脑控制能力」</a:t>
            </a:r>
            <a:r>
              <a:rPr sz="14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的极简自治智能体框架。其核心主张是 </a:t>
            </a:r>
            <a:r>
              <a:rPr sz="14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「不预装技能，而是进化技能」</a:t>
            </a:r>
            <a:r>
              <a:rPr sz="14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——每完成一个任务即结晶为可复用 Skill，逐步生长出个性化技能树。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31720"/>
            <a:ext cx="3611880" cy="356616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331720"/>
            <a:ext cx="63500" cy="356616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441448"/>
            <a:ext cx="3319272" cy="3383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能做什么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浏览器自动化 / 真实 Chrome 会话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终端与命令行操作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文件读写与补丁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键鼠输入 + 屏幕视觉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经 ADB 控制移动设备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07407" y="2331720"/>
            <a:ext cx="3611880" cy="356616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7407" y="2331720"/>
            <a:ext cx="63500" cy="3566160"/>
          </a:xfrm>
          <a:prstGeom prst="rect">
            <a:avLst/>
          </a:prstGeom>
          <a:solidFill>
            <a:srgbClr val="12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7" y="2441448"/>
            <a:ext cx="3319272" cy="3383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怎么做到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仅 9 个原子工具作为底座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约 100 行的 Agent 主循环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五层结晶式记忆系统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任务自动结晶为 SOP/Skill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约 3K 行种子代码生长能力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6446" y="2331720"/>
            <a:ext cx="3611880" cy="356616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56446" y="2331720"/>
            <a:ext cx="63500" cy="356616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6" y="2441448"/>
            <a:ext cx="3319272" cy="3383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为何不同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~30K 上下文 vs 对手 200K–1M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无需 Playwright / LangChain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跨模型：Claude/Gemini/Kimi…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登录态/Cookie/指纹全保留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仓库自身由 Agent 自举完成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GenericAgent · 技术洞察分析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644652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lsdefine/genericagent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76200" cy="566928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4592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DESIGN PHILOSOPHY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核心设计理念：进化而非预装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65760"/>
            <a:ext cx="822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3A5A72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371600"/>
            <a:ext cx="10881360" cy="123444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481328"/>
            <a:ext cx="1042416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“Don't preload skills — evolve them.”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以最小信息密度的代码 + 直接系统控制 + 持续经验结晶，让能力从一颗「种子」有机生长，而非靠插件与依赖堆叠。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834640"/>
            <a:ext cx="5349240" cy="310896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2834640"/>
            <a:ext cx="63500" cy="310896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944368"/>
            <a:ext cx="5056632" cy="2926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传统重型 Agent 思路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预置大量插件 / 工具 / SDK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依赖 Playwright、LangChain 等框架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上下文塞满工具说明与冗余记忆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能力固定，跨会话不沉淀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代码体量数十万行（如 530K）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2834640"/>
            <a:ext cx="5349240" cy="310896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0488" y="2834640"/>
            <a:ext cx="63500" cy="310896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2944368"/>
            <a:ext cx="5056632" cy="2926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GenericAgent 思路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9 个原子工具自由组合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用 code_run 现写脚本替代专用工具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30K 上下文，降噪降幻觉降成本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任务结晶为 Skill，越用越强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3K 行种子代码自我生长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GenericAgent · 技术洞察分析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4652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lsdefine/genericagent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76200" cy="566928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4592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ARCHITECTURE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整体架构：极简三层心智模型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65760"/>
            <a:ext cx="822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3A5A72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17320"/>
            <a:ext cx="10881360" cy="96012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8368" y="1417320"/>
            <a:ext cx="2651760" cy="960120"/>
          </a:xfrm>
          <a:prstGeom prst="round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237744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感知层  Perception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417320"/>
            <a:ext cx="786384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web_scan 网页感知 · 屏幕视觉 · 文件读取 · 终端输出回收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96312"/>
            <a:ext cx="10881360" cy="96012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368" y="2496312"/>
            <a:ext cx="2651760" cy="960120"/>
          </a:xfrm>
          <a:prstGeom prst="roundRect">
            <a:avLst/>
          </a:prstGeom>
          <a:solidFill>
            <a:srgbClr val="12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496312"/>
            <a:ext cx="237744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决策循环  Agent Loop (~100 行)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496312"/>
            <a:ext cx="786384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LLM 调用 → 解析工具调用 → 分发 do_{tool} → 回收结果 → 拼接下一轮 prompt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575304"/>
            <a:ext cx="10881360" cy="96012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3575304"/>
            <a:ext cx="2651760" cy="960120"/>
          </a:xfrm>
          <a:prstGeom prst="round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575304"/>
            <a:ext cx="237744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行动层  9 Atomic Tools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3575304"/>
            <a:ext cx="786384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code_run · file_read/write/patch · web_scan · web_execute_js · ask_user · 记忆更新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654296"/>
            <a:ext cx="10881360" cy="96012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58368" y="4654296"/>
            <a:ext cx="2651760" cy="960120"/>
          </a:xfrm>
          <a:prstGeom prst="round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654296"/>
            <a:ext cx="237744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记忆层  5-Layer 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654296"/>
            <a:ext cx="7863840" cy="9601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L0 元规则 · L1 洞察索引 · L2 全局事实 · L3 任务 SOP · L4 会话归档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626364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设计要点：生成器流式输出（yield from）+ 生命周期 Hook + 工具可经 should_exit 提前退出，循环紧凑且可插拔。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76200" cy="566928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4592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ATOMIC TOOLS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九大原子工具：最小却完备的底座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65760"/>
            <a:ext cx="822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3A5A72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63040"/>
            <a:ext cx="3611880" cy="132588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463040"/>
            <a:ext cx="63500" cy="132588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1609344"/>
            <a:ext cx="3337560" cy="114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code_run  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执行任意 Python / PowerShell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07407" y="1463040"/>
            <a:ext cx="3611880" cy="132588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7407" y="1463040"/>
            <a:ext cx="63500" cy="1325880"/>
          </a:xfrm>
          <a:prstGeom prst="rect">
            <a:avLst/>
          </a:prstGeom>
          <a:solidFill>
            <a:srgbClr val="12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08575" y="1609344"/>
            <a:ext cx="3337560" cy="114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file_read  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读取文件内容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6446" y="1463040"/>
            <a:ext cx="3611880" cy="132588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56446" y="1463040"/>
            <a:ext cx="63500" cy="1325880"/>
          </a:xfrm>
          <a:prstGeom prst="rect">
            <a:avLst/>
          </a:prstGeom>
          <a:solidFill>
            <a:srgbClr val="12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7614" y="1609344"/>
            <a:ext cx="3337560" cy="114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file_write  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创建或覆盖文件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944368"/>
            <a:ext cx="3611880" cy="132588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2944368"/>
            <a:ext cx="63500" cy="1325880"/>
          </a:xfrm>
          <a:prstGeom prst="rect">
            <a:avLst/>
          </a:prstGeom>
          <a:solidFill>
            <a:srgbClr val="12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" y="3090672"/>
            <a:ext cx="3337560" cy="114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file_patch  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对已有文件打补丁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07407" y="2944368"/>
            <a:ext cx="3611880" cy="132588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07407" y="2944368"/>
            <a:ext cx="63500" cy="132588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08575" y="3090672"/>
            <a:ext cx="3337560" cy="114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web_scan  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感知与解析网页内容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56446" y="2944368"/>
            <a:ext cx="3611880" cy="132588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56446" y="2944368"/>
            <a:ext cx="63500" cy="132588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57614" y="3090672"/>
            <a:ext cx="3337560" cy="114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web_execute_js  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用 JS 控制真实浏览器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425696"/>
            <a:ext cx="3611880" cy="132588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4425696"/>
            <a:ext cx="63500" cy="132588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6" y="4572000"/>
            <a:ext cx="3337560" cy="114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ask_user  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人在环路确认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07407" y="4425696"/>
            <a:ext cx="3611880" cy="132588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07407" y="4425696"/>
            <a:ext cx="63500" cy="132588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08575" y="4572000"/>
            <a:ext cx="3337560" cy="114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update_working_checkpoint  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短期工作记忆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56446" y="4425696"/>
            <a:ext cx="3611880" cy="132588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156446" y="4425696"/>
            <a:ext cx="63500" cy="132588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57614" y="4572000"/>
            <a:ext cx="3337560" cy="11430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start_long_term_update  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蒸馏持久记忆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626364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洞察：以 code_run「现写脚本」取代成百上千的专用工具，是其工具数极少却能力极广的关键。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76200" cy="566928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4592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MEMORY SYSTEM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五层结晶式记忆：越用越聪明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65760"/>
            <a:ext cx="822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3A5A72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63040"/>
            <a:ext cx="914400" cy="841248"/>
          </a:xfrm>
          <a:prstGeom prst="round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463040"/>
            <a:ext cx="914400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1640" y="1463040"/>
            <a:ext cx="9829800" cy="841248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1554480"/>
            <a:ext cx="941832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元规则 Meta Rules</a:t>
            </a:r>
            <a:r>
              <a:rPr sz="12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　—　</a:t>
            </a:r>
            <a:r>
              <a:rPr sz="12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核心行为约束与系统级红线，最稳定、最高优先级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414016"/>
            <a:ext cx="914400" cy="841248"/>
          </a:xfrm>
          <a:prstGeom prst="round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414016"/>
            <a:ext cx="914400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1640" y="2414016"/>
            <a:ext cx="9829800" cy="841248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20240" y="2505456"/>
            <a:ext cx="941832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洞察索引 Insight Index</a:t>
            </a:r>
            <a:r>
              <a:rPr sz="12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　—　</a:t>
            </a:r>
            <a:r>
              <a:rPr sz="12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快速路由与召回入口，决定「该调哪条经验」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364992"/>
            <a:ext cx="914400" cy="841248"/>
          </a:xfrm>
          <a:prstGeom prst="roundRect">
            <a:avLst/>
          </a:prstGeom>
          <a:solidFill>
            <a:srgbClr val="12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3364992"/>
            <a:ext cx="914400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91640" y="3364992"/>
            <a:ext cx="9829800" cy="841248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20240" y="3456432"/>
            <a:ext cx="941832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全局事实 Global Facts</a:t>
            </a:r>
            <a:r>
              <a:rPr sz="12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　—　</a:t>
            </a:r>
            <a:r>
              <a:rPr sz="12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跨任务沉淀的稳定知识与环境事实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4315968"/>
            <a:ext cx="914400" cy="841248"/>
          </a:xfrm>
          <a:prstGeom prst="round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315968"/>
            <a:ext cx="914400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1640" y="4315968"/>
            <a:ext cx="9829800" cy="841248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20240" y="4407408"/>
            <a:ext cx="941832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任务技能 Skills / SOP</a:t>
            </a:r>
            <a:r>
              <a:rPr sz="12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　—　</a:t>
            </a:r>
            <a:r>
              <a:rPr sz="12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可复用工作流，相似任务直接一行调用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5266944"/>
            <a:ext cx="914400" cy="841248"/>
          </a:xfrm>
          <a:prstGeom prst="roundRect">
            <a:avLst/>
          </a:prstGeom>
          <a:solidFill>
            <a:srgbClr val="5A66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266944"/>
            <a:ext cx="914400" cy="841248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L4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91640" y="5266944"/>
            <a:ext cx="9829800" cy="841248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20240" y="5358384"/>
            <a:ext cx="9418320" cy="68580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会话归档 Session Archive</a:t>
            </a:r>
            <a:r>
              <a:rPr sz="12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　—　</a:t>
            </a:r>
            <a:r>
              <a:rPr sz="12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蒸馏后的长程记录，支撑长时序回忆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30936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对比：分层「浓缩式」记忆优于冗余堆叠或纯向量检索——降噪的同时保住可复用经验。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76200" cy="566928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4592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EXECUTION LOOP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Agent 执行循环：100 行的引擎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65760"/>
            <a:ext cx="822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3A5A72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554480"/>
            <a:ext cx="3520440" cy="146304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9536" y="1664208"/>
            <a:ext cx="9144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67712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调用 LLM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携带消息历史 + 工具 schema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554480"/>
            <a:ext cx="3520440" cy="146304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62856" y="1664208"/>
            <a:ext cx="9144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2267712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解析工具调用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从响应中提取 tool calls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554480"/>
            <a:ext cx="3520440" cy="146304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6176" y="1664208"/>
            <a:ext cx="9144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6" y="2267712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分发执行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BaseHandler.dispatch → do_{tool}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291840"/>
            <a:ext cx="3520440" cy="146304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" y="3401568"/>
            <a:ext cx="9144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9536" y="4005072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回收结果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生成器 yield，exhaust 排空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61688" y="3291840"/>
            <a:ext cx="3520440" cy="146304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62856" y="3401568"/>
            <a:ext cx="9144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2856" y="4005072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拼接 prompt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合并各工具 next_prompt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8" y="3291840"/>
            <a:ext cx="3520440" cy="146304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6176" y="3401568"/>
            <a:ext cx="91440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66176" y="4005072"/>
            <a:ext cx="315468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进入下一轮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追加 user 消息，循环至完成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5486400"/>
            <a:ext cx="108813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关键机制：</a:t>
            </a:r>
            <a:r>
              <a:rPr sz="12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生成器流式输出 · 生命周期 Hook（agent_before/turn_after）· should_exit 提前退出 · 正则后处理压缩冗长代码块。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GenericAgent · 技术洞察分析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644652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lsdefine/genericagent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76200" cy="566928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4592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KEY DIFFERENTIATORS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四大差异化技术亮点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65760"/>
            <a:ext cx="822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3A5A72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63040"/>
            <a:ext cx="2670048" cy="429768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463040"/>
            <a:ext cx="63500" cy="429768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572768"/>
            <a:ext cx="2377440" cy="4114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Token 效率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~30K 上下文窗口运行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对手普遍 200K–1M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降噪声 / 降幻觉 / 降成本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评测中约 6× 更低 token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63040"/>
            <a:ext cx="2670048" cy="429768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63040"/>
            <a:ext cx="63500" cy="4297680"/>
          </a:xfrm>
          <a:prstGeom prst="rect">
            <a:avLst/>
          </a:prstGeom>
          <a:solidFill>
            <a:srgbClr val="12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02736" y="1572768"/>
            <a:ext cx="2377440" cy="4114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真实浏览器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注入真实 Chrome 会话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保留登录态/Cookie/指纹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过 SannySoft / FingerprintJS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reCAPTCHA v3 得分约 0.9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4" y="1463040"/>
            <a:ext cx="2670048" cy="429768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81344" y="1463040"/>
            <a:ext cx="63500" cy="429768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224" y="1572768"/>
            <a:ext cx="2377440" cy="4114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自进化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每个任务结晶为 Skill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相似任务一行直接调用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无需人工干预积累能力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形成个性化技能树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42832" y="1463040"/>
            <a:ext cx="2670048" cy="429768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42832" y="1463040"/>
            <a:ext cx="63500" cy="4297680"/>
          </a:xfrm>
          <a:prstGeom prst="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5712" y="1572768"/>
            <a:ext cx="2377440" cy="4114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跨平台跨模型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Claude/Gemini/Kimi/MiniMax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Win / macOS / Linux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无需 Playwright/LangChain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依赖极少，部署轻量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GenericAgent · 技术洞察分析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44652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lsdefine/genericagent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76200" cy="566928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4592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TMWebDriver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真实浏览器方案：反检测的护城河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65760"/>
            <a:ext cx="822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3A5A72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25880"/>
            <a:ext cx="1088136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4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TMWebDriver = 本地 WebSocket 服务 + Chrome 扩展，</a:t>
            </a:r>
            <a:r>
              <a:rPr sz="14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直接注入用户真实浏览器</a:t>
            </a:r>
            <a:r>
              <a:rPr sz="14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，而非 headless 沙箱。由此天然继承真人浏览环境，绕过主流 Bot 检测。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2377440"/>
            <a:ext cx="5349240" cy="338328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377440"/>
            <a:ext cx="63500" cy="3383280"/>
          </a:xfrm>
          <a:prstGeom prst="rect">
            <a:avLst/>
          </a:prstGeom>
          <a:solidFill>
            <a:srgbClr val="12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487168"/>
            <a:ext cx="5056632" cy="3200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技术构成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本地 WebSocket Server 作桥接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Chrome / Chromium 扩展注入页面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web_scan 感知 + web_execute_js 操作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无需下载浏览器二进制 / 驱动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登录会话、Cookie、扩展、指纹全保留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0488" y="2377440"/>
            <a:ext cx="5349240" cy="338328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0488" y="2377440"/>
            <a:ext cx="63500" cy="338328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3368" y="2487168"/>
            <a:ext cx="5056632" cy="3200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反检测实测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通过 SannySoft 检测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通过 incolumitas 验证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reCAPTCHA v3 ≈ 0.9 人类可信度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通过 FingerprintJS 分析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对开放网络更具韧性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GenericAgent · 技术洞察分析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44652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lsdefine/genericagent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76200" cy="566928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4592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SELF-EVOLUTION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自进化机制：从首次摸索到一键复用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65760"/>
            <a:ext cx="822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3A5A72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63040"/>
            <a:ext cx="5349240" cy="274320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463040"/>
            <a:ext cx="63500" cy="274320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572768"/>
            <a:ext cx="5056632" cy="2560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首次执行（探索）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安装依赖、现写脚本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调试、报错、修复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验证功能正确性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将成功路径蒸馏存为 Skill/SOP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463040"/>
            <a:ext cx="5349240" cy="274320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0488" y="1463040"/>
            <a:ext cx="63500" cy="27432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572768"/>
            <a:ext cx="5056632" cy="2560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再次执行（复用）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命中 L1 洞察索引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直接一行调用已结晶 Skill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跳过试错，稳定高效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跨任务收敛，能力持续累积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4434840"/>
            <a:ext cx="10881360" cy="1417320"/>
          </a:xfrm>
          <a:prstGeom prst="roundRect">
            <a:avLst/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553712"/>
            <a:ext cx="10424160" cy="12344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3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真实结晶案例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读取加密微信数据库 · 生成晨报摘要 · 量化选股筛选 · 配置 OAuth 流程 · 定时任务调度</a:t>
            </a:r>
          </a:p>
          <a:p>
            <a:pPr algn="l">
              <a:lnSpc>
                <a:spcPct val="110000"/>
              </a:lnSpc>
              <a:spcAft>
                <a:spcPts val="500"/>
              </a:spcAft>
            </a:pPr>
            <a:r>
              <a:rPr sz="12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标志性成就：本仓库从安装 Git 到每条 commit message，均由 GenericAgent 自主完成（自举）。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GenericAgent · 技术洞察分析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644652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lsdefine/genericagent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76200" cy="566928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4592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EVALUATION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性能评测：五维度优势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65760"/>
            <a:ext cx="822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3A5A72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63040"/>
            <a:ext cx="6766560" cy="786384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463040"/>
            <a:ext cx="76200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463040"/>
            <a:ext cx="6492240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任务完成 &amp; Token 效率</a:t>
            </a: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　—　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完成困难任务的同时 token 消耗显著更低（约 6×）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59152"/>
            <a:ext cx="6766560" cy="786384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2359152"/>
            <a:ext cx="76200" cy="786384"/>
          </a:xfrm>
          <a:prstGeom prst="rect">
            <a:avLst/>
          </a:prstGeom>
          <a:solidFill>
            <a:srgbClr val="12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359152"/>
            <a:ext cx="6492240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工具使用效率</a:t>
            </a: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　—　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极简原子工具集胜过专用工具堆叠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255264"/>
            <a:ext cx="6766560" cy="786384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3255264"/>
            <a:ext cx="76200" cy="786384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6492240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记忆系统有效性</a:t>
            </a: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　—　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分层浓缩记忆 &gt; 冗余堆叠 / 纯向量检索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4151376"/>
            <a:ext cx="6766560" cy="786384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8368" y="4151376"/>
            <a:ext cx="76200" cy="786384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51376"/>
            <a:ext cx="6492240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自进化能力</a:t>
            </a: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　—　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经验蒸馏为可复用 SOP，无需人工干预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5047488"/>
            <a:ext cx="6766560" cy="786384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5047488"/>
            <a:ext cx="76200" cy="786384"/>
          </a:xfrm>
          <a:prstGeom prst="rect">
            <a:avLst/>
          </a:prstGeom>
          <a:solidFill>
            <a:srgbClr val="12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047488"/>
            <a:ext cx="6492240" cy="786384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网页浏览能力</a:t>
            </a:r>
            <a:r>
              <a:rPr sz="11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　—　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极简设计下仍具开放网络韧性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35240" y="1463040"/>
            <a:ext cx="3904487" cy="4370832"/>
          </a:xfrm>
          <a:prstGeom prst="round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1627632"/>
            <a:ext cx="3474720" cy="41148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对比标杆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9AAEBF"/>
                </a:solidFill>
                <a:latin typeface="Microsoft YaHei"/>
                <a:ea typeface="Microsoft YaHei"/>
                <a:cs typeface="Microsoft YaHei"/>
              </a:rPr>
              <a:t>代码体量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3K</a:t>
            </a:r>
            <a:r>
              <a:rPr sz="12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  vs  </a:t>
            </a:r>
            <a:r>
              <a:rPr sz="16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530K 行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9AAEBF"/>
                </a:solidFill>
                <a:latin typeface="Microsoft YaHei"/>
                <a:ea typeface="Microsoft YaHei"/>
                <a:cs typeface="Microsoft YaHei"/>
              </a:rPr>
              <a:t>上下文窗口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~30K</a:t>
            </a:r>
            <a:r>
              <a:rPr sz="12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  vs  </a:t>
            </a:r>
            <a:r>
              <a:rPr sz="16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200K–1M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>
                <a:solidFill>
                  <a:srgbClr val="9AAEBF"/>
                </a:solidFill>
                <a:latin typeface="Microsoft YaHei"/>
                <a:ea typeface="Microsoft YaHei"/>
                <a:cs typeface="Microsoft YaHei"/>
              </a:rPr>
              <a:t>Token 消耗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2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约 6× 更低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7C90A3"/>
                </a:solidFill>
                <a:latin typeface="Microsoft YaHei"/>
                <a:ea typeface="Microsoft YaHei"/>
                <a:cs typeface="Microsoft YaHei"/>
              </a:rPr>
              <a:t>对比对象：Claude Code · OpenClaw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GenericAgent · 技术洞察分析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0" y="644652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lsdefine/genericagent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76200" cy="566928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4592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STACK &amp; DEPLOY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技术栈与部署形态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65760"/>
            <a:ext cx="822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3A5A72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63040"/>
            <a:ext cx="3520440" cy="420624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463040"/>
            <a:ext cx="63500" cy="420624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572768"/>
            <a:ext cx="3227832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核心技术栈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Python 3.11–3.12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requests · beautifulsoup4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bottle · aiohttp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simple-websocket-server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可选 Streamlit / prompt_toolkit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无 Playwright / LangChain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1463040"/>
            <a:ext cx="3520440" cy="420624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61688" y="1463040"/>
            <a:ext cx="63500" cy="4206240"/>
          </a:xfrm>
          <a:prstGeom prst="rect">
            <a:avLst/>
          </a:prstGeom>
          <a:solidFill>
            <a:srgbClr val="12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1572768"/>
            <a:ext cx="3227832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前端与接入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终端 UI（prompt_toolkit / rich）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Streamlit Web 界面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桌面应用 v0.1.0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IM Bot：Telegram / Discord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微信 / QQ / 飞书 / 企微 / 钉钉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463040"/>
            <a:ext cx="3474720" cy="420624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065008" y="1463040"/>
            <a:ext cx="63500" cy="420624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7888" y="1572768"/>
            <a:ext cx="3182112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部署方式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git clone + venv + API Key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Windows PowerShell 一键装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Linux/macOS 一键脚本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隔离 Python 环境内置运行时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依赖极少，资源开销低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GenericAgent · 技术洞察分析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44652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lsdefine/genericagent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74320"/>
            <a:ext cx="76200" cy="566928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4592"/>
            <a:ext cx="96012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INSIGHT · SWOT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技术洞察：优势与风险并存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365760"/>
            <a:ext cx="82296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2000" b="1">
                <a:solidFill>
                  <a:srgbClr val="3A5A72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463040"/>
            <a:ext cx="5349240" cy="210312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463040"/>
            <a:ext cx="63500" cy="2103120"/>
          </a:xfrm>
          <a:prstGeom prst="rect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572768"/>
            <a:ext cx="5056632" cy="1920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优势 Strengths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极简架构、信息密度高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Token/成本优势显著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自进化沉淀复用经验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反检测真实浏览器护城河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1463040"/>
            <a:ext cx="5349240" cy="210312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0488" y="1463040"/>
            <a:ext cx="63500" cy="2103120"/>
          </a:xfrm>
          <a:prstGeom prst="rect">
            <a:avLst/>
          </a:prstGeom>
          <a:solidFill>
            <a:srgbClr val="125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572768"/>
            <a:ext cx="5056632" cy="1920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机会 Opportunities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个人 RPA / 自动化助手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跨模型、低成本可商用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技能树生态可沉淀分享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125E8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端侧/移动场景延展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8368" y="3703320"/>
            <a:ext cx="5349240" cy="210312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3703320"/>
            <a:ext cx="63500" cy="210312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813048"/>
            <a:ext cx="5056632" cy="1920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风险 Weaknesses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code_run 任意执行=高权限风险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强依赖模型推理质量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记忆漂移/污染需治理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自进化结果可复现性存疑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3703320"/>
            <a:ext cx="5349240" cy="2103120"/>
          </a:xfrm>
          <a:prstGeom prst="roundRect">
            <a:avLst/>
          </a:prstGeom>
          <a:solidFill>
            <a:srgbClr val="ED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0488" y="3703320"/>
            <a:ext cx="63500" cy="2103120"/>
          </a:xfrm>
          <a:prstGeom prst="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73368" y="3813048"/>
            <a:ext cx="5056632" cy="1920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挑战 Threats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真实浏览器注入的合规/安全边界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反检测能力或随平台升级失效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65+ PR/76 Issues 维护压力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>
                <a:solidFill>
                  <a:srgbClr val="0B2A42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100" b="0">
                <a:solidFill>
                  <a:srgbClr val="1A2433"/>
                </a:solidFill>
                <a:latin typeface="Microsoft YaHei"/>
                <a:ea typeface="Microsoft YaHei"/>
                <a:cs typeface="Microsoft YaHei"/>
              </a:rPr>
              <a:t>评测多为自报，需第三方验证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GenericAgent · 技术洞察分析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446520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900" b="0">
                <a:solidFill>
                  <a:srgbClr val="5A6673"/>
                </a:solidFill>
                <a:latin typeface="Microsoft YaHei"/>
                <a:ea typeface="Microsoft YaHei"/>
                <a:cs typeface="Microsoft YaHei"/>
              </a:rPr>
              <a:t>lsdefine/genericagent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777240"/>
            <a:ext cx="164592" cy="914400"/>
          </a:xfrm>
          <a:prstGeom prst="rect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731520"/>
            <a:ext cx="10058400" cy="10058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THINKING TAKEAWAYS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技术洞察总结</a:t>
            </a:r>
          </a:p>
        </p:txBody>
      </p:sp>
      <p:sp>
        <p:nvSpPr>
          <p:cNvPr id="5" name="Oval 4"/>
          <p:cNvSpPr/>
          <p:nvPr/>
        </p:nvSpPr>
        <p:spPr>
          <a:xfrm>
            <a:off x="1143000" y="1874519"/>
            <a:ext cx="502920" cy="713232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874519"/>
            <a:ext cx="502920" cy="71323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92807"/>
            <a:ext cx="950976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极简即强大　</a:t>
            </a:r>
            <a:r>
              <a:rPr sz="1300" b="0">
                <a:solidFill>
                  <a:srgbClr val="D5DFE8"/>
                </a:solidFill>
                <a:latin typeface="Microsoft YaHei"/>
                <a:ea typeface="Microsoft YaHei"/>
                <a:cs typeface="Microsoft YaHei"/>
              </a:rPr>
              <a:t>用 9 个原子工具 + code_run 替代庞大工具集，证明「能力来自组合而非堆叠」。</a:t>
            </a:r>
          </a:p>
        </p:txBody>
      </p:sp>
      <p:sp>
        <p:nvSpPr>
          <p:cNvPr id="8" name="Oval 7"/>
          <p:cNvSpPr/>
          <p:nvPr/>
        </p:nvSpPr>
        <p:spPr>
          <a:xfrm>
            <a:off x="1143000" y="2715767"/>
            <a:ext cx="502920" cy="713232"/>
          </a:xfrm>
          <a:prstGeom prst="ellipse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15767"/>
            <a:ext cx="502920" cy="71323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734055"/>
            <a:ext cx="950976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记忆是护城河　</a:t>
            </a:r>
            <a:r>
              <a:rPr sz="1300" b="0">
                <a:solidFill>
                  <a:srgbClr val="D5DFE8"/>
                </a:solidFill>
                <a:latin typeface="Microsoft YaHei"/>
                <a:ea typeface="Microsoft YaHei"/>
                <a:cs typeface="Microsoft YaHei"/>
              </a:rPr>
              <a:t>五层结晶式记忆 + 自进化，让 Agent 越用越强，沉淀成真正的个人资产。</a:t>
            </a:r>
          </a:p>
        </p:txBody>
      </p:sp>
      <p:sp>
        <p:nvSpPr>
          <p:cNvPr id="11" name="Oval 10"/>
          <p:cNvSpPr/>
          <p:nvPr/>
        </p:nvSpPr>
        <p:spPr>
          <a:xfrm>
            <a:off x="1143000" y="3557015"/>
            <a:ext cx="502920" cy="713232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557015"/>
            <a:ext cx="502920" cy="71323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575303"/>
            <a:ext cx="950976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效率即体验　</a:t>
            </a:r>
            <a:r>
              <a:rPr sz="1300" b="0">
                <a:solidFill>
                  <a:srgbClr val="D5DFE8"/>
                </a:solidFill>
                <a:latin typeface="Microsoft YaHei"/>
                <a:ea typeface="Microsoft YaHei"/>
                <a:cs typeface="Microsoft YaHei"/>
              </a:rPr>
              <a:t>30K 上下文 / 约 6× 更低 token，直接转化为更低成本、更少幻觉、更高成功率。</a:t>
            </a:r>
          </a:p>
        </p:txBody>
      </p:sp>
      <p:sp>
        <p:nvSpPr>
          <p:cNvPr id="14" name="Oval 13"/>
          <p:cNvSpPr/>
          <p:nvPr/>
        </p:nvSpPr>
        <p:spPr>
          <a:xfrm>
            <a:off x="1143000" y="4398263"/>
            <a:ext cx="502920" cy="713232"/>
          </a:xfrm>
          <a:prstGeom prst="ellipse">
            <a:avLst/>
          </a:prstGeom>
          <a:solidFill>
            <a:srgbClr val="FF7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43000" y="4398263"/>
            <a:ext cx="502920" cy="71323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416551"/>
            <a:ext cx="950976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FF7A33"/>
                </a:solidFill>
                <a:latin typeface="Microsoft YaHei"/>
                <a:ea typeface="Microsoft YaHei"/>
                <a:cs typeface="Microsoft YaHei"/>
              </a:rPr>
              <a:t>真实优于沙箱　</a:t>
            </a:r>
            <a:r>
              <a:rPr sz="1300" b="0">
                <a:solidFill>
                  <a:srgbClr val="D5DFE8"/>
                </a:solidFill>
                <a:latin typeface="Microsoft YaHei"/>
                <a:ea typeface="Microsoft YaHei"/>
                <a:cs typeface="Microsoft YaHei"/>
              </a:rPr>
              <a:t>注入真实浏览器换来反检测与登录态——这是其在开放网络落地的关键差异点。</a:t>
            </a:r>
          </a:p>
        </p:txBody>
      </p:sp>
      <p:sp>
        <p:nvSpPr>
          <p:cNvPr id="17" name="Oval 16"/>
          <p:cNvSpPr/>
          <p:nvPr/>
        </p:nvSpPr>
        <p:spPr>
          <a:xfrm>
            <a:off x="1143000" y="5239511"/>
            <a:ext cx="502920" cy="713232"/>
          </a:xfrm>
          <a:prstGeom prst="ellipse">
            <a:avLst/>
          </a:prstGeom>
          <a:solidFill>
            <a:srgbClr val="00B3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5239511"/>
            <a:ext cx="502920" cy="713232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5257799"/>
            <a:ext cx="9509760" cy="7315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1">
                <a:solidFill>
                  <a:srgbClr val="00B3A4"/>
                </a:solidFill>
                <a:latin typeface="Microsoft YaHei"/>
                <a:ea typeface="Microsoft YaHei"/>
                <a:cs typeface="Microsoft YaHei"/>
              </a:rPr>
              <a:t>需冷静看待　</a:t>
            </a:r>
            <a:r>
              <a:rPr sz="1300" b="0">
                <a:solidFill>
                  <a:srgbClr val="D5DFE8"/>
                </a:solidFill>
                <a:latin typeface="Microsoft YaHei"/>
                <a:ea typeface="Microsoft YaHei"/>
                <a:cs typeface="Microsoft YaHei"/>
              </a:rPr>
              <a:t>高权限执行的安全边界、评测自报性、记忆治理与可复现性，是规模化前必须回答的问题。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6355080"/>
            <a:ext cx="100584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9AAEBF"/>
                </a:solidFill>
                <a:latin typeface="Microsoft YaHei"/>
                <a:ea typeface="Microsoft YaHei"/>
                <a:cs typeface="Microsoft YaHei"/>
              </a:rPr>
              <a:t>一句话定位：以最小种子代码，长出会自我进化的个人级自治智能体。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