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217152" y="1444752"/>
            <a:ext cx="1170432" cy="713232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650224" y="1444752"/>
            <a:ext cx="566928" cy="1261872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387584" y="2157984"/>
            <a:ext cx="539496" cy="1179576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217152" y="1444752"/>
            <a:ext cx="534924" cy="2272284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387584" y="1600200"/>
            <a:ext cx="905256" cy="557784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279892" y="2706624"/>
            <a:ext cx="370332" cy="1549907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752076" y="3717036"/>
            <a:ext cx="352044" cy="1083564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27080" y="3337560"/>
            <a:ext cx="548640" cy="1005840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52076" y="3717036"/>
            <a:ext cx="1723644" cy="626364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79892" y="4256531"/>
            <a:ext cx="1824228" cy="544069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276588" y="4800600"/>
            <a:ext cx="827532" cy="635508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50224" y="2706624"/>
            <a:ext cx="1101852" cy="1010412"/>
          </a:xfrm>
          <a:prstGeom prst="bentConnector3">
            <a:avLst/>
          </a:prstGeom>
          <a:ln w="17780">
            <a:solidFill>
              <a:srgbClr val="1C2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0" y="1371600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0" y="210312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265176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81360" y="3291840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0" y="365760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47120" y="1554480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0" y="4206240"/>
            <a:ext cx="100584" cy="10058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0" y="4754880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0000" y="4297680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5440" y="5394960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1417320"/>
            <a:ext cx="91440" cy="1554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14173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开源项目 · 深度洞察报告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1874519"/>
            <a:ext cx="7863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9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Understand-Anything</a:t>
            </a:r>
          </a:p>
          <a:p>
            <a:pPr algn="l">
              <a:spcBef>
                <a:spcPts val="1000"/>
              </a:spcBef>
            </a:pPr>
            <a:r>
              <a:rPr sz="17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把任意代码库变成可探索、可搜索、可问答的知识图谱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977639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Egonex-AI / Understand-Anything</a:t>
            </a:r>
            <a:r>
              <a:rPr sz="13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   ·   TypeScript Monorepo   ·   MIT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Tree-sitter + LLM 混合引擎  ·  9-Agent 流水线  ·  15+ AI 平台插件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5074920"/>
            <a:ext cx="1783080" cy="841248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≈ 62.9k ★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GitHub Stars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44368" y="5074920"/>
            <a:ext cx="1783080" cy="841248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2026-03-15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创建于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37175" y="5074920"/>
            <a:ext cx="1783080" cy="841248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v2.8.0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当前版本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9983" y="5074920"/>
            <a:ext cx="1783080" cy="841248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MIT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License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6172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分析日期 2026-06-18   ·   数据经 GitHub API 校验   ·   workflow 多 Agent 调研模式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执行摘要:一句话看懂这个项目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02 / 17   ·   2026-06-18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029200" cy="365760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526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它是什么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3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一个本地运行的 AI 代码理解工具。用确定性静态解析(Tree-sitter)抽取代码结构,再用 LLM 补充语义,经多 Agent 流水线产出一份可提交到 Git 的知识图谱 JSON,并配交互式可视化看板。</a:t>
            </a:r>
          </a:p>
          <a:p>
            <a:pPr algn="l">
              <a:spcBef>
                <a:spcPts val="1400"/>
              </a:spcBef>
            </a:pPr>
            <a:r>
              <a:rPr sz="1200" b="1" i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解决什么痛点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3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大型/陌生代码库的「上手难」与「改动影响难评估」——既服务于人(新人 onboarding),也服务于 AI Agent(用图谱降低检索 token 与工具调用)。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463040"/>
            <a:ext cx="5897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分析师判断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847088"/>
            <a:ext cx="5897880" cy="676656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920240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技术架构扎实且有真实差异化:混合解析 + 可提交图谱 + 多平台分发是站得住的设计。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615184"/>
            <a:ext cx="5897880" cy="676656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2688336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生态打法是最强护城河:覆盖 15+ AI 编码平台,广度超过多数同类。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383280"/>
            <a:ext cx="5897880" cy="676656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3456432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但厂商极新、身份单薄(组织仅 1 仓库),3 个月冲到 ~63k★ 的增速应作「热度信号」而非「采纳证据」看待。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4151376"/>
            <a:ext cx="5897880" cy="676656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4224528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结论:适合先行试用于 onboarding / Agent 上下文增强;暂不建议作为企业关键路径的唯一依赖。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85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一句话总结:  </a:t>
            </a:r>
            <a:r>
              <a:rPr sz="12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"graphs that teach &gt; graphs that impress" —— 它把代码理解从「读代码」升级为「探索一张会教你的图」,并让这张图成为团队可共享的资产。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PROJECT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项目快照:关键事实与数据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03 / 17   ·   2026-06-18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63040"/>
          <a:ext cx="6812280" cy="3730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53949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70" b="1">
                          <a:solidFill>
                            <a:srgbClr val="2DD4BF"/>
                          </a:solidFill>
                          <a:latin typeface="Calibri"/>
                          <a:ea typeface="Microsoft YaHei"/>
                          <a:cs typeface="Calibri"/>
                        </a:rPr>
                        <a:t>维度</a:t>
                      </a:r>
                    </a:p>
                  </a:txBody>
                  <a:tcPr anchor="ctr" marL="73152" marR="54864" marT="18288" marB="18288">
                    <a:solidFill>
                      <a:srgbClr val="1C2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1">
                          <a:solidFill>
                            <a:srgbClr val="2DD4BF"/>
                          </a:solidFill>
                          <a:latin typeface="Calibri"/>
                          <a:ea typeface="Microsoft YaHei"/>
                          <a:cs typeface="Calibri"/>
                        </a:rPr>
                        <a:t>数据 / 事实</a:t>
                      </a:r>
                    </a:p>
                  </a:txBody>
                  <a:tcPr anchor="ctr" marL="73152" marR="54864" marT="18288" marB="18288">
                    <a:solidFill>
                      <a:srgbClr val="1C2A4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仓库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Egonex-AI/Understand-Anything  ·  homepage: understand-anything.com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Stars / Forks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≈ 62,928 ★  /  5,188 fork   (GitHub API 校验)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创建 / 最近推送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2026-03-15  /  2026-06-18   —— 约 3 个月,活跃维护中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Open Issues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212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License / 版本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MIT  ·  插件 v2.8.0  ·  @understand-anything/core v0.1.0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语言构成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TypeScript ~71%  ·  JavaScript ~16%  ·  Python ~9%  ·  Astro ~2%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工程形态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pnpm 多包 Monorepo(core / dashboard / tree-sitter-dart-wasm / skills…)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厂商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Egonex(组织仅 1 公开仓库、~48 followers;Twitter @EgonexAI;affiliate@egonex.ai)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43800" y="1463040"/>
            <a:ext cx="4160520" cy="2331720"/>
          </a:xfrm>
          <a:prstGeom prst="roundRect">
            <a:avLst>
              <a:gd name="adj" fmla="val 6000"/>
            </a:avLst>
          </a:prstGeom>
          <a:solidFill>
            <a:srgbClr val="2A2012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627632"/>
            <a:ext cx="37033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⚠  星标增速需谨慎解读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3 个月累积 ~63k★ 极不寻常。数据真实(API 可查),但在「代码知识图谱」这一 2026 爆火赛道,此类增速曾引发行业质疑。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建议把它当「可见度 / 热度」信号,而非已验证的生产采纳指标。贡献者深度无法独立确认。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950208"/>
            <a:ext cx="4160520" cy="23317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096512"/>
            <a:ext cx="37033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✓ 已校验  </a:t>
            </a:r>
            <a:r>
              <a:rPr sz="10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(GitHub API)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stars / forks / license / 创建与推送日期 / 语言构成</a:t>
            </a:r>
          </a:p>
          <a:p>
            <a:pPr algn="l">
              <a:spcBef>
                <a:spcPts val="900"/>
              </a:spcBef>
            </a:pPr>
            <a:r>
              <a:rPr sz="115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◐ 二手来源  </a:t>
            </a:r>
            <a:r>
              <a:rPr sz="10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(网络资料)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发布版本数、竞品星数、市场规模与 onboarding 时长等行业数据</a:t>
            </a:r>
          </a:p>
          <a:p>
            <a:pPr algn="l">
              <a:spcBef>
                <a:spcPts val="900"/>
              </a:spcBef>
            </a:pPr>
            <a:r>
              <a:rPr sz="1150" b="1" i="0">
                <a:solidFill>
                  <a:srgbClr val="F87171"/>
                </a:solidFill>
                <a:latin typeface="Calibri"/>
                <a:ea typeface="Microsoft YaHei"/>
                <a:cs typeface="Calibri"/>
              </a:rPr>
              <a:t>✗ 未披露  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团队成员 / 公司主体 / 融资情况 / 贡献者规模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PROBLEM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要解决的问题:两类买家,一个痛点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04 / 17   ·   2026-06-18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核心痛点:大型/陌生代码库——读不完、关系看不清、改动影响难评估。该工具同时服务于「人」与「AI Agent」两类买家。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5440680" cy="37033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651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5440680" cy="566928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① 人:onboarding 与影响分析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493776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新人/跨团队成员快速建立架构心智,「数周 → 数小时」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PR / 改动的波及范围(ripple / blast-radius)评估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依赖顺序的「导览路径」+ 业务域视图,边看边学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买家:工程负责人、平台/DevEx 团队、开源维护者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11680"/>
            <a:ext cx="5440680" cy="37033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651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5440680" cy="566928"/>
          </a:xfrm>
          <a:prstGeom prst="roundRect">
            <a:avLst>
              <a:gd name="adj" fmla="val 1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0312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② AI Agent:高效结构化上下文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88920"/>
            <a:ext cx="493776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用图谱回答 grep/embedding 难答的结构问题:谁调用了 X、Y 的影响面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显著降低 Agent 的 token 与工具调用开销(2026 头号卖点)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本地优先、无代码外泄,省去 embedding API 成本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买家:大规模使用 Claude Code/Cursor/Codex 的团队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定位精髓: </a:t>
            </a: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它同时站在「Agent 上下文供给」与「人类代码理解/onboarding」两个相邻赛道的交叉点——这是它区别于纯检索工具与纯可视化工具的关键。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设计哲学:确定性骨架 + LLM 血肉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05 / 17   ·   2026-06-18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5440680" cy="27889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651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64208"/>
            <a:ext cx="5029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结构事实  ·  Tree-sitter 静态解析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imports / 函数 / 类 / 调用点 / 端点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保证:same input → same output(可复现)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无幻觉:路径/定义来自真实 AST,Agent 被严令「绝不编造文件路径」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由 .mjs 脚本确定性执行,输出可逐字节比对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440680" cy="27889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651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8"/>
            <a:ext cx="5029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A78BFA"/>
                </a:solidFill>
                <a:latin typeface="Calibri"/>
                <a:ea typeface="Microsoft YaHei"/>
                <a:cs typeface="Calibri"/>
              </a:rPr>
              <a:t>语义意图  ·  LLM 理解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摘要 / 架构层归属 / 业务域映射 / 复杂度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回答「为什么」:每个节点配纯语言摘要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把零散结构组织成「会教人」的层次与导览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多 Agent 协作 + Reviewer 校验,缓解漂移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26280"/>
            <a:ext cx="11201400" cy="603504"/>
          </a:xfrm>
          <a:prstGeom prst="roundRect">
            <a:avLst>
              <a:gd name="adj" fmla="val 20000"/>
            </a:avLst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526280"/>
            <a:ext cx="11201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融合 →  </a:t>
            </a:r>
            <a:r>
              <a:rPr sz="13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可复现的结构骨架  +  富语义的解释血肉  =  既可信、又好懂的知识图谱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440680"/>
            <a:ext cx="3611880" cy="603504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「教育 &gt; 炫技」的图谱设计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5440680"/>
            <a:ext cx="3611880" cy="603504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图谱即代码:可提交、可共享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5440680"/>
            <a:ext cx="3611880" cy="603504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A78BFA"/>
                </a:solidFill>
                <a:latin typeface="Calibri"/>
                <a:ea typeface="Microsoft YaHei"/>
                <a:cs typeface="Calibri"/>
              </a:rPr>
              <a:t>Persona 自适应:按角色调复杂度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系统架构总览:五层结构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06 / 17   ·   2026-06-18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11201400" cy="877824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6362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入口层  ·  CLI / IDE 插件分发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83664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原生 Claude Code 插件  +  Cursor · VS Code+Copilot · Codex · Gemini CLI · Cline · Trae · Kiro …  15+ 平台(install.sh + 符号链接自动发现)</a:t>
            </a: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989320" y="2286000"/>
            <a:ext cx="219456" cy="146304"/>
          </a:xfrm>
          <a:prstGeom prst="triangle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450592"/>
            <a:ext cx="11201400" cy="877824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450592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946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编排层  ·  9-Agent 流水线 + 确定性脚本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89504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scan-project / extract-structure / extract-import-map / compute-batches / build-fingerprints (.mjs)  +  merge-batch-graphs (.py) ;  Agents 并行(5 并发,20–30 文件/批)</a:t>
            </a:r>
          </a:p>
        </p:txBody>
      </p:sp>
      <p:sp>
        <p:nvSpPr>
          <p:cNvPr id="18" name="Isosceles Triangle 17"/>
          <p:cNvSpPr/>
          <p:nvPr/>
        </p:nvSpPr>
        <p:spPr>
          <a:xfrm rot="10800000">
            <a:off x="5989320" y="3291840"/>
            <a:ext cx="219456" cy="146304"/>
          </a:xfrm>
          <a:prstGeom prst="triangle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456432"/>
            <a:ext cx="11201400" cy="877824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456432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7530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引擎层  ·  三引擎协同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95344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Tree-sitter(web-tree-sitter WASM,12 语言)结构解析   |   LLM 语义理解   |   graphology + Louvain 图算法/社区聚类</a:t>
            </a:r>
          </a:p>
        </p:txBody>
      </p:sp>
      <p:sp>
        <p:nvSpPr>
          <p:cNvPr id="23" name="Isosceles Triangle 22"/>
          <p:cNvSpPr/>
          <p:nvPr/>
        </p:nvSpPr>
        <p:spPr>
          <a:xfrm rot="10800000">
            <a:off x="5989320" y="4297680"/>
            <a:ext cx="219456" cy="146304"/>
          </a:xfrm>
          <a:prstGeom prst="triangle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462272"/>
            <a:ext cx="11201400" cy="877824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4462272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8114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  <a:ea typeface="Microsoft YaHei"/>
                <a:cs typeface="Calibri"/>
              </a:rPr>
              <a:t>数据层  ·  可提交知识图谱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01184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.understand-anything/knowledge-graph.json(version/project/nodes/edges/layers/tour)  +  intermediate/ 中间产物  ·  fingerprint &amp; staleness 支撑增量更新</a:t>
            </a:r>
          </a:p>
        </p:txBody>
      </p:sp>
      <p:sp>
        <p:nvSpPr>
          <p:cNvPr id="28" name="Isosceles Triangle 27"/>
          <p:cNvSpPr/>
          <p:nvPr/>
        </p:nvSpPr>
        <p:spPr>
          <a:xfrm rot="10800000">
            <a:off x="5989320" y="5303520"/>
            <a:ext cx="219456" cy="146304"/>
          </a:xfrm>
          <a:prstGeom prst="triangle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5468112"/>
            <a:ext cx="11201400" cy="877824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468112"/>
            <a:ext cx="109728" cy="87782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58698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展现层  ·  交互式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07024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React 19 + Vite 6 + Tailwind 4 + Zustand ;  React Flow(@xyflow/react)+ ELK 两阶段层次布局 ;  模糊+语义搜索 / 导览 / diff 叠加 / persona UI</a:t>
            </a:r>
          </a:p>
        </p:txBody>
      </p:sp>
      <p:sp>
        <p:nvSpPr>
          <p:cNvPr id="33" name="Isosceles Triangle 32"/>
          <p:cNvSpPr/>
          <p:nvPr/>
        </p:nvSpPr>
        <p:spPr>
          <a:xfrm rot="10800000">
            <a:off x="5989320" y="6309360"/>
            <a:ext cx="219456" cy="146304"/>
          </a:xfrm>
          <a:prstGeom prst="triangle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CORE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核心 Workflow:9-Agent 协作流水线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07 / 17   ·   2026-06-18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/understand 触发的核心分析流水线（6 个） </a:t>
            </a:r>
            <a:r>
              <a:rPr sz="11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—— 每个 Agent 先跑确定性脚本拿事实,再做受约束的 LLM 合成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98064"/>
            <a:ext cx="11201400" cy="2743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174498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48256"/>
            <a:ext cx="17449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523744"/>
            <a:ext cx="163525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Project-Scanner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980944"/>
            <a:ext cx="159867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清点文件、识别语言/框架;严禁编造路径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2229611" y="2720340"/>
            <a:ext cx="164592" cy="182880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94204" y="1920240"/>
            <a:ext cx="174498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4204" y="2048256"/>
            <a:ext cx="17449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9068" y="2523744"/>
            <a:ext cx="163525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File-Analyzer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7356" y="2980944"/>
            <a:ext cx="159867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tree-sitter 抽函数/类/调用→节点+边(分批)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4120896" y="2720340"/>
            <a:ext cx="164592" cy="182880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85488" y="1920240"/>
            <a:ext cx="174498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5488" y="2048256"/>
            <a:ext cx="17449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0351" y="2523744"/>
            <a:ext cx="163525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Assemble-Reviewer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8640" y="2980944"/>
            <a:ext cx="159867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合并批次图、补回丢失节点/边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6012180" y="2720340"/>
            <a:ext cx="164592" cy="182880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6772" y="1920240"/>
            <a:ext cx="174498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6772" y="2048256"/>
            <a:ext cx="17449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1636" y="2523744"/>
            <a:ext cx="163525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Architecture-Analyzer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9924" y="2980944"/>
            <a:ext cx="159867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按 70+ 目录约定分配 3–10 个架构层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7903464" y="2720340"/>
            <a:ext cx="164592" cy="182880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8056" y="1920240"/>
            <a:ext cx="174498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8056" y="2048256"/>
            <a:ext cx="17449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2920" y="2523744"/>
            <a:ext cx="163525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Tour-Builder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1208" y="2980944"/>
            <a:ext cx="159867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按依赖生成 5–15 步导览路径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9794748" y="2720340"/>
            <a:ext cx="164592" cy="182880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59340" y="1920240"/>
            <a:ext cx="174498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59340" y="2048256"/>
            <a:ext cx="17449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4204" y="2523744"/>
            <a:ext cx="163525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Graph-Reviewer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2492" y="2980944"/>
            <a:ext cx="159867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9 类校验,critical 阻断、空问题才通过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977639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专家 Agent（3 个） </a:t>
            </a:r>
            <a:r>
              <a:rPr sz="11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—— 服务于 domain / knowledge / 交互问答等独立流程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370832"/>
            <a:ext cx="11201400" cy="603504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4370832"/>
            <a:ext cx="2834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Domain-Analyzer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4370832"/>
            <a:ext cx="79552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业务域分析:domains→flows→steps 三层;flow-step 用 0–1 权重编码执行顺序  ·  /understand-domain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047488"/>
            <a:ext cx="11201400" cy="603504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47488"/>
            <a:ext cx="2834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  <a:ea typeface="Microsoft YaHei"/>
                <a:cs typeface="Calibri"/>
              </a:rPr>
              <a:t>Article-Analyzer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047488"/>
            <a:ext cx="79552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Karpathy 式 wiki 知识抽取:实体/主张/隐式关系(builds_on, contradicts, cites…)  ·  /understand-knowledge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724144"/>
            <a:ext cx="11201400" cy="603504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724144"/>
            <a:ext cx="2834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Knowledge-Graph-Guide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5724144"/>
            <a:ext cx="795527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交互式导航/问答 Agent:用 jq 查询图谱,引导用户到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PARSING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混合解析引擎:Tree-sitter +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08 / 17   ·   2026-06-18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00" cy="466344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web-tree-sitter </a:t>
            </a:r>
            <a:r>
              <a:rPr sz="11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^0.26.6  (WASM 运行时)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12 种语言的 tree-sitter 语法: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95728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JavaScript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1" y="2395728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TypeScript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9663" y="2395728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71216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50591" y="2871216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2871216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Java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46704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C++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50591" y="3346704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C#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9663" y="3346704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PHP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22191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Ruby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50591" y="3822191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Kotlin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9663" y="3822191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8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Dart (WASM 自建包)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1772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其它关键依赖</a:t>
            </a:r>
          </a:p>
          <a:p>
            <a:pPr algn="l">
              <a:spcBef>
                <a:spcPts val="700"/>
              </a:spcBef>
            </a:pPr>
            <a:r>
              <a:rPr sz="11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fuse.js </a:t>
            </a:r>
            <a:r>
              <a:rPr sz="11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模糊搜索  ·  </a:t>
            </a:r>
            <a:r>
              <a:rPr sz="11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zod </a:t>
            </a:r>
            <a:r>
              <a:rPr sz="11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schema 校验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graphology + Louvain </a:t>
            </a:r>
            <a:r>
              <a:rPr sz="11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图结构/社区聚类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yaml · ignore </a:t>
            </a:r>
            <a:r>
              <a:rPr sz="11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配置与 .understandignore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481328"/>
            <a:ext cx="5486400" cy="466344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627632"/>
            <a:ext cx="50292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确定性脚本(事实层)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scan-project.mjs  ·  extract-structure.mjs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extract-import-map.mjs  ·  compute-batches.mjs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build-fingerprints.mjs  ·  generate-ignore.mjs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merge-batch-graphs.py  ·  merge-subdomain-graphs.py</a:t>
            </a:r>
          </a:p>
          <a:p>
            <a:pPr algn="l">
              <a:spcBef>
                <a:spcPts val="1600"/>
              </a:spcBef>
            </a:pPr>
            <a:r>
              <a:rPr sz="1350" b="1" i="0">
                <a:solidFill>
                  <a:srgbClr val="A78BFA"/>
                </a:solidFill>
                <a:latin typeface="Calibri"/>
                <a:ea typeface="Microsoft YaHei"/>
                <a:cs typeface="Calibri"/>
              </a:rPr>
              <a:t>LLM 合成的「护栏」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每条 import 仅生成 1 条 imports 边(来自 batchImportData)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显著性过滤:函数 ≥10 行 / 导出项 / 文件 &gt;200 行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严格 ID 前缀:file: / function: / class: / config: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「信任脚本,不要重读源码」—— 降低幻觉与成本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知识图谱数据模型:knowledge-graph.json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09 / 17   ·   2026-06-18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根结构: </a:t>
            </a:r>
            <a:r>
              <a:rPr sz="11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version · kind("codebase"|"knowledge") · project · nodes[] · edges[] · layers[] · tour[]   (类型定义 types.ts,Zod 校验 schema.ts)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GraphNode 字段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176272"/>
          <a:ext cx="5486400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34290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38BDF8"/>
                          </a:solidFill>
                          <a:latin typeface="Calibri"/>
                          <a:ea typeface="Microsoft YaHei"/>
                          <a:cs typeface="Calibri"/>
                        </a:rPr>
                        <a:t>字段</a:t>
                      </a:r>
                    </a:p>
                  </a:txBody>
                  <a:tcPr anchor="ctr" marL="73152" marR="54864" marT="18288" marB="18288">
                    <a:solidFill>
                      <a:srgbClr val="1C2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38BDF8"/>
                          </a:solidFill>
                          <a:latin typeface="Calibri"/>
                          <a:ea typeface="Microsoft YaHei"/>
                          <a:cs typeface="Calibri"/>
                        </a:rPr>
                        <a:t>类型 / 说明</a:t>
                      </a:r>
                    </a:p>
                  </a:txBody>
                  <a:tcPr anchor="ctr" marL="73152" marR="54864" marT="18288" marB="18288">
                    <a:solidFill>
                      <a:srgbClr val="1C2A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id / type / name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唯一 ID · NodeType · 名称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filePath, lineRange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源位置 [start,end]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summary / tags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LLM 摘要 · 主题标签[]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complexity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simple | moderate | complex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languageNotes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语言概念提示(可选)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domainMeta / knowledgeMeta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业务域 / 知识库扩展(可选)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63640" y="1828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GraphEdge 字段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2176272"/>
          <a:ext cx="5440680" cy="2157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6118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2DD4BF"/>
                          </a:solidFill>
                          <a:latin typeface="Calibri"/>
                          <a:ea typeface="Microsoft YaHei"/>
                          <a:cs typeface="Calibri"/>
                        </a:rPr>
                        <a:t>字段</a:t>
                      </a:r>
                    </a:p>
                  </a:txBody>
                  <a:tcPr anchor="ctr" marL="73152" marR="54864" marT="18288" marB="18288">
                    <a:solidFill>
                      <a:srgbClr val="1C2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2DD4BF"/>
                          </a:solidFill>
                          <a:latin typeface="Calibri"/>
                          <a:ea typeface="Microsoft YaHei"/>
                          <a:cs typeface="Calibri"/>
                        </a:rPr>
                        <a:t>类型 / 说明</a:t>
                      </a:r>
                    </a:p>
                  </a:txBody>
                  <a:tcPr anchor="ctr" marL="73152" marR="54864" marT="18288" marB="18288">
                    <a:solidFill>
                      <a:srgbClr val="1C2A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source / target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两端节点 ID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type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EdgeType(35 种关系)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direction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forward | backward | bidirectional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weight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0.0 – 1.0(也用于编码顺序)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description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关系说明(可选)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02920" y="4892040"/>
            <a:ext cx="11201400" cy="123444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017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类型系统  </a:t>
            </a:r>
            <a:r>
              <a:rPr sz="10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—— types.ts 定义 21 种节点类型 / 35 种边类型;graph-reviewer 强制校验其中核心 16 节点 / 29 边子集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67527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节点类型(摘选): file · function · class · module · service · endpoint · table · schema · domain · flow · step · concept · article · entity · claim ·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边类型(摘选): imports · calls · contains · inherits · implements · reads_from · writes_to · depends_on · tested_by · cites · contradicts · builds_on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可视化 Dashboard:技术栈与渲染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10 / 17   ·   2026-06-18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前端技术栈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10512"/>
            <a:ext cx="965606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React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96542" y="1810512"/>
            <a:ext cx="797356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Vite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1915" y="1810512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Tailwind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3787" y="1810512"/>
            <a:ext cx="1049731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Zustand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1534" y="1810512"/>
            <a:ext cx="965606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Vitest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5156" y="1810512"/>
            <a:ext cx="2479852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@xyflow/react (React Flow)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3025" y="1810512"/>
            <a:ext cx="1470355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elkjs (ELK 布局)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286000"/>
            <a:ext cx="1975103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graphology + Louvain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39" y="2286000"/>
            <a:ext cx="965606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96A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d3-force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99662" y="2286000"/>
            <a:ext cx="1470355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A78BFA"/>
                </a:solidFill>
                <a:latin typeface="Calibri"/>
                <a:ea typeface="Microsoft YaHei"/>
                <a:cs typeface="Calibri"/>
              </a:rPr>
              <a:t>react-markdown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98033" y="2286000"/>
            <a:ext cx="1975103" cy="384048"/>
          </a:xfrm>
          <a:prstGeom prst="roundRect">
            <a:avLst>
              <a:gd name="adj" fmla="val 50000"/>
            </a:avLst>
          </a:prstGeom>
          <a:solidFill>
            <a:srgbClr val="1C2A4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A78BFA"/>
                </a:solidFill>
                <a:latin typeface="Calibri"/>
                <a:ea typeface="Microsoft YaHei"/>
                <a:cs typeface="Calibri"/>
              </a:rPr>
              <a:t>prism-react-renderer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017520"/>
            <a:ext cx="5532120" cy="310896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63824"/>
            <a:ext cx="50749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渲染机制(一个重要细节)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1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主图 GraphView.tsx 并非用力导向模拟布点,而是用 React Flow 渲染 + ELK 计算确定性层次布局: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▸  阶段 1:容器作为原子单元,在「层」级别布局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▸  阶段 2:展开容器时,子节点二次 ELK 布局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▸  Zustand 管理图状态 + 容器布局缓存(避免重算)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19" b="0" i="1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▸  d3-force / graphology 作依赖存在,主要用于聚类(具体调用点未完全确认)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017520"/>
            <a:ext cx="5532120" cy="310896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163824"/>
            <a:ext cx="50749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看板能力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8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架构层着色(API/Service/Data/UI/Utility),可平移缩放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08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模糊 + 语义搜索;点击节点看代码、关系、解释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08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依赖顺序自动生成的「导览」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08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diff 影响叠加(ripple);业务域 / 知识图谱视图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08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Persona 自适应 UI:junior dev / PM / power user 不同详略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08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多语言 UI:EN / 中 / 日 / 韩 / 俄 / 西 / 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工程化:增量更新 · 多平台分发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11 / 17   ·   2026-06-18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40680" cy="2212848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增量更新机制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48256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fingerprint.ts:代码身份/哈希,识别真正改动的文件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staleness.ts:对比 meta.json 存储的 commit 与 HEAD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change-classifier.ts:对改动分类;仅重分析变更文件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为大仓库省下大量重复 LLM 调用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81328"/>
            <a:ext cx="5440680" cy="2212848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276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自动维护 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48256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PostToolUse(匹配 Bash):检测 git commit/merge/rebase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若启用 autoUpdate 且图谱存在 → 静默增量更新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SessionStart:会话启动比对 commit,过期则刷新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配置:--auto-update 开启 post-commit 钩子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77056"/>
            <a:ext cx="5440680" cy="2212848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多平台分发(护城河)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43984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原生 /plugin install(Claude Code marketplace)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install.sh / install.ps1 一行安装 + 符号链接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各平台靠 .{platform}-plugin/plugin.json 自动发现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覆盖 Cursor·Copilot·Codex·Gemini·Cline·Trae·Kiro… 15+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77056"/>
            <a:ext cx="5440680" cy="2212848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0233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团队协作模式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43984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提交整个 .understand-anything/ 目录到 Git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排除 intermediate/ 与 diff-overlay.json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队友复用图谱,跳过整条流水线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06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大图谱(10MB+)用 git-lfs 跟踪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命令体系与用户工作流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12 / 17   ·   2026-06-18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81328"/>
          <a:ext cx="6903720" cy="3493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5720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DD4BF"/>
                          </a:solidFill>
                          <a:latin typeface="Calibri"/>
                          <a:ea typeface="Microsoft YaHei"/>
                          <a:cs typeface="Calibri"/>
                        </a:rPr>
                        <a:t>命令</a:t>
                      </a:r>
                    </a:p>
                  </a:txBody>
                  <a:tcPr anchor="ctr" marL="73152" marR="54864" marT="18288" marB="18288">
                    <a:solidFill>
                      <a:srgbClr val="1C2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DD4BF"/>
                          </a:solidFill>
                          <a:latin typeface="Calibri"/>
                          <a:ea typeface="Microsoft YaHei"/>
                          <a:cs typeface="Calibri"/>
                        </a:rPr>
                        <a:t>功能</a:t>
                      </a:r>
                    </a:p>
                  </a:txBody>
                  <a:tcPr anchor="ctr" marL="73152" marR="54864" marT="18288" marB="18288">
                    <a:solidFill>
                      <a:srgbClr val="1C2A4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/understand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分析代码库,生成知识图谱(支持增量、--language、--full 重建)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/understand-dashboard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启动交互式 Web 看板(Vite,token 访问)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/understand-chat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基于图谱对代码库提问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/understand-explain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深挖某个文件 / 函数 / 模块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/understand-diff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分析 git diff / PR:改了什么、影响哪些组件、风险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/understand-onboard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生成新人 onboarding 指南(可存 docs/ONBOARDING.md)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/understand-domain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抽取业务域,生成交互式领域流程图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/understand-knowledge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分析 Karpathy 式 wiki 知识库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35240" y="1481328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典型工作流</a:t>
            </a:r>
          </a:p>
        </p:txBody>
      </p:sp>
      <p:sp>
        <p:nvSpPr>
          <p:cNvPr id="11" name="Oval 10"/>
          <p:cNvSpPr/>
          <p:nvPr/>
        </p:nvSpPr>
        <p:spPr>
          <a:xfrm>
            <a:off x="7635240" y="1920240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901952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安装  </a:t>
            </a:r>
            <a:r>
              <a:rPr sz="9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/plugin install 或 curl install.sh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304288"/>
            <a:ext cx="18288" cy="310896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615184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61518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596896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分析  </a:t>
            </a:r>
            <a:r>
              <a:rPr sz="9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/understand → knowledge-graph.json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2999232"/>
            <a:ext cx="18288" cy="310896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35240" y="3310128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33101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329184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探索  </a:t>
            </a:r>
            <a:r>
              <a:rPr sz="9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/understand-dashboard 可视化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3694176"/>
            <a:ext cx="18288" cy="310896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00507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40050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986784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问答  </a:t>
            </a:r>
            <a:r>
              <a:rPr sz="9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/understand-chat 提问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4389120"/>
            <a:ext cx="18288" cy="310896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4700016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7000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4681728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评审  </a:t>
            </a:r>
            <a:r>
              <a:rPr sz="9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/understand-diff 看改动影响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5084064"/>
            <a:ext cx="18288" cy="310896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35240" y="5394959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539495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5376672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维护  </a:t>
            </a:r>
            <a:r>
              <a:rPr sz="9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--auto-update 增量更新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MARKET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市场定位与竞品对比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13 / 17   ·   2026-06-18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「AI 代码理解 / onboarding / 代码知识图谱」赛道 2026 爆发:多款工具数月内冲上数万星。UA 处于「Agent 上下文供给」与「人类理解工具」的交叉点。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47088"/>
          <a:ext cx="11201400" cy="388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2743200"/>
                <a:gridCol w="63093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BBF24"/>
                          </a:solidFill>
                          <a:latin typeface="Calibri"/>
                          <a:ea typeface="Microsoft YaHei"/>
                          <a:cs typeface="Calibri"/>
                        </a:rPr>
                        <a:t>竞品</a:t>
                      </a:r>
                    </a:p>
                  </a:txBody>
                  <a:tcPr anchor="ctr" marL="73152" marR="54864" marT="18288" marB="18288">
                    <a:solidFill>
                      <a:srgbClr val="1C2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BBF24"/>
                          </a:solidFill>
                          <a:latin typeface="Calibri"/>
                          <a:ea typeface="Microsoft YaHei"/>
                          <a:cs typeface="Calibri"/>
                        </a:rPr>
                        <a:t>类型</a:t>
                      </a:r>
                    </a:p>
                  </a:txBody>
                  <a:tcPr anchor="ctr" marL="73152" marR="54864" marT="18288" marB="18288">
                    <a:solidFill>
                      <a:srgbClr val="1C2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BBF24"/>
                          </a:solidFill>
                          <a:latin typeface="Calibri"/>
                          <a:ea typeface="Microsoft YaHei"/>
                          <a:cs typeface="Calibri"/>
                        </a:rPr>
                        <a:t>与 Understand-Anything 的差异</a:t>
                      </a:r>
                    </a:p>
                  </a:txBody>
                  <a:tcPr anchor="ctr" marL="73152" marR="54864" marT="18288" marB="18288">
                    <a:solidFill>
                      <a:srgbClr val="1C2A4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CodeGraph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本地 MCP 代码图(SQLite)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最直接对手(~47k★),主打降低 Agent token/工具调用;偏「检索效率」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GitNexus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浏览器内 Graph-RAG + MCP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纯客户端、MCP 集成深、blast-radius;但 noncommercial 许可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DeepWiki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托管式 AI wiki + 问答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零配置 SaaS,私库需付费;UA 是本地、产出可拥有的图谱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grepai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Agent 检索层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主打 token 削减(声称~97%);非可视化探索产品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Greptile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AI 代码评审(PR bot)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建图但服务自动 PR 评审/查 bug,买家不同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CodeSee / Sourcetrail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可视化依赖图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CodeSee 偏图但无 LLM 问答;Sourcetrail 为 AI 前时代祖先(已归档)</a:t>
                      </a:r>
                    </a:p>
                  </a:txBody>
                  <a:tcPr anchor="ctr" marL="73152" marR="54864" marT="18288" marB="18288">
                    <a:solidFill>
                      <a:srgbClr val="121C2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repomix / Code2Prompt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仓库打包成单文件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EAF0F7"/>
                          </a:solidFill>
                          <a:latin typeface="Calibri"/>
                          <a:ea typeface="Microsoft YaHei"/>
                          <a:cs typeface="Calibri"/>
                        </a:rPr>
                        <a:t>只喂上下文,无图/无 UI;与 UA 互补而非竞争</a:t>
                      </a:r>
                    </a:p>
                  </a:txBody>
                  <a:tcPr anchor="ctr" marL="73152" marR="54864" marT="18288" marB="18288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最贴身竞争集: </a:t>
            </a:r>
            <a:r>
              <a:rPr sz="11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CodeGraph · GitNexus · grepai(2026 同期梯队) + DeepWiki(最知名托管替代)。结构问题靠图谱、语义召回靠 embedding、批量上下文靠打包器——多数团队最终是混用。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差异化优势:它凭什么不一样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14 / 17   ·   2026-06-18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109728" cy="1417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82495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① 多平台插件分发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1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15+ AI 编码平台原生覆盖,广度超过多数对手(CodeGraph 约 8 个集成)。最强护城河。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36192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536192"/>
            <a:ext cx="109728" cy="14173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682495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② Tree-sitter + LLM 混合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84831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确定性结构 + LLM 语义,经多 Agent 流水线产出——兼顾可信与可懂。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108960"/>
            <a:ext cx="109728" cy="141732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25526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③ 可提交的图谱产物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版本化 JSON 随仓库走,「图谱即代码」;对比托管式 SaaS 是数据所有权优势。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0896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108960"/>
            <a:ext cx="109728" cy="14173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25526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  <a:ea typeface="Microsoft YaHei"/>
                <a:cs typeface="Calibri"/>
              </a:rPr>
              <a:t>④ Persona 自适应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576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按角色调详略,面向「人的理解/onboarding」——多数 Agent 检索向对手不强调。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81728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681728"/>
            <a:ext cx="109728" cy="1417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8280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⑤ 人本理解框架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3036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导览 + diff 影响 + 架构分层 + 语言概念提示;"教育&gt;炫技"。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681728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4681728"/>
            <a:ext cx="109728" cy="141732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48280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  <a:ea typeface="Microsoft YaHei"/>
                <a:cs typeface="Calibri"/>
              </a:rPr>
              <a:t>⑥ MIT 宽松许可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23036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相比 GitNexus 的 noncommercial,商用更友好。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RISKS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风险与局限:冷静看待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15 / 17   ·   2026-06-18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17904"/>
            <a:ext cx="11201400" cy="676656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17904"/>
            <a:ext cx="109728" cy="67665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517904"/>
            <a:ext cx="3063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  <a:ea typeface="Microsoft YaHei"/>
                <a:cs typeface="Calibri"/>
              </a:rPr>
              <a:t>厂商极新、身份单薄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517904"/>
            <a:ext cx="7680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组织仅 1 公开仓库、~48 followers;团队/主体/融资未披露;affiliate@ 暗示 OSS 背后有商业动机。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95144"/>
            <a:ext cx="11201400" cy="676656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295144"/>
            <a:ext cx="109728" cy="67665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95144"/>
            <a:ext cx="3063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星标增速需警惕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295144"/>
            <a:ext cx="7680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3 个月 ~63k★,赛道内此类增速曾遭质疑;应作热度信号而非采纳证据。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072384"/>
            <a:ext cx="11201400" cy="676656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072384"/>
            <a:ext cx="109728" cy="67665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072384"/>
            <a:ext cx="3063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LLM 环节成本与漂移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072384"/>
            <a:ext cx="7680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语义层依赖 LLM,大仓库 token 成本高、跨次运行语义可能漂移(靠 --review / Reviewer 缓解)。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49624"/>
            <a:ext cx="11201400" cy="676656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849624"/>
            <a:ext cx="109728" cy="67665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49624"/>
            <a:ext cx="3063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多语言解析覆盖有限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849624"/>
            <a:ext cx="7680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tree-sitter 需逐语言支持(如 Dart 单独建 WASM 包),小众语言能力可能不全。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26864"/>
            <a:ext cx="11201400" cy="676656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626864"/>
            <a:ext cx="109728" cy="67665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26864"/>
            <a:ext cx="3063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大图谱性能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626864"/>
            <a:ext cx="7680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官方提示 10MB+ 需 git-lfs;超大节点量下前端渲染性能待验证。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04104"/>
            <a:ext cx="11201400" cy="676656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404104"/>
            <a:ext cx="109728" cy="67665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404104"/>
            <a:ext cx="3063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  <a:ea typeface="Microsoft YaHei"/>
                <a:cs typeface="Calibri"/>
              </a:rPr>
              <a:t>图谱新鲜度依赖纪律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5404104"/>
            <a:ext cx="7680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虽有 auto-update,但团队若不规范更新,提交的图谱可能与代码脱节。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SWOT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SWOT 洞察总结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16 / 17   ·   2026-06-18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17904"/>
            <a:ext cx="5440680" cy="214884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17904"/>
            <a:ext cx="5440680" cy="50292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S  优势 Strengths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76272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混合架构可信、产物可提交可共享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15+ 平台分发广度领先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MIT 许可 + 人本 UX(persona/导览)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17904"/>
            <a:ext cx="5440680" cy="214884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651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517904"/>
            <a:ext cx="5440680" cy="502920"/>
          </a:xfrm>
          <a:prstGeom prst="roundRect">
            <a:avLst>
              <a:gd name="adj" fmla="val 1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W  劣势 Weaknesses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76272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厂商新、身份与团队深度不明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LLM 成本/漂移、大图谱性能未验证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生产采纳证据不足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9624"/>
            <a:ext cx="5440680" cy="214884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651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849624"/>
            <a:ext cx="5440680" cy="50292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O  机会 Opportunities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07992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赛道 2026 高速增长,双买家需求旺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Agent token 降本是头号卖点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可向企业版/团队协作变现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9624"/>
            <a:ext cx="5440680" cy="214884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651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849624"/>
            <a:ext cx="5440680" cy="502920"/>
          </a:xfrm>
          <a:prstGeom prst="roundRect">
            <a:avLst>
              <a:gd name="adj" fmla="val 1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931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1726"/>
                </a:solidFill>
                <a:latin typeface="Calibri"/>
                <a:ea typeface="Microsoft YaHei"/>
                <a:cs typeface="Calibri"/>
              </a:rPr>
              <a:t>T  威胁 Threats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07992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CodeGraph/GitNexus/DeepWiki 贴身竞争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大厂(GitHub/Sourcegraph)可下场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2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▸  热度回落 / 信任问题风险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结语:适用建议与参考来源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Understand-Anything 深度洞察报告  ·  Egonex-AI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17 / 17   ·   2026-06-18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  <a:ea typeface="Microsoft YaHei"/>
                <a:cs typeface="Calibri"/>
              </a:rPr>
              <a:t>该不该用?分场景建议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11201400" cy="676656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74519"/>
            <a:ext cx="21945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4D399"/>
                </a:solidFill>
                <a:latin typeface="Calibri"/>
                <a:ea typeface="Microsoft YaHei"/>
                <a:cs typeface="Calibri"/>
              </a:rPr>
              <a:t>✓ 推荐试用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74519"/>
            <a:ext cx="8686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团队 onboarding、PR 影响评估、为 Claude Code/Cursor 等 Agent 提供结构化上下文——本地、MIT、可提交,低风险高收益。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42615"/>
            <a:ext cx="11201400" cy="676656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642615"/>
            <a:ext cx="21945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◐ 谨慎评估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642615"/>
            <a:ext cx="8686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作为企业关键路径的唯一依赖前,先验证大仓库性能、LLM 成本与图谱维护流程;关注厂商可持续性。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10711"/>
            <a:ext cx="11201400" cy="676656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410711"/>
            <a:ext cx="21945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87171"/>
                </a:solidFill>
                <a:latin typeface="Calibri"/>
                <a:ea typeface="Microsoft YaHei"/>
                <a:cs typeface="Calibri"/>
              </a:rPr>
              <a:t>✗ 暂不适合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410711"/>
            <a:ext cx="8686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EAF0F7"/>
                </a:solidFill>
                <a:latin typeface="Calibri"/>
                <a:ea typeface="Microsoft YaHei"/>
                <a:cs typeface="Calibri"/>
              </a:rPr>
              <a:t>需要强 SLA/合规背书、或主体明确的供应商关系时;小众语言深度解析需求。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15968"/>
            <a:ext cx="11201400" cy="17830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1C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43984"/>
            <a:ext cx="107899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参考来源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9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github.com/Egonex-AI/Understand-Anything (源码 + GitHub REST API,权威:stars/forks/license/日期)  ·  understand-anything.com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980" b="0" i="0">
                <a:solidFill>
                  <a:srgbClr val="96A6BE"/>
                </a:solidFill>
                <a:latin typeface="Calibri"/>
                <a:ea typeface="Microsoft YaHei"/>
                <a:cs typeface="Calibri"/>
              </a:rPr>
              <a:t>竞品:CodeGraph (colbymchenry) · GitNexus (abhigyanpatwari) · DeepWiki (cognition.ai) · Greptile · Sourcegraph Cody · CodeSee · GitDiagram · repomix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950" b="1" i="0">
                <a:solidFill>
                  <a:srgbClr val="FBBF24"/>
                </a:solidFill>
                <a:latin typeface="Calibri"/>
                <a:ea typeface="Microsoft YaHei"/>
                <a:cs typeface="Calibri"/>
              </a:rPr>
              <a:t>数据可信度: </a:t>
            </a:r>
            <a:r>
              <a:rPr sz="95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stars/forks/license/日期经 API 校验;版本数、竞品星数、市场规模为二手来源(方向性);厂商团队/融资未披露。</a:t>
            </a:r>
          </a:p>
          <a:p>
            <a:pPr algn="l">
              <a:spcBef>
                <a:spcPts val="800"/>
              </a:spcBef>
            </a:pPr>
            <a:r>
              <a:rPr sz="900" b="0" i="0">
                <a:solidFill>
                  <a:srgbClr val="5E6E86"/>
                </a:solidFill>
                <a:latin typeface="Calibri"/>
                <a:ea typeface="Microsoft YaHei"/>
                <a:cs typeface="Calibri"/>
              </a:rPr>
              <a:t>本报告由 Claude Code 以 workflow 多 Agent 调研模式产出 · 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