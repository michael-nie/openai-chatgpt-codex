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1481328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33856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0DFD5"/>
                </a:solidFill>
                <a:latin typeface="Microsoft YaHei"/>
                <a:ea typeface="Microsoft YaHei"/>
                <a:cs typeface="Microsoft YaHei"/>
              </a:rPr>
              <a:t>ANTHROPIC 技术洞察  ·  STRATEGIC × AGENT CO-EVOLUTION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时代的“自举飞轮”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5E7EB"/>
                </a:solidFill>
                <a:latin typeface="Microsoft YaHei"/>
                <a:ea typeface="Microsoft YaHei"/>
                <a:cs typeface="Microsoft YaHei"/>
              </a:rPr>
              <a:t>战略定位 × Agent 能力的协同演化　|　From Coding Agent to Organizational 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81328"/>
            <a:ext cx="12191695" cy="566928"/>
          </a:xfrm>
          <a:prstGeom prst="rect">
            <a:avLst/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核心论点　</a:t>
            </a:r>
            <a:r>
              <a:rPr sz="12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定位四段迁移 = Agent 能力逐级上移,同一条协同演化曲线;领先本质 = 速度系统 + Agent 协同演化能力,而非单点模型分数。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481328"/>
            <a:ext cx="182880" cy="566928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31136"/>
            <a:ext cx="91440" cy="1828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212848"/>
            <a:ext cx="5486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四段定位迁移  ×  Agent 能力重心  (Co-evolution Timeline)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42032"/>
            <a:ext cx="2644902" cy="1078992"/>
          </a:xfrm>
          <a:prstGeom prst="roundRect">
            <a:avLst>
              <a:gd name="adj" fmla="val 6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42032"/>
            <a:ext cx="2644902" cy="54864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651760"/>
            <a:ext cx="2425446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2021–23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安全研究实验室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Safety Lab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7938.0" y="3081528"/>
            <a:ext cx="160936.0" cy="0"/>
          </a:xfrm>
          <a:prstGeom prst="line">
            <a:avLst/>
          </a:prstGeom>
          <a:ln w="28575">
            <a:solidFill>
              <a:srgbClr val="C15F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3767328"/>
            <a:ext cx="2644902" cy="841248"/>
          </a:xfrm>
          <a:prstGeom prst="roundRect">
            <a:avLst>
              <a:gd name="adj" fmla="val 6000"/>
            </a:avLst>
          </a:prstGeom>
          <a:solidFill>
            <a:srgbClr val="D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767328"/>
            <a:ext cx="54864" cy="841248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3840480"/>
            <a:ext cx="2425446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▸ Agent 重心: </a:t>
            </a: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Chat 调用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对齐研究 / RLHF / 宪法式 AI;模型即「被调用的对话能力」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8990" y="2542032"/>
            <a:ext cx="2644902" cy="1078992"/>
          </a:xfrm>
          <a:prstGeom prst="roundRect">
            <a:avLst>
              <a:gd name="adj" fmla="val 6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8990" y="2542032"/>
            <a:ext cx="2644902" cy="54864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7006" y="2651760"/>
            <a:ext cx="2425446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2024–25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前沿模型 / 企业 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Frontier Model / API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14008.0" y="3081528"/>
            <a:ext cx="160936.0" cy="0"/>
          </a:xfrm>
          <a:prstGeom prst="line">
            <a:avLst/>
          </a:prstGeom>
          <a:ln w="28575">
            <a:solidFill>
              <a:srgbClr val="C15F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48990" y="3767328"/>
            <a:ext cx="2644902" cy="841248"/>
          </a:xfrm>
          <a:prstGeom prst="roundRect">
            <a:avLst>
              <a:gd name="adj" fmla="val 6000"/>
            </a:avLst>
          </a:prstGeom>
          <a:solidFill>
            <a:srgbClr val="D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8990" y="3767328"/>
            <a:ext cx="54864" cy="841248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7006" y="3840480"/>
            <a:ext cx="2425446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▸ Agent 重心: </a:t>
            </a: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Tool Use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Claude 3/3.5/4 + API;模型学会调用工具,能力开始「外接世界」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5060" y="2542032"/>
            <a:ext cx="2644902" cy="1078992"/>
          </a:xfrm>
          <a:prstGeom prst="roundRect">
            <a:avLst>
              <a:gd name="adj" fmla="val 6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5060" y="2542032"/>
            <a:ext cx="2644902" cy="54864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2651760"/>
            <a:ext cx="2425446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Agent 平台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Agent Platform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60078.0" y="3081528"/>
            <a:ext cx="160936.0" cy="0"/>
          </a:xfrm>
          <a:prstGeom prst="line">
            <a:avLst/>
          </a:prstGeom>
          <a:ln w="28575">
            <a:solidFill>
              <a:srgbClr val="C15F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95060" y="3767328"/>
            <a:ext cx="2644902" cy="841248"/>
          </a:xfrm>
          <a:prstGeom prst="roundRect">
            <a:avLst>
              <a:gd name="adj" fmla="val 6000"/>
            </a:avLst>
          </a:prstGeom>
          <a:solidFill>
            <a:srgbClr val="D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5060" y="3767328"/>
            <a:ext cx="54864" cy="841248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3076" y="3840480"/>
            <a:ext cx="2425446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▸ Agent 重心: </a:t>
            </a: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Claude Code 自主 Agent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Agent Loop + Sub-agents + MCP;模型自主执行多步任务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41130" y="2542032"/>
            <a:ext cx="2644902" cy="1078992"/>
          </a:xfrm>
          <a:prstGeom prst="roundRect">
            <a:avLst>
              <a:gd name="adj" fmla="val 6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41130" y="2542032"/>
            <a:ext cx="2644902" cy="54864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69146" y="2651760"/>
            <a:ext cx="2425446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04  </a:t>
            </a:r>
            <a:r>
              <a:rPr sz="1000" b="1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2025末–26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组织操作系统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Organizational 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41130" y="3767328"/>
            <a:ext cx="2644902" cy="841248"/>
          </a:xfrm>
          <a:prstGeom prst="roundRect">
            <a:avLst>
              <a:gd name="adj" fmla="val 6000"/>
            </a:avLst>
          </a:prstGeom>
          <a:solidFill>
            <a:srgbClr val="D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41130" y="3767328"/>
            <a:ext cx="54864" cy="841248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9146" y="3840480"/>
            <a:ext cx="2425446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▸ Agent 重心: </a:t>
            </a: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动态编排 / 托管多 Agent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Dynamic Workflows + Managed Agents;AI 造 AI,编排成组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2212848"/>
            <a:ext cx="3913632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自主性 / 托管度逐级上移  ▸▸▸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956048"/>
            <a:ext cx="91440" cy="1828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4937760"/>
            <a:ext cx="5486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三条贯穿趋势  (Through-lines)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285232"/>
            <a:ext cx="3483864" cy="969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" y="5376672"/>
            <a:ext cx="320954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① </a:t>
            </a:r>
            <a:r>
              <a:rPr sz="125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自主度上移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" y="5797296"/>
            <a:ext cx="966216" cy="310896"/>
          </a:xfrm>
          <a:prstGeom prst="roundRect">
            <a:avLst>
              <a:gd name="adj" fmla="val 18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人写脚本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632996.0" y="5952744"/>
            <a:ext cx="111192.0" cy="0"/>
          </a:xfrm>
          <a:prstGeom prst="line">
            <a:avLst/>
          </a:prstGeom>
          <a:ln w="22225">
            <a:solidFill>
              <a:srgbClr val="9A46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761744" y="5797296"/>
            <a:ext cx="966216" cy="310896"/>
          </a:xfrm>
          <a:prstGeom prst="roundRect">
            <a:avLst>
              <a:gd name="adj" fmla="val 18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模型编排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45516.0" y="5952744"/>
            <a:ext cx="111192.0" cy="0"/>
          </a:xfrm>
          <a:prstGeom prst="line">
            <a:avLst/>
          </a:prstGeom>
          <a:ln w="22225">
            <a:solidFill>
              <a:srgbClr val="9A46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2874264" y="5797296"/>
            <a:ext cx="966216" cy="310896"/>
          </a:xfrm>
          <a:prstGeom prst="roundRect">
            <a:avLst>
              <a:gd name="adj" fmla="val 18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自主执行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2544" y="5285232"/>
            <a:ext cx="3483864" cy="969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98848" y="5376672"/>
            <a:ext cx="320954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② </a:t>
            </a:r>
            <a:r>
              <a:rPr sz="125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执行形态延伸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98848" y="5797296"/>
            <a:ext cx="966216" cy="310896"/>
          </a:xfrm>
          <a:prstGeom prst="roundRect">
            <a:avLst>
              <a:gd name="adj" fmla="val 18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前台 harness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482620.0" y="5952744"/>
            <a:ext cx="111192.0" cy="0"/>
          </a:xfrm>
          <a:prstGeom prst="line">
            <a:avLst/>
          </a:prstGeom>
          <a:ln w="22225">
            <a:solidFill>
              <a:srgbClr val="9A46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611368" y="5797296"/>
            <a:ext cx="966216" cy="310896"/>
          </a:xfrm>
          <a:prstGeom prst="roundRect">
            <a:avLst>
              <a:gd name="adj" fmla="val 18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异步/后台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95140.0" y="5952744"/>
            <a:ext cx="111192.0" cy="0"/>
          </a:xfrm>
          <a:prstGeom prst="line">
            <a:avLst/>
          </a:prstGeom>
          <a:ln w="22225">
            <a:solidFill>
              <a:srgbClr val="9A46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723888" y="5797296"/>
            <a:ext cx="966216" cy="310896"/>
          </a:xfrm>
          <a:prstGeom prst="roundRect">
            <a:avLst>
              <a:gd name="adj" fmla="val 18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托管多 Agent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02168" y="5285232"/>
            <a:ext cx="3483864" cy="969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48472" y="5376672"/>
            <a:ext cx="320954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③ </a:t>
            </a:r>
            <a:r>
              <a:rPr sz="125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护城河迁移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48472" y="5797296"/>
            <a:ext cx="966216" cy="310896"/>
          </a:xfrm>
          <a:prstGeom prst="roundRect">
            <a:avLst>
              <a:gd name="adj" fmla="val 18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model score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332244.0" y="5952744"/>
            <a:ext cx="111192.0" cy="0"/>
          </a:xfrm>
          <a:prstGeom prst="line">
            <a:avLst/>
          </a:prstGeom>
          <a:ln w="22225">
            <a:solidFill>
              <a:srgbClr val="9A46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460992" y="5797296"/>
            <a:ext cx="966216" cy="310896"/>
          </a:xfrm>
          <a:prstGeom prst="roundRect">
            <a:avLst>
              <a:gd name="adj" fmla="val 18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Agent Runtime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0444764.0" y="5952744"/>
            <a:ext cx="111192.0" cy="0"/>
          </a:xfrm>
          <a:prstGeom prst="line">
            <a:avLst/>
          </a:prstGeom>
          <a:ln w="22225">
            <a:solidFill>
              <a:srgbClr val="9A46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10573512" y="5797296"/>
            <a:ext cx="966216" cy="310896"/>
          </a:xfrm>
          <a:prstGeom prst="roundRect">
            <a:avLst>
              <a:gd name="adj" fmla="val 18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+ 协议生态(MCP)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73952"/>
            <a:ext cx="102412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可信度标注:〔强〕官方+多源 ·〔中〕单一媒体/厂商自报 ·〔向〕方向性信号(自报/早期重度用户样本) · 2026 项超模型知识截止,引用前对照官方原文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92840" y="6473952"/>
            <a:ext cx="6858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55680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0DFD5"/>
                </a:solidFill>
                <a:latin typeface="Microsoft YaHei"/>
                <a:ea typeface="Microsoft YaHei"/>
                <a:cs typeface="Microsoft YaHei"/>
              </a:rPr>
              <a:t>STACK &amp; PARADIGM · 能力谱系三轴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Anthropic Agent 栈与能力范式:可控可验证的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2412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来源:Anthropic《How AI Is Transforming Work at Anthropic》(2025-12) · Claude Code / Agent SDK / MCP / Managed Agents 官方文档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858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91440" cy="1828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704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能力谱系三轴  ·  Capability Spectrum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9344"/>
            <a:ext cx="96012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自主度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1627632"/>
            <a:ext cx="1450848" cy="365760"/>
          </a:xfrm>
          <a:prstGeom prst="roundRect">
            <a:avLst>
              <a:gd name="adj" fmla="val 14000"/>
            </a:avLst>
          </a:prstGeom>
          <a:solidFill>
            <a:srgbClr val="D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Static Workflow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4860.0" y="1810512"/>
            <a:ext cx="87784.0" cy="0"/>
          </a:xfrm>
          <a:prstGeom prst="line">
            <a:avLst/>
          </a:prstGeom>
          <a:ln w="19050">
            <a:solidFill>
              <a:srgbClr val="C15F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23616" y="1627632"/>
            <a:ext cx="1450848" cy="365760"/>
          </a:xfrm>
          <a:prstGeom prst="roundRect">
            <a:avLst>
              <a:gd name="adj" fmla="val 14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Dynamic Workflows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85436.0" y="1810512"/>
            <a:ext cx="87784.0" cy="0"/>
          </a:xfrm>
          <a:prstGeom prst="line">
            <a:avLst/>
          </a:prstGeom>
          <a:ln w="19050">
            <a:solidFill>
              <a:srgbClr val="C15F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84192" y="1627632"/>
            <a:ext cx="1450848" cy="365760"/>
          </a:xfrm>
          <a:prstGeom prst="roundRect">
            <a:avLst>
              <a:gd name="adj" fmla="val 14000"/>
            </a:avLst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Autonomous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002536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人写流程 → 运行时模型驱动编排(Agent SDK)→ 自主执行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40864"/>
            <a:ext cx="96012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托管度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2359152"/>
            <a:ext cx="1450848" cy="365760"/>
          </a:xfrm>
          <a:prstGeom prst="roundRect">
            <a:avLst>
              <a:gd name="adj" fmla="val 14000"/>
            </a:avLst>
          </a:prstGeom>
          <a:solidFill>
            <a:srgbClr val="D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Local Harness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24860.0" y="2542032"/>
            <a:ext cx="87784.0" cy="0"/>
          </a:xfrm>
          <a:prstGeom prst="line">
            <a:avLst/>
          </a:prstGeom>
          <a:ln w="19050">
            <a:solidFill>
              <a:srgbClr val="C15F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023616" y="2359152"/>
            <a:ext cx="1450848" cy="365760"/>
          </a:xfrm>
          <a:prstGeom prst="roundRect">
            <a:avLst>
              <a:gd name="adj" fmla="val 14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Async / 后台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85436.0" y="2542032"/>
            <a:ext cx="87784.0" cy="0"/>
          </a:xfrm>
          <a:prstGeom prst="line">
            <a:avLst/>
          </a:prstGeom>
          <a:ln w="19050">
            <a:solidFill>
              <a:srgbClr val="C15F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84192" y="2359152"/>
            <a:ext cx="1450848" cy="365760"/>
          </a:xfrm>
          <a:prstGeom prst="roundRect">
            <a:avLst>
              <a:gd name="adj" fmla="val 14000"/>
            </a:avLst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Managed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734056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本地 harness → 异步/后台长任务 → 托管(Anthropic 跑 harness+沙箱)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072384"/>
            <a:ext cx="96012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3090672"/>
            <a:ext cx="1450848" cy="365760"/>
          </a:xfrm>
          <a:prstGeom prst="roundRect">
            <a:avLst>
              <a:gd name="adj" fmla="val 14000"/>
            </a:avLst>
          </a:prstGeom>
          <a:solidFill>
            <a:srgbClr val="D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单 Agent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24860.0" y="3273552"/>
            <a:ext cx="87784.0" cy="0"/>
          </a:xfrm>
          <a:prstGeom prst="line">
            <a:avLst/>
          </a:prstGeom>
          <a:ln w="19050">
            <a:solidFill>
              <a:srgbClr val="C15F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023616" y="3090672"/>
            <a:ext cx="1450848" cy="365760"/>
          </a:xfrm>
          <a:prstGeom prst="roundRect">
            <a:avLst>
              <a:gd name="adj" fmla="val 14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Sub-agent 编排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485436.0" y="3273552"/>
            <a:ext cx="87784.0" cy="0"/>
          </a:xfrm>
          <a:prstGeom prst="line">
            <a:avLst/>
          </a:prstGeom>
          <a:ln w="19050">
            <a:solidFill>
              <a:srgbClr val="C15F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84192" y="3090672"/>
            <a:ext cx="1450848" cy="365760"/>
          </a:xfrm>
          <a:prstGeom prst="roundRect">
            <a:avLst>
              <a:gd name="adj" fmla="val 14000"/>
            </a:avLst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 Agent 编排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465576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单体 → 子 Agent 独立上下文 → Dynamic Workflows 千级并行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913632"/>
            <a:ext cx="5532120" cy="896112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913632"/>
            <a:ext cx="73152" cy="89611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4014216"/>
            <a:ext cx="5221224" cy="7132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设计哲学:可控可验证 Runtime,而非黑箱托管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权限边界 + 人在环验证 + 沙箱/审计 </a:t>
            </a:r>
            <a:r>
              <a:rPr sz="95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让自主度可以安全上移;能力沉淀进可被检验的 Agent Loop。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1188720"/>
            <a:ext cx="91440" cy="1828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11704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Claude Code 架构  ·  Agent Runtime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1645920"/>
            <a:ext cx="1245870" cy="384048"/>
          </a:xfrm>
          <a:prstGeom prst="roundRect">
            <a:avLst>
              <a:gd name="adj" fmla="val 18000"/>
            </a:avLst>
          </a:prstGeom>
          <a:solidFill>
            <a:srgbClr val="2A4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27066.0" y="1837944"/>
            <a:ext cx="111192.0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655814" y="1645920"/>
            <a:ext cx="1245870" cy="384048"/>
          </a:xfrm>
          <a:prstGeom prst="roundRect">
            <a:avLst>
              <a:gd name="adj" fmla="val 18000"/>
            </a:avLst>
          </a:prstGeom>
          <a:solidFill>
            <a:srgbClr val="2A4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919240.0" y="1837944"/>
            <a:ext cx="111192.0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47988" y="1645920"/>
            <a:ext cx="1245870" cy="384048"/>
          </a:xfrm>
          <a:prstGeom prst="roundRect">
            <a:avLst>
              <a:gd name="adj" fmla="val 18000"/>
            </a:avLst>
          </a:prstGeom>
          <a:solidFill>
            <a:srgbClr val="2A4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311414.0" y="1837944"/>
            <a:ext cx="111192.0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440162" y="1645920"/>
            <a:ext cx="1245870" cy="384048"/>
          </a:xfrm>
          <a:prstGeom prst="roundRect">
            <a:avLst>
              <a:gd name="adj" fmla="val 18000"/>
            </a:avLst>
          </a:prstGeom>
          <a:solidFill>
            <a:srgbClr val="2A4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上下文管理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121408"/>
            <a:ext cx="5422392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↺ </a:t>
            </a: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循环至目标达成 · ~92% 上下文自动压缩(compaction)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2432304"/>
            <a:ext cx="5422392" cy="73152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2432304"/>
            <a:ext cx="73152" cy="731520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64808" y="2532888"/>
            <a:ext cx="5111496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Sub-agents · 子 Agent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独立上下文窗口 + 自定系统提示 + 专属工具/权限;主 Agent 委派、子 Agent 回传摘要(隔离上下文)。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3218688"/>
            <a:ext cx="5422392" cy="73152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3640" y="3218688"/>
            <a:ext cx="73152" cy="731520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3319272"/>
            <a:ext cx="5111496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权限边界 · Permission Boundary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ask / auto-accept / plan / auto 多档;checkpoints 可回滚、allowlist 预批、组织-项目-个人分层授权。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4005072"/>
            <a:ext cx="5422392" cy="804672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4005072"/>
            <a:ext cx="73152" cy="804672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64808" y="4105656"/>
            <a:ext cx="5111496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多入口 · 一次改进多界面释放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终端 CLI · VS Code / JetBrains · 桌面 App · Web/iOS(2025-10)· GitHub Actions/GitLab CI · Slack;另有 Agent SDK(可编程)与 MCP(统一工具接口)。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010912"/>
            <a:ext cx="91440" cy="1828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" y="4992624"/>
            <a:ext cx="8229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可观测的能力跃迁(Anthropic 内部 · 2025 年 2 月 → 8 月)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5340096"/>
            <a:ext cx="3563112" cy="960120"/>
          </a:xfrm>
          <a:prstGeom prst="roundRect">
            <a:avLst>
              <a:gd name="adj" fmla="val 8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" y="5340096"/>
            <a:ext cx="73152" cy="96012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394960"/>
            <a:ext cx="3325368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9.8 → 21.2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连续动作 / 链式工具调用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无人工干预的连续工具调用(峰值 +116%)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12920" y="5340096"/>
            <a:ext cx="3563112" cy="960120"/>
          </a:xfrm>
          <a:prstGeom prst="roundRect">
            <a:avLst>
              <a:gd name="adj" fmla="val 8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12920" y="5340096"/>
            <a:ext cx="73152" cy="96012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95800" y="5394960"/>
            <a:ext cx="3325368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3.2 → 3.8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任务复杂度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1–5 分制(1=基础编辑,5=专家级任务)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22920" y="5340096"/>
            <a:ext cx="3563112" cy="960120"/>
          </a:xfrm>
          <a:prstGeom prst="roundRect">
            <a:avLst>
              <a:gd name="adj" fmla="val 8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22920" y="5340096"/>
            <a:ext cx="73152" cy="96012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05800" y="5394960"/>
            <a:ext cx="3325368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14% → 37%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「实现新功能」占比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指 Claude Code 使用中投入新功能的比例(非「功能由 AI 造」)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55680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0DFD5"/>
                </a:solidFill>
                <a:latin typeface="Microsoft YaHei"/>
                <a:ea typeface="Microsoft YaHei"/>
                <a:cs typeface="Microsoft YaHei"/>
              </a:rPr>
              <a:t>THE BOOTSTRAPPING FLYWHEEL · AI building AI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自举飞轮:编码是 AI 造 AI 的高可信闭环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2412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框架:早期可测加速,非自主递归自我改进(RSI) · 来源:Anthropic《How AI Is Transforming Work at Anthropic》(2025-12)、《When AI builds itself》(Anthropic Institute, 2026-06)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858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91440" cy="1828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70432"/>
            <a:ext cx="51206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自举飞轮  ·  Bootstrapping Flywheel</a:t>
            </a:r>
          </a:p>
        </p:txBody>
      </p:sp>
      <p:sp>
        <p:nvSpPr>
          <p:cNvPr id="10" name="Donut 9"/>
          <p:cNvSpPr/>
          <p:nvPr/>
        </p:nvSpPr>
        <p:spPr>
          <a:xfrm>
            <a:off x="1746504" y="2176272"/>
            <a:ext cx="2450592" cy="2450592"/>
          </a:xfrm>
          <a:prstGeom prst="donut">
            <a:avLst>
              <a:gd name="adj" fmla="val 16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2160000">
            <a:off x="3573138" y="2291410"/>
            <a:ext cx="237744" cy="237744"/>
          </a:xfrm>
          <a:prstGeom prst="triangle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6480000">
            <a:off x="4018253" y="3661333"/>
            <a:ext cx="237744" cy="237744"/>
          </a:xfrm>
          <a:prstGeom prst="triangle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2852928" y="4507992"/>
            <a:ext cx="237744" cy="237744"/>
          </a:xfrm>
          <a:prstGeom prst="triangle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5120000">
            <a:off x="1687602" y="3661333"/>
            <a:ext cx="237744" cy="237744"/>
          </a:xfrm>
          <a:prstGeom prst="triangle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9440000">
            <a:off x="2132717" y="2291410"/>
            <a:ext cx="237744" cy="237744"/>
          </a:xfrm>
          <a:prstGeom prst="triangle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93976" y="1883664"/>
            <a:ext cx="1755648" cy="5852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15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① </a:t>
            </a: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模型变强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59301" y="2730322"/>
            <a:ext cx="1755648" cy="5852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15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② </a:t>
            </a: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Claude Code 变强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4186" y="4100245"/>
            <a:ext cx="1755648" cy="5852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15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③ </a:t>
            </a: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内部研发提速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3765" y="4100245"/>
            <a:ext cx="1755648" cy="5852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15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④ </a:t>
            </a: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真实反馈回流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650" y="2730322"/>
            <a:ext cx="1755648" cy="58521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15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⑤ </a:t>
            </a: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反哺下一代模型</a:t>
            </a:r>
          </a:p>
        </p:txBody>
      </p:sp>
      <p:sp>
        <p:nvSpPr>
          <p:cNvPr id="21" name="Oval 20"/>
          <p:cNvSpPr/>
          <p:nvPr/>
        </p:nvSpPr>
        <p:spPr>
          <a:xfrm>
            <a:off x="2389784" y="2819552"/>
            <a:ext cx="1164031" cy="1164031"/>
          </a:xfrm>
          <a:prstGeom prst="ellipse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自举飞轮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building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1188720"/>
            <a:ext cx="91440" cy="1828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42432" y="1170432"/>
            <a:ext cx="6035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为何编码 = 高可信闭环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1554480"/>
            <a:ext cx="6108192" cy="1755648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77840" y="1554480"/>
            <a:ext cx="73152" cy="1755648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9008" y="1655064"/>
            <a:ext cx="5797296" cy="1572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可验证性:编码闭环的核心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清晰输入输出:issue / spec 进,补丁 + 通过的测试出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可自动验证:</a:t>
            </a: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「代码能跑、测试是否通过」即确定性评分(Demystifying evals, 2026-01)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失败轨迹 + 测试结果 = 训练/评测信号</a:t>
            </a: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(Code RL:reward signals &amp; verifiers)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Dario:</a:t>
            </a: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可验证任务(编码)1–2 年内可达;不可验证任务才是真不确定性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456432"/>
            <a:ext cx="6108192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编码的三重身份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3749039"/>
            <a:ext cx="1889760" cy="932688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77840" y="3749039"/>
            <a:ext cx="73152" cy="932688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79008" y="3849623"/>
            <a:ext cx="1578864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营收产品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Claude Code 成营收主轴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7056" y="3749039"/>
            <a:ext cx="1889760" cy="932688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87056" y="3749039"/>
            <a:ext cx="73152" cy="932688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88224" y="3849623"/>
            <a:ext cx="1578864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困难任务分发器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把真实难题喂给模型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96272" y="3749039"/>
            <a:ext cx="1889760" cy="932688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6272" y="3749039"/>
            <a:ext cx="73152" cy="932688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97440" y="3849623"/>
            <a:ext cx="1578864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模型改进来源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轨迹/反馈回流训练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956048"/>
            <a:ext cx="91440" cy="1828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4937760"/>
            <a:ext cx="10058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内部研究证据 ·《How AI Is Transforming Work at Anthropic》(Anthropic, 2025-12)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285232"/>
            <a:ext cx="2644902" cy="969264"/>
          </a:xfrm>
          <a:prstGeom prst="roundRect">
            <a:avLst>
              <a:gd name="adj" fmla="val 8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285232"/>
            <a:ext cx="73152" cy="969264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340096"/>
            <a:ext cx="2407158" cy="8778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132 · 53 · 200K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样本规模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工程师 · 深度访谈 · Claude Code 会话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48990" y="5285232"/>
            <a:ext cx="2644902" cy="969264"/>
          </a:xfrm>
          <a:prstGeom prst="roundRect">
            <a:avLst>
              <a:gd name="adj" fmla="val 8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48990" y="5285232"/>
            <a:ext cx="73152" cy="969264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31870" y="5340096"/>
            <a:ext cx="2407158" cy="8778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+50%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生产率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员工自报 · 全公司平均(用量 28%→59%)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5060" y="5285232"/>
            <a:ext cx="2644902" cy="969264"/>
          </a:xfrm>
          <a:prstGeom prst="roundRect">
            <a:avLst>
              <a:gd name="adj" fmla="val 8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95060" y="5285232"/>
            <a:ext cx="73152" cy="969264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7940" y="5340096"/>
            <a:ext cx="2407158" cy="8778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+67%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merged PR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人均每日 · Engineering 全面采用后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41130" y="5285232"/>
            <a:ext cx="2644902" cy="969264"/>
          </a:xfrm>
          <a:prstGeom prst="roundRect">
            <a:avLst>
              <a:gd name="adj" fmla="val 8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41130" y="5285232"/>
            <a:ext cx="73152" cy="969264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24010" y="5340096"/>
            <a:ext cx="2407158" cy="8778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27%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本不会做的任务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占 Claude 辅助工作的比例(非全部任务)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55680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0DFD5"/>
                </a:solidFill>
                <a:latin typeface="Microsoft YaHei"/>
                <a:ea typeface="Microsoft YaHei"/>
                <a:cs typeface="Microsoft YaHei"/>
              </a:rPr>
              <a:t>EXPANSION · 可验证性是外扩速度的瓶颈变量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Coding Agent 到通用知识工作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2412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来源:Anthropic Claude Cowork(2026-01 研究预览)、Agent Skills / 插件、Claude Code 与 Agent SDK 文档 ·〔向〕外扩节奏为方向性判断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858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91440" cy="1828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70432"/>
            <a:ext cx="10058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迁移逻辑:编码可验证性最高 → 先突破 → 再外扩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2686050" cy="438912"/>
          </a:xfrm>
          <a:prstGeom prst="roundRect">
            <a:avLst>
              <a:gd name="adj" fmla="val 18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编码:可验证性最高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6526.0" y="1773936"/>
            <a:ext cx="111192.0" cy="0"/>
          </a:xfrm>
          <a:prstGeom prst="line">
            <a:avLst/>
          </a:prstGeom>
          <a:ln w="22225">
            <a:solidFill>
              <a:srgbClr val="9A46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35274" y="1554480"/>
            <a:ext cx="2686050" cy="438912"/>
          </a:xfrm>
          <a:prstGeom prst="roundRect">
            <a:avLst>
              <a:gd name="adj" fmla="val 18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打穿楔子(先突破)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8880.0" y="1773936"/>
            <a:ext cx="111192.0" cy="0"/>
          </a:xfrm>
          <a:prstGeom prst="line">
            <a:avLst/>
          </a:prstGeom>
          <a:ln w="22225">
            <a:solidFill>
              <a:srgbClr val="9A46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67628" y="1554480"/>
            <a:ext cx="2686050" cy="438912"/>
          </a:xfrm>
          <a:prstGeom prst="roundRect">
            <a:avLst>
              <a:gd name="adj" fmla="val 18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共享栈复用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71234.0" y="1773936"/>
            <a:ext cx="111192.0" cy="0"/>
          </a:xfrm>
          <a:prstGeom prst="line">
            <a:avLst/>
          </a:prstGeom>
          <a:ln w="22225">
            <a:solidFill>
              <a:srgbClr val="9A46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99982" y="1554480"/>
            <a:ext cx="2686050" cy="438912"/>
          </a:xfrm>
          <a:prstGeom prst="roundRect">
            <a:avLst>
              <a:gd name="adj" fmla="val 18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外扩通用知识工作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249424"/>
            <a:ext cx="5504688" cy="1170432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249424"/>
            <a:ext cx="73152" cy="117043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2350008"/>
            <a:ext cx="5193792" cy="987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载体 ① Cowork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把 Claude Code 能力带到通用知识工作的桌面级 Agent:授权文件夹后自主读写、跨本地应用与连接器(Drive/Gmail)交付成品。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研究预览 2026-01 · 领域插件(财务 / HR / 工程)。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29584"/>
            <a:ext cx="5504688" cy="118872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529584"/>
            <a:ext cx="73152" cy="118872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630168"/>
            <a:ext cx="5193792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载体 ② 开源插件 / Agent Skills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销售 / 法务 / 财务等角色专精能力包;同一套栈把内部沉淀快速产品化为外部「角色 Agent」。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6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MCP 统一工具接口让连接器与技能即插即用。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2231136"/>
            <a:ext cx="91440" cy="1828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2212848"/>
            <a:ext cx="5486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共享栈优势:同一引擎,内外复用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84264" y="2542032"/>
            <a:ext cx="4498848" cy="566928"/>
          </a:xfrm>
          <a:prstGeom prst="roundRect">
            <a:avLst>
              <a:gd name="adj" fmla="val 6000"/>
            </a:avLst>
          </a:prstGeom>
          <a:solidFill>
            <a:srgbClr val="D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底层  </a:t>
            </a:r>
            <a:r>
              <a:rPr sz="11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Model + Agent Loop + MCP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33688" y="3141878"/>
            <a:ext cx="0" cy="208484"/>
          </a:xfrm>
          <a:prstGeom prst="line">
            <a:avLst/>
          </a:prstGeom>
          <a:ln w="25400">
            <a:solidFill>
              <a:srgbClr val="C15F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684264" y="3383280"/>
            <a:ext cx="4498848" cy="566928"/>
          </a:xfrm>
          <a:prstGeom prst="roundRect">
            <a:avLst>
              <a:gd name="adj" fmla="val 6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沉淀  </a:t>
            </a:r>
            <a:r>
              <a:rPr sz="11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内部沉淀的 Agent 能力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33688" y="3983126"/>
            <a:ext cx="0" cy="208484"/>
          </a:xfrm>
          <a:prstGeom prst="line">
            <a:avLst/>
          </a:prstGeom>
          <a:ln w="25400">
            <a:solidFill>
              <a:srgbClr val="C15F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684264" y="4224528"/>
            <a:ext cx="4498848" cy="566928"/>
          </a:xfrm>
          <a:prstGeom prst="roundRect">
            <a:avLst>
              <a:gd name="adj" fmla="val 6000"/>
            </a:avLst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  </a:t>
            </a: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产品化为外部「角色 Agent」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882896"/>
            <a:ext cx="5504688" cy="1243584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882896"/>
            <a:ext cx="73152" cy="12435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4983480"/>
            <a:ext cx="5193792" cy="1060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核心瓶颈:非编码领域「可验证性」弱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评测标准模糊、反馈回流慢 —— 没有「跑测试即评分」的确定性信号。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→ 可验证性 = 外扩速度的瓶颈变量。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4882896"/>
            <a:ext cx="5504688" cy="1243584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81344" y="4882896"/>
            <a:ext cx="73152" cy="1243584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4983480"/>
            <a:ext cx="5193792" cy="1060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路径判断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先守编码楔子,再平台扩张;可验证性强的领域优先被 Agent 化。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弱可验证领域:靠人在环 + 评测建设逐步补齐反馈闭环。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55680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0DFD5"/>
                </a:solidFill>
                <a:latin typeface="Microsoft YaHei"/>
                <a:ea typeface="Microsoft YaHei"/>
                <a:cs typeface="Microsoft YaHei"/>
              </a:rPr>
              <a:t>ENTERPRISE GO-TO-MARKET · 卖 Token → 卖组织提速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 ToB 的布局与动作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2412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来源:Anthropic 官方公告与财报报道 ·〔强〕2024 末 ~$1B run-rate;后续为多方报道/厂商口径〔中〕,引用前对照官方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858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91440" cy="1828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70432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总营收 run-rate(年化, $B)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4114800"/>
            <a:ext cx="3886200" cy="0"/>
          </a:xfrm>
          <a:prstGeom prst="line">
            <a:avLst/>
          </a:prstGeom>
          <a:ln w="1270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68680" y="3964367"/>
            <a:ext cx="809244" cy="150433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3507167"/>
            <a:ext cx="1065276" cy="4389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$1B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〔强〕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4151376"/>
            <a:ext cx="106527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6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2024 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9092" y="3437850"/>
            <a:ext cx="809244" cy="676950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51076" y="2980650"/>
            <a:ext cx="1065276" cy="4389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$4–5B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〔中〕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1076" y="4151376"/>
            <a:ext cx="106527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6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2025 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9504" y="2760899"/>
            <a:ext cx="809244" cy="1353901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2303699"/>
            <a:ext cx="1065276" cy="4389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$9B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〔中〕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4151376"/>
            <a:ext cx="106527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6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2025 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99916" y="2008731"/>
            <a:ext cx="809244" cy="2106069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1900" y="1551531"/>
            <a:ext cx="1065276" cy="4389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$14B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〔中·报道〕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900" y="4151376"/>
            <a:ext cx="106527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6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2026-02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90288"/>
            <a:ext cx="4617720" cy="1481328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590288"/>
            <a:ext cx="73152" cy="1481328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690872"/>
            <a:ext cx="4306824" cy="1298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商业化主轴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4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API-first:约 80% 营收来自 API + 企业/开发者(非消费 App)。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4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Claude Code 成营收主轴:GA(2025-05)后约 6 个月达 ~$1B run-rate。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模式迁移:卖 Token → 卖「组织提速」。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1207008"/>
            <a:ext cx="6336792" cy="1572768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49240" y="1207008"/>
            <a:ext cx="73152" cy="1572768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0408" y="1307592"/>
            <a:ext cx="6025896" cy="1389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企业级动作 · Enterprise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Claude for Enterprise(2024-09):500K 上下文 · SSO/RBAC/SCIM/审计 · 不用客户数据训练。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HIPAA-ready(BAA 点选即用)· 医疗与生命科学(Life Sciences 2025-10 / Healthcare 2026-01)。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金融:Claude for Financial Services(2025-07,Moody's/S&amp;P/FactSet 连接器)· Managed Agents 企业托管。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49240" y="2889504"/>
            <a:ext cx="6336792" cy="1371600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49240" y="2889504"/>
            <a:ext cx="73152" cy="1371600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50408" y="2990088"/>
            <a:ext cx="6025896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开发者 · 生态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Agent SDK(原 Claude Code SDK,2025-09 更名):内部框架 → 可编程外部能力。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MCP 开放协议(2024-11 开源;2025-03 OpenAI 采用;2025-12 入 Linux Foundation)。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插件 / Agent Skills 生态:角色与连接器即插即用。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49240" y="4370832"/>
            <a:ext cx="6336792" cy="1243584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49240" y="4370832"/>
            <a:ext cx="73152" cy="1243584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0408" y="4471416"/>
            <a:ext cx="6025896" cy="1060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信任即准入 · Trust = Access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RSP / System Cards / Transparency Hub —— 把安全可信做成 ToB 差异化卖点,而非成本。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分发多入口:终端 / IDE / API / MCP / 插件,单次改进多界面释放。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55680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0DFD5"/>
                </a:solidFill>
                <a:latin typeface="Microsoft YaHei"/>
                <a:ea typeface="Microsoft YaHei"/>
                <a:cs typeface="Microsoft YaHei"/>
              </a:rPr>
              <a:t>SAFETY &amp; CONTROLLABILITY · 边界条件,而非刹车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安全与可控性:治理即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2412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来源:Anthropic 责任扩展政策(RSP, 2023-09 起)、System Cards、Transparency Hub(2026)· ASL-3 安全措施于 2025-05 随 Claude Opus 4 启用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858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11183112" cy="658368"/>
          </a:xfrm>
          <a:prstGeom prst="roundRect">
            <a:avLst>
              <a:gd name="adj" fmla="val 6000"/>
            </a:avLst>
          </a:prstGeom>
          <a:solidFill>
            <a:srgbClr val="F0D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9A462A"/>
                </a:solidFill>
                <a:latin typeface="Microsoft YaHei"/>
                <a:ea typeface="Microsoft YaHei"/>
                <a:cs typeface="Microsoft YaHei"/>
              </a:rPr>
              <a:t>新风险面　</a:t>
            </a:r>
            <a:r>
              <a:rPr sz="115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自主度 / 托管度上升 → 权限、监督、可控性、agentic misalignment（代理性错位）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88720"/>
            <a:ext cx="91440" cy="658368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084831"/>
            <a:ext cx="5504688" cy="2761488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84831"/>
            <a:ext cx="73152" cy="2761488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185415"/>
            <a:ext cx="5193792" cy="2578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治理即 Runtime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RSP(2023-09):</a:t>
            </a: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预声明能力阈值与发布标准;ASL 分级(ASL-1…4+),ASL-3 安全措施 2025-05 随 Claude Opus 4 启用。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System Cards:</a:t>
            </a: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随模型发布公开能力与安全评测。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Transparency Hub(2026):</a:t>
            </a: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集中模型卡 / 安全措施 / 自愿承诺,另有面向非专家的 Model Report。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评测内嵌:</a:t>
            </a:r>
            <a:r>
              <a:rPr sz="100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把「能不能发」前置成「按什么规则持续发」。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2103119"/>
            <a:ext cx="91440" cy="1828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2084831"/>
            <a:ext cx="5486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可控机制 · 人在环责任链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468880"/>
            <a:ext cx="1266444" cy="420624"/>
          </a:xfrm>
          <a:prstGeom prst="roundRect">
            <a:avLst>
              <a:gd name="adj" fmla="val 18000"/>
            </a:avLst>
          </a:prstGeom>
          <a:solidFill>
            <a:srgbClr val="2A4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Delegate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65344.0" y="2679192"/>
            <a:ext cx="111192.0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94092" y="2468880"/>
            <a:ext cx="1266444" cy="420624"/>
          </a:xfrm>
          <a:prstGeom prst="roundRect">
            <a:avLst>
              <a:gd name="adj" fmla="val 18000"/>
            </a:avLst>
          </a:prstGeom>
          <a:solidFill>
            <a:srgbClr val="2A4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78092.0" y="2679192"/>
            <a:ext cx="111192.0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06840" y="2468880"/>
            <a:ext cx="1266444" cy="420624"/>
          </a:xfrm>
          <a:prstGeom prst="roundRect">
            <a:avLst>
              <a:gd name="adj" fmla="val 18000"/>
            </a:avLst>
          </a:prstGeom>
          <a:solidFill>
            <a:srgbClr val="2A4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290840.0" y="2679192"/>
            <a:ext cx="111192.0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419588" y="2468880"/>
            <a:ext cx="1266444" cy="420624"/>
          </a:xfrm>
          <a:prstGeom prst="roundRect">
            <a:avLst>
              <a:gd name="adj" fmla="val 18000"/>
            </a:avLst>
          </a:prstGeom>
          <a:solidFill>
            <a:srgbClr val="2A4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Accountability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127248"/>
            <a:ext cx="5504688" cy="1719072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127248"/>
            <a:ext cx="73152" cy="1719072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227832"/>
            <a:ext cx="5193792" cy="1536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落地机制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权限边界:ask / auto-accept / plan / auto 多档授权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人在环验证:委派 → 验证 → 复核 → 可问责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沙箱 / 审计 / checkpoints 回滚 / allowlist 预批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自主度可上移的前提 = 监督与验证同步增强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47488"/>
            <a:ext cx="11183112" cy="969264"/>
          </a:xfrm>
          <a:prstGeom prst="roundRect">
            <a:avLst>
              <a:gd name="adj" fmla="val 6000"/>
            </a:avLst>
          </a:prstGeom>
          <a:solidFill>
            <a:srgbClr val="D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355C7D"/>
                </a:solidFill>
                <a:latin typeface="Microsoft YaHei"/>
                <a:ea typeface="Microsoft YaHei"/>
                <a:cs typeface="Microsoft YaHei"/>
              </a:rPr>
              <a:t>演化呼应　</a:t>
            </a:r>
            <a:r>
              <a:rPr sz="115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阶段一的「安全信仰」在阶段四技术化落地 —— 成为速度的边界条件,而非刹车。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047488"/>
            <a:ext cx="91440" cy="969264"/>
          </a:xfrm>
          <a:prstGeom prst="rect">
            <a:avLst/>
          </a:prstGeom>
          <a:solidFill>
            <a:srgbClr val="355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1155680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0DFD5"/>
                </a:solidFill>
                <a:latin typeface="Microsoft YaHei"/>
                <a:ea typeface="Microsoft YaHei"/>
                <a:cs typeface="Microsoft YaHei"/>
              </a:rPr>
              <a:t>OUTLOOK &amp; SIGNPOSTS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未来展望与信号灯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2412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信号灯颜色为方向性判断:绿=已现/在轨 · 黄=进行中/待观察 ·〔向〕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858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5504688" cy="1682496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88720"/>
            <a:ext cx="73152" cy="1682496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289304"/>
            <a:ext cx="5193792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技术拐点 · 趋势延伸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把「可验证 Agent 闭环」从编码外推到更广知识工作。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自主度 / 托管度继续上移 —— 后台、长程、多 Agent。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Dynamic Workflows:可达千级并行子 Agent(2026-05)。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188720"/>
            <a:ext cx="5504688" cy="1682496"/>
          </a:xfrm>
          <a:prstGeom prst="roundRect">
            <a:avLst>
              <a:gd name="adj" fmla="val 5000"/>
            </a:avLst>
          </a:prstGeom>
          <a:solidFill>
            <a:srgbClr val="F5F3F0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188720"/>
            <a:ext cx="73152" cy="16824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289304"/>
            <a:ext cx="5193792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风险边界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质量债:自主度↑ 而验证 / 监督不同步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技能退化:人类对底层能力的掌控弱化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1000" b="0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算力依赖 · 弱可验证领域的瓶颈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72384"/>
            <a:ext cx="91440" cy="1828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054096"/>
            <a:ext cx="10058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15F3C"/>
                </a:solidFill>
                <a:latin typeface="Microsoft YaHei"/>
                <a:ea typeface="Microsoft YaHei"/>
                <a:cs typeface="Microsoft YaHei"/>
              </a:rPr>
              <a:t>信号灯(可跟踪) · Signposts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01568"/>
            <a:ext cx="2090318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01568"/>
            <a:ext cx="2090318" cy="64008"/>
          </a:xfrm>
          <a:prstGeom prst="rect">
            <a:avLst/>
          </a:prstGeom>
          <a:solidFill>
            <a:srgbClr val="2F8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" y="3584448"/>
            <a:ext cx="182880" cy="182880"/>
          </a:xfrm>
          <a:prstGeom prst="ellipse">
            <a:avLst/>
          </a:prstGeom>
          <a:solidFill>
            <a:srgbClr val="2F8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47872"/>
            <a:ext cx="159654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F805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877056"/>
            <a:ext cx="1815998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连续动作 / 自主度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9.8→21.2 已现,持续观察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76118" y="3401568"/>
            <a:ext cx="2090318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76118" y="3401568"/>
            <a:ext cx="2090318" cy="64008"/>
          </a:xfrm>
          <a:prstGeom prst="rect">
            <a:avLst/>
          </a:prstGeom>
          <a:solidFill>
            <a:srgbClr val="2F8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2422" y="3584448"/>
            <a:ext cx="182880" cy="182880"/>
          </a:xfrm>
          <a:prstGeom prst="ellipse">
            <a:avLst/>
          </a:prstGeom>
          <a:solidFill>
            <a:srgbClr val="2F8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8454" y="3547872"/>
            <a:ext cx="159654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F805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2422" y="3877056"/>
            <a:ext cx="1815998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MCP 生态规模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入 Linux Foundation,跨厂商采用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49316" y="3401568"/>
            <a:ext cx="2090318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49316" y="3401568"/>
            <a:ext cx="2090318" cy="640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95620" y="3584448"/>
            <a:ext cx="182880" cy="18288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51652" y="3547872"/>
            <a:ext cx="159654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5620" y="3877056"/>
            <a:ext cx="1815998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Agent SDK 采用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内部框架→外部可编程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22515" y="3401568"/>
            <a:ext cx="2090318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22515" y="3401568"/>
            <a:ext cx="2090318" cy="640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68819" y="3584448"/>
            <a:ext cx="182880" cy="18288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4851" y="3547872"/>
            <a:ext cx="159654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8819" y="3877056"/>
            <a:ext cx="1815998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Cowork / 企业 Agent 渗透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2026-01 研究预览,待放量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95713" y="3401568"/>
            <a:ext cx="2090318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95713" y="3401568"/>
            <a:ext cx="2090318" cy="640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42017" y="3584448"/>
            <a:ext cx="182880" cy="18288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98049" y="3547872"/>
            <a:ext cx="159654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42017" y="3877056"/>
            <a:ext cx="1815998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E2630"/>
                </a:solidFill>
                <a:latin typeface="Microsoft YaHei"/>
                <a:ea typeface="Microsoft YaHei"/>
                <a:cs typeface="Microsoft YaHei"/>
              </a:rPr>
              <a:t>托管多 Agent 形态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Managed Agents Beta / 动态编排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956048"/>
            <a:ext cx="11183112" cy="1078992"/>
          </a:xfrm>
          <a:prstGeom prst="roundRect">
            <a:avLst>
              <a:gd name="adj" fmla="val 6000"/>
            </a:avLst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结论回扣　</a:t>
            </a: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领先本质 = 速度系统 + Agent 协同演化能力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把模型能力沉淀进可控、可验证的 Agent Runtime,并以「自举飞轮」持续放大 —— 而非单点模型分数领先。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