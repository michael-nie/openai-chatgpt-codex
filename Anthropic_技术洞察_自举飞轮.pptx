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755648"/>
          </a:xfrm>
          <a:prstGeom prst="rect">
            <a:avLst/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755648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19456"/>
            <a:ext cx="8686800" cy="1463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0DFD5"/>
                </a:solidFill>
                <a:latin typeface="Microsoft YaHei"/>
                <a:ea typeface="Microsoft YaHei"/>
                <a:cs typeface="Microsoft YaHei"/>
              </a:rPr>
              <a:t>ANTHROPIC 技术洞察  ·  深度研究 (Insight Report)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3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 时代的“自举飞轮”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E5E7EB"/>
                </a:solidFill>
                <a:latin typeface="Microsoft YaHei"/>
                <a:ea typeface="Microsoft YaHei"/>
                <a:cs typeface="Microsoft YaHei"/>
              </a:rPr>
              <a:t>战略定位 × Agent 能力的协同演化　|　From Coding Agent to Organizational 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509760" y="420624"/>
            <a:ext cx="2148840" cy="932688"/>
          </a:xfrm>
          <a:prstGeom prst="roundRect">
            <a:avLst>
              <a:gd name="adj" fmla="val 10000"/>
            </a:avLst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0DFD5"/>
                </a:solidFill>
                <a:latin typeface="Microsoft YaHei"/>
                <a:ea typeface="Microsoft YaHei"/>
                <a:cs typeface="Microsoft YaHei"/>
              </a:rPr>
              <a:t>核心判断 / Call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结构性领先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边界 = 算力 × 可验证性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755648"/>
            <a:ext cx="12191695" cy="566928"/>
          </a:xfrm>
          <a:prstGeom prst="rect">
            <a:avLst/>
          </a:prstGeom>
          <a:solidFill>
            <a:srgbClr val="F0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9A462A"/>
                </a:solidFill>
                <a:latin typeface="Microsoft YaHei"/>
                <a:ea typeface="Microsoft YaHei"/>
                <a:cs typeface="Microsoft YaHei"/>
              </a:rPr>
              <a:t>核心论点　</a:t>
            </a:r>
            <a:r>
              <a:rPr sz="110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定位四段迁移由 Agent 能力跃迁驱动并反向重塑;真正的领先是速度系统 + Agent 协同演化能力 —— 把模型沉淀进可控可验证的 Agent Runtime,并以「自举飞轮」持续放大。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755648"/>
            <a:ext cx="201168" cy="566928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523744"/>
            <a:ext cx="91440" cy="18288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505456"/>
            <a:ext cx="7315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核心观点 · Key Theses(本报告导读)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98064"/>
            <a:ext cx="11183112" cy="31272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▍ </a:t>
            </a:r>
            <a:r>
              <a:rPr sz="115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定位四段跃迁,每段由 Agent 能力跃迁驱动 — </a:t>
            </a:r>
            <a:r>
              <a:rPr sz="115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安全实验室 → 前沿模型/API → Agent 平台 → 组织操作系统(AI 造 AI);Agent 重心由 Chat 调用上移到动态编排 / 托管多 Agent。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▍ </a:t>
            </a:r>
            <a:r>
              <a:rPr sz="115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护城河 = 速度系统 + 自举飞轮,非单点跑分 — </a:t>
            </a:r>
            <a:r>
              <a:rPr sz="115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把模型能力沉淀进可控可验证的 Agent Runtime;编码是高可信闭环,内部研究显示 Claude 写入 &gt;80% 合并代码、人均每日 merged PR +67%、生产率 +50%。</a:t>
            </a:r>
            <a:r>
              <a:rPr sz="900" b="0" i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  〔强〕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▍ </a:t>
            </a:r>
            <a:r>
              <a:rPr sz="115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价值锚点从「用户规模」转向「高价值任务」 — </a:t>
            </a:r>
            <a:r>
              <a:rPr sz="115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约 25% 高价值场景创造约 80% 收入;Anthropic 单用户变现约为 OpenAI 的 8 倍,企业 API 份额 12%(2023)→40%(2025)居首。</a:t>
            </a:r>
            <a:r>
              <a:rPr sz="900" b="0" i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  〔中·券商〕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▍ </a:t>
            </a:r>
            <a:r>
              <a:rPr sz="115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编码楔子 → 平台外扩,可验证性是瓶颈变量 — </a:t>
            </a:r>
            <a:r>
              <a:rPr sz="115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Cowork 与角色插件把同一套 Model + Agent Loop + MCP 复制到通用知识工作;非编码领域可验证性弱,制约外扩速度。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▍ </a:t>
            </a:r>
            <a:r>
              <a:rPr sz="115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边界条件:安全 × 算力 — </a:t>
            </a:r>
            <a:r>
              <a:rPr sz="115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RSP / System Cards / Transparency Hub 把治理做成 ToB 准入;但算力供给偏紧(已现限流/分层)与 Codex 追赶(2026-04 下载量反超)是关键风险变量。</a:t>
            </a:r>
            <a:r>
              <a:rPr sz="900" b="0" i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  〔中〕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61888"/>
            <a:ext cx="11183112" cy="457200"/>
          </a:xfrm>
          <a:prstGeom prst="roundRect">
            <a:avLst>
              <a:gd name="adj" fmla="val 5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方法与口径　</a:t>
            </a:r>
            <a:r>
              <a:rPr sz="78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数据经多源交叉核验并按〔强/中/向〕分层标注;Anthropic 内部指标引自《How AI Is Transforming Work at Anthropic》(2025-12);市场/算力/竞品数据引自国泰海通证券《OpenAI:AI 时代的基础设施与超级入口》(2026-05-30,综合 Menlo Ventures / Ramp / The Information)。2026 年项超模型知识截止,引用前对照官方原文。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102412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68580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"/>
            <a:ext cx="11155680" cy="8412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0DFD5"/>
                </a:solidFill>
                <a:latin typeface="Microsoft YaHei"/>
                <a:ea typeface="Microsoft YaHei"/>
                <a:cs typeface="Microsoft YaHei"/>
              </a:rPr>
              <a:t>01 · STRATEGIC × AGENT CO-EVOLUTION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战略定位演进 × Agent 能力协同演化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2412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图1: Anthropic 定位四段迁移 × Agent 能力协同演化 · 资料来源: Anthropic 官方公告、Claude Code / Agent SDK / MCP 文档,本研究整理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68580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52144"/>
            <a:ext cx="11183112" cy="457200"/>
          </a:xfrm>
          <a:prstGeom prst="roundRect">
            <a:avLst>
              <a:gd name="adj" fmla="val 6000"/>
            </a:avLst>
          </a:prstGeom>
          <a:solidFill>
            <a:srgbClr val="F0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9A462A"/>
                </a:solidFill>
                <a:latin typeface="Microsoft YaHei"/>
                <a:ea typeface="Microsoft YaHei"/>
                <a:cs typeface="Microsoft YaHei"/>
              </a:rPr>
              <a:t>核心论点　</a:t>
            </a:r>
            <a:r>
              <a:rPr sz="110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定位四段迁移 = Agent 能力逐级上移,同一条协同演化曲线;领先本质 = 速度系统 + Agent 协同演化能力,而非单点模型分数。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152144"/>
            <a:ext cx="91440" cy="45720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92224"/>
            <a:ext cx="91440" cy="18288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773936"/>
            <a:ext cx="64008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四段定位迁移  ×  Agent 能力重心  (Co-evolution Timeline)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39696"/>
            <a:ext cx="2644902" cy="1042415"/>
          </a:xfrm>
          <a:prstGeom prst="roundRect">
            <a:avLst>
              <a:gd name="adj" fmla="val 6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139696"/>
            <a:ext cx="2644902" cy="54864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249424"/>
            <a:ext cx="2425446" cy="85953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01  </a:t>
            </a:r>
            <a:r>
              <a:rPr sz="1000" b="1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2021–23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安全研究实验室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Safety Lab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67938.0" y="2660903"/>
            <a:ext cx="160936.0" cy="0"/>
          </a:xfrm>
          <a:prstGeom prst="line">
            <a:avLst/>
          </a:prstGeom>
          <a:ln w="28575">
            <a:solidFill>
              <a:srgbClr val="C15F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02920" y="3310127"/>
            <a:ext cx="2644902" cy="822960"/>
          </a:xfrm>
          <a:prstGeom prst="roundRect">
            <a:avLst>
              <a:gd name="adj" fmla="val 6000"/>
            </a:avLst>
          </a:prstGeom>
          <a:solidFill>
            <a:srgbClr val="DD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310127"/>
            <a:ext cx="54864" cy="822960"/>
          </a:xfrm>
          <a:prstGeom prst="rect">
            <a:avLst/>
          </a:prstGeom>
          <a:solidFill>
            <a:srgbClr val="355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" y="3383279"/>
            <a:ext cx="2425446" cy="7132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355C7D"/>
                </a:solidFill>
                <a:latin typeface="Microsoft YaHei"/>
                <a:ea typeface="Microsoft YaHei"/>
                <a:cs typeface="Microsoft YaHei"/>
              </a:rPr>
              <a:t>▸ Agent 重心: </a:t>
            </a:r>
            <a:r>
              <a:rPr sz="10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Chat 调用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对齐研究 / RLHF / 宪法式 AI;模型即「被调用的对话能力」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48990" y="2139696"/>
            <a:ext cx="2644902" cy="1042415"/>
          </a:xfrm>
          <a:prstGeom prst="roundRect">
            <a:avLst>
              <a:gd name="adj" fmla="val 6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48990" y="2139696"/>
            <a:ext cx="2644902" cy="54864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7006" y="2249424"/>
            <a:ext cx="2425446" cy="85953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02  </a:t>
            </a:r>
            <a:r>
              <a:rPr sz="1000" b="1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2024–25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前沿模型 / 企业 API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Frontier Model / API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14008.0" y="2660903"/>
            <a:ext cx="160936.0" cy="0"/>
          </a:xfrm>
          <a:prstGeom prst="line">
            <a:avLst/>
          </a:prstGeom>
          <a:ln w="28575">
            <a:solidFill>
              <a:srgbClr val="C15F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348990" y="3310127"/>
            <a:ext cx="2644902" cy="822960"/>
          </a:xfrm>
          <a:prstGeom prst="roundRect">
            <a:avLst>
              <a:gd name="adj" fmla="val 6000"/>
            </a:avLst>
          </a:prstGeom>
          <a:solidFill>
            <a:srgbClr val="DD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48990" y="3310127"/>
            <a:ext cx="54864" cy="822960"/>
          </a:xfrm>
          <a:prstGeom prst="rect">
            <a:avLst/>
          </a:prstGeom>
          <a:solidFill>
            <a:srgbClr val="355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7006" y="3383279"/>
            <a:ext cx="2425446" cy="7132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355C7D"/>
                </a:solidFill>
                <a:latin typeface="Microsoft YaHei"/>
                <a:ea typeface="Microsoft YaHei"/>
                <a:cs typeface="Microsoft YaHei"/>
              </a:rPr>
              <a:t>▸ Agent 重心: </a:t>
            </a:r>
            <a:r>
              <a:rPr sz="10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Tool Use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Claude 3/3.5/4 + API;模型学会调用工具,能力开始「外接世界」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5060" y="2139696"/>
            <a:ext cx="2644902" cy="1042415"/>
          </a:xfrm>
          <a:prstGeom prst="roundRect">
            <a:avLst>
              <a:gd name="adj" fmla="val 6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5060" y="2139696"/>
            <a:ext cx="2644902" cy="54864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3076" y="2249424"/>
            <a:ext cx="2425446" cy="85953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03  </a:t>
            </a:r>
            <a:r>
              <a:rPr sz="1000" b="1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2025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Agent 平台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Agent Platform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860078.0" y="2660903"/>
            <a:ext cx="160936.0" cy="0"/>
          </a:xfrm>
          <a:prstGeom prst="line">
            <a:avLst/>
          </a:prstGeom>
          <a:ln w="28575">
            <a:solidFill>
              <a:srgbClr val="C15F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195060" y="3310127"/>
            <a:ext cx="2644902" cy="822960"/>
          </a:xfrm>
          <a:prstGeom prst="roundRect">
            <a:avLst>
              <a:gd name="adj" fmla="val 6000"/>
            </a:avLst>
          </a:prstGeom>
          <a:solidFill>
            <a:srgbClr val="DD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5060" y="3310127"/>
            <a:ext cx="54864" cy="822960"/>
          </a:xfrm>
          <a:prstGeom prst="rect">
            <a:avLst/>
          </a:prstGeom>
          <a:solidFill>
            <a:srgbClr val="355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3076" y="3383279"/>
            <a:ext cx="2425446" cy="7132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355C7D"/>
                </a:solidFill>
                <a:latin typeface="Microsoft YaHei"/>
                <a:ea typeface="Microsoft YaHei"/>
                <a:cs typeface="Microsoft YaHei"/>
              </a:rPr>
              <a:t>▸ Agent 重心: </a:t>
            </a:r>
            <a:r>
              <a:rPr sz="10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Claude Code 自主 Agent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Agent Loop + Sub-agents + MCP;模型自主执行多步任务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41130" y="2139696"/>
            <a:ext cx="2644902" cy="1042415"/>
          </a:xfrm>
          <a:prstGeom prst="roundRect">
            <a:avLst>
              <a:gd name="adj" fmla="val 6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41130" y="2139696"/>
            <a:ext cx="2644902" cy="54864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69146" y="2249424"/>
            <a:ext cx="2425446" cy="85953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04  </a:t>
            </a:r>
            <a:r>
              <a:rPr sz="1000" b="1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2025末–26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组织操作系统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Organizational 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41130" y="3310127"/>
            <a:ext cx="2644902" cy="822960"/>
          </a:xfrm>
          <a:prstGeom prst="roundRect">
            <a:avLst>
              <a:gd name="adj" fmla="val 6000"/>
            </a:avLst>
          </a:prstGeom>
          <a:solidFill>
            <a:srgbClr val="DD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41130" y="3310127"/>
            <a:ext cx="54864" cy="822960"/>
          </a:xfrm>
          <a:prstGeom prst="rect">
            <a:avLst/>
          </a:prstGeom>
          <a:solidFill>
            <a:srgbClr val="355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69146" y="3383279"/>
            <a:ext cx="2425446" cy="7132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355C7D"/>
                </a:solidFill>
                <a:latin typeface="Microsoft YaHei"/>
                <a:ea typeface="Microsoft YaHei"/>
                <a:cs typeface="Microsoft YaHei"/>
              </a:rPr>
              <a:t>▸ Agent 重心: </a:t>
            </a:r>
            <a:r>
              <a:rPr sz="10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动态编排 / 托管多 Agent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Dynamic Workflows + Managed Agents;AI 造 AI,编排成组 Agent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1773936"/>
            <a:ext cx="3913632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自主性 / 托管度逐级上移  ▸▸▸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4187952"/>
            <a:ext cx="868680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图1: </a:t>
            </a:r>
            <a:r>
              <a:rPr sz="85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Anthropic 定位四段迁移 × Agent 能力协同演化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资料来源: Anthropic 官方公告、Claude Code 文档,本研究整理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718304"/>
            <a:ext cx="91440" cy="18288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" y="4700016"/>
            <a:ext cx="5486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三条贯穿趋势  (Through-lines)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029200"/>
            <a:ext cx="3483864" cy="9692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" y="5120640"/>
            <a:ext cx="3209544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25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自主度上移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9224" y="5541264"/>
            <a:ext cx="966216" cy="310896"/>
          </a:xfrm>
          <a:prstGeom prst="roundRect">
            <a:avLst>
              <a:gd name="adj" fmla="val 18000"/>
            </a:avLst>
          </a:prstGeom>
          <a:solidFill>
            <a:srgbClr val="F0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9A462A"/>
                </a:solidFill>
                <a:latin typeface="Microsoft YaHei"/>
                <a:ea typeface="Microsoft YaHei"/>
                <a:cs typeface="Microsoft YaHei"/>
              </a:rPr>
              <a:t>人写脚本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632996.0" y="5696712"/>
            <a:ext cx="111192.0" cy="0"/>
          </a:xfrm>
          <a:prstGeom prst="line">
            <a:avLst/>
          </a:prstGeom>
          <a:ln w="22225">
            <a:solidFill>
              <a:srgbClr val="9A462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1761744" y="5541264"/>
            <a:ext cx="966216" cy="310896"/>
          </a:xfrm>
          <a:prstGeom prst="roundRect">
            <a:avLst>
              <a:gd name="adj" fmla="val 18000"/>
            </a:avLst>
          </a:prstGeom>
          <a:solidFill>
            <a:srgbClr val="F0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9A462A"/>
                </a:solidFill>
                <a:latin typeface="Microsoft YaHei"/>
                <a:ea typeface="Microsoft YaHei"/>
                <a:cs typeface="Microsoft YaHei"/>
              </a:rPr>
              <a:t>模型编排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745516.0" y="5696712"/>
            <a:ext cx="111192.0" cy="0"/>
          </a:xfrm>
          <a:prstGeom prst="line">
            <a:avLst/>
          </a:prstGeom>
          <a:ln w="22225">
            <a:solidFill>
              <a:srgbClr val="9A462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2874264" y="5541264"/>
            <a:ext cx="966216" cy="310896"/>
          </a:xfrm>
          <a:prstGeom prst="roundRect">
            <a:avLst>
              <a:gd name="adj" fmla="val 18000"/>
            </a:avLst>
          </a:prstGeom>
          <a:solidFill>
            <a:srgbClr val="F0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9A462A"/>
                </a:solidFill>
                <a:latin typeface="Microsoft YaHei"/>
                <a:ea typeface="Microsoft YaHei"/>
                <a:cs typeface="Microsoft YaHei"/>
              </a:rPr>
              <a:t>自主执行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52544" y="5029200"/>
            <a:ext cx="3483864" cy="9692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98848" y="5120640"/>
            <a:ext cx="3209544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25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执行形态延伸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498848" y="5541264"/>
            <a:ext cx="966216" cy="310896"/>
          </a:xfrm>
          <a:prstGeom prst="roundRect">
            <a:avLst>
              <a:gd name="adj" fmla="val 18000"/>
            </a:avLst>
          </a:prstGeom>
          <a:solidFill>
            <a:srgbClr val="F0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9A462A"/>
                </a:solidFill>
                <a:latin typeface="Microsoft YaHei"/>
                <a:ea typeface="Microsoft YaHei"/>
                <a:cs typeface="Microsoft YaHei"/>
              </a:rPr>
              <a:t>前台 harness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482620.0" y="5696712"/>
            <a:ext cx="111192.0" cy="0"/>
          </a:xfrm>
          <a:prstGeom prst="line">
            <a:avLst/>
          </a:prstGeom>
          <a:ln w="22225">
            <a:solidFill>
              <a:srgbClr val="9A462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5611368" y="5541264"/>
            <a:ext cx="966216" cy="310896"/>
          </a:xfrm>
          <a:prstGeom prst="roundRect">
            <a:avLst>
              <a:gd name="adj" fmla="val 18000"/>
            </a:avLst>
          </a:prstGeom>
          <a:solidFill>
            <a:srgbClr val="F0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9A462A"/>
                </a:solidFill>
                <a:latin typeface="Microsoft YaHei"/>
                <a:ea typeface="Microsoft YaHei"/>
                <a:cs typeface="Microsoft YaHei"/>
              </a:rPr>
              <a:t>异步/后台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595140.0" y="5696712"/>
            <a:ext cx="111192.0" cy="0"/>
          </a:xfrm>
          <a:prstGeom prst="line">
            <a:avLst/>
          </a:prstGeom>
          <a:ln w="22225">
            <a:solidFill>
              <a:srgbClr val="9A462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6723888" y="5541264"/>
            <a:ext cx="966216" cy="310896"/>
          </a:xfrm>
          <a:prstGeom prst="roundRect">
            <a:avLst>
              <a:gd name="adj" fmla="val 18000"/>
            </a:avLst>
          </a:prstGeom>
          <a:solidFill>
            <a:srgbClr val="F0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9A462A"/>
                </a:solidFill>
                <a:latin typeface="Microsoft YaHei"/>
                <a:ea typeface="Microsoft YaHei"/>
                <a:cs typeface="Microsoft YaHei"/>
              </a:rPr>
              <a:t>托管多 Agent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202168" y="5029200"/>
            <a:ext cx="3483864" cy="9692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48472" y="5120640"/>
            <a:ext cx="3209544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③ </a:t>
            </a:r>
            <a:r>
              <a:rPr sz="125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护城河迁移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48472" y="5541264"/>
            <a:ext cx="966216" cy="310896"/>
          </a:xfrm>
          <a:prstGeom prst="roundRect">
            <a:avLst>
              <a:gd name="adj" fmla="val 18000"/>
            </a:avLst>
          </a:prstGeom>
          <a:solidFill>
            <a:srgbClr val="F0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9A462A"/>
                </a:solidFill>
                <a:latin typeface="Microsoft YaHei"/>
                <a:ea typeface="Microsoft YaHei"/>
                <a:cs typeface="Microsoft YaHei"/>
              </a:rPr>
              <a:t>model score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9332244.0" y="5696712"/>
            <a:ext cx="111192.0" cy="0"/>
          </a:xfrm>
          <a:prstGeom prst="line">
            <a:avLst/>
          </a:prstGeom>
          <a:ln w="22225">
            <a:solidFill>
              <a:srgbClr val="9A462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9460992" y="5541264"/>
            <a:ext cx="966216" cy="310896"/>
          </a:xfrm>
          <a:prstGeom prst="roundRect">
            <a:avLst>
              <a:gd name="adj" fmla="val 18000"/>
            </a:avLst>
          </a:prstGeom>
          <a:solidFill>
            <a:srgbClr val="F0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9A462A"/>
                </a:solidFill>
                <a:latin typeface="Microsoft YaHei"/>
                <a:ea typeface="Microsoft YaHei"/>
                <a:cs typeface="Microsoft YaHei"/>
              </a:rPr>
              <a:t>Agent Runtime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0444764.0" y="5696712"/>
            <a:ext cx="111192.0" cy="0"/>
          </a:xfrm>
          <a:prstGeom prst="line">
            <a:avLst/>
          </a:prstGeom>
          <a:ln w="22225">
            <a:solidFill>
              <a:srgbClr val="9A462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10573512" y="5541264"/>
            <a:ext cx="966216" cy="310896"/>
          </a:xfrm>
          <a:prstGeom prst="roundRect">
            <a:avLst>
              <a:gd name="adj" fmla="val 18000"/>
            </a:avLst>
          </a:prstGeom>
          <a:solidFill>
            <a:srgbClr val="F0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9A462A"/>
                </a:solidFill>
                <a:latin typeface="Microsoft YaHei"/>
                <a:ea typeface="Microsoft YaHei"/>
                <a:cs typeface="Microsoft YaHei"/>
              </a:rPr>
              <a:t>+ 协议生态(MCP)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"/>
            <a:ext cx="11155680" cy="8412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0DFD5"/>
                </a:solidFill>
                <a:latin typeface="Microsoft YaHei"/>
                <a:ea typeface="Microsoft YaHei"/>
                <a:cs typeface="Microsoft YaHei"/>
              </a:rPr>
              <a:t>02 · STACK &amp; PARADIGM · 能力谱系三轴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Anthropic Agent 栈与能力范式:可控可验证的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2412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图2: Agent 能力谱系三轴与 Claude Code Runtime · 资料来源: Claude Code / Agent SDK / Managed Agents 文档;指标引自《How AI Is Transforming Work at Anthropic》(2025-12) ·〔强〕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68580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91440" cy="18288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170432"/>
            <a:ext cx="5486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能力谱系三轴  ·  Capability Spectrum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09344"/>
            <a:ext cx="960120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自主度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1627632"/>
            <a:ext cx="1450848" cy="365760"/>
          </a:xfrm>
          <a:prstGeom prst="roundRect">
            <a:avLst>
              <a:gd name="adj" fmla="val 14000"/>
            </a:avLst>
          </a:prstGeom>
          <a:solidFill>
            <a:srgbClr val="DD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80" b="1" i="0">
                <a:solidFill>
                  <a:srgbClr val="355C7D"/>
                </a:solidFill>
                <a:latin typeface="Microsoft YaHei"/>
                <a:ea typeface="Microsoft YaHei"/>
                <a:cs typeface="Microsoft YaHei"/>
              </a:rPr>
              <a:t>Static Workflow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4860.0" y="1810512"/>
            <a:ext cx="87784.0" cy="0"/>
          </a:xfrm>
          <a:prstGeom prst="line">
            <a:avLst/>
          </a:prstGeom>
          <a:ln w="19050">
            <a:solidFill>
              <a:srgbClr val="C15F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023616" y="1627632"/>
            <a:ext cx="1450848" cy="365760"/>
          </a:xfrm>
          <a:prstGeom prst="roundRect">
            <a:avLst>
              <a:gd name="adj" fmla="val 14000"/>
            </a:avLst>
          </a:prstGeom>
          <a:solidFill>
            <a:srgbClr val="F0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80" b="1" i="0">
                <a:solidFill>
                  <a:srgbClr val="9A462A"/>
                </a:solidFill>
                <a:latin typeface="Microsoft YaHei"/>
                <a:ea typeface="Microsoft YaHei"/>
                <a:cs typeface="Microsoft YaHei"/>
              </a:rPr>
              <a:t>Dynamic Workflows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485436.0" y="1810512"/>
            <a:ext cx="87784.0" cy="0"/>
          </a:xfrm>
          <a:prstGeom prst="line">
            <a:avLst/>
          </a:prstGeom>
          <a:ln w="19050">
            <a:solidFill>
              <a:srgbClr val="C15F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584192" y="1627632"/>
            <a:ext cx="1450848" cy="365760"/>
          </a:xfrm>
          <a:prstGeom prst="roundRect">
            <a:avLst>
              <a:gd name="adj" fmla="val 14000"/>
            </a:avLst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8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Autonomous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002536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人写流程 → 运行时模型驱动编排(Agent SDK)→ 自主执行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340864"/>
            <a:ext cx="960120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托管度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2359152"/>
            <a:ext cx="1450848" cy="365760"/>
          </a:xfrm>
          <a:prstGeom prst="roundRect">
            <a:avLst>
              <a:gd name="adj" fmla="val 14000"/>
            </a:avLst>
          </a:prstGeom>
          <a:solidFill>
            <a:srgbClr val="DD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80" b="1" i="0">
                <a:solidFill>
                  <a:srgbClr val="355C7D"/>
                </a:solidFill>
                <a:latin typeface="Microsoft YaHei"/>
                <a:ea typeface="Microsoft YaHei"/>
                <a:cs typeface="Microsoft YaHei"/>
              </a:rPr>
              <a:t>Local Harness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24860.0" y="2542032"/>
            <a:ext cx="87784.0" cy="0"/>
          </a:xfrm>
          <a:prstGeom prst="line">
            <a:avLst/>
          </a:prstGeom>
          <a:ln w="19050">
            <a:solidFill>
              <a:srgbClr val="C15F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023616" y="2359152"/>
            <a:ext cx="1450848" cy="365760"/>
          </a:xfrm>
          <a:prstGeom prst="roundRect">
            <a:avLst>
              <a:gd name="adj" fmla="val 14000"/>
            </a:avLst>
          </a:prstGeom>
          <a:solidFill>
            <a:srgbClr val="F0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80" b="1" i="0">
                <a:solidFill>
                  <a:srgbClr val="9A462A"/>
                </a:solidFill>
                <a:latin typeface="Microsoft YaHei"/>
                <a:ea typeface="Microsoft YaHei"/>
                <a:cs typeface="Microsoft YaHei"/>
              </a:rPr>
              <a:t>Async / 后台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485436.0" y="2542032"/>
            <a:ext cx="87784.0" cy="0"/>
          </a:xfrm>
          <a:prstGeom prst="line">
            <a:avLst/>
          </a:prstGeom>
          <a:ln w="19050">
            <a:solidFill>
              <a:srgbClr val="C15F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584192" y="2359152"/>
            <a:ext cx="1450848" cy="365760"/>
          </a:xfrm>
          <a:prstGeom prst="roundRect">
            <a:avLst>
              <a:gd name="adj" fmla="val 14000"/>
            </a:avLst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8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Managed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2734056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本地 harness → 异步/后台长任务 → 托管(Anthropic 跑 harness+沙箱)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072384"/>
            <a:ext cx="960120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协作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3090672"/>
            <a:ext cx="1450848" cy="365760"/>
          </a:xfrm>
          <a:prstGeom prst="roundRect">
            <a:avLst>
              <a:gd name="adj" fmla="val 14000"/>
            </a:avLst>
          </a:prstGeom>
          <a:solidFill>
            <a:srgbClr val="DD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80" b="1" i="0">
                <a:solidFill>
                  <a:srgbClr val="355C7D"/>
                </a:solidFill>
                <a:latin typeface="Microsoft YaHei"/>
                <a:ea typeface="Microsoft YaHei"/>
                <a:cs typeface="Microsoft YaHei"/>
              </a:rPr>
              <a:t>单 Agent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924860.0" y="3273552"/>
            <a:ext cx="87784.0" cy="0"/>
          </a:xfrm>
          <a:prstGeom prst="line">
            <a:avLst/>
          </a:prstGeom>
          <a:ln w="19050">
            <a:solidFill>
              <a:srgbClr val="C15F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023616" y="3090672"/>
            <a:ext cx="1450848" cy="365760"/>
          </a:xfrm>
          <a:prstGeom prst="roundRect">
            <a:avLst>
              <a:gd name="adj" fmla="val 14000"/>
            </a:avLst>
          </a:prstGeom>
          <a:solidFill>
            <a:srgbClr val="F0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80" b="1" i="0">
                <a:solidFill>
                  <a:srgbClr val="9A462A"/>
                </a:solidFill>
                <a:latin typeface="Microsoft YaHei"/>
                <a:ea typeface="Microsoft YaHei"/>
                <a:cs typeface="Microsoft YaHei"/>
              </a:rPr>
              <a:t>Sub-agent 编排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485436.0" y="3273552"/>
            <a:ext cx="87784.0" cy="0"/>
          </a:xfrm>
          <a:prstGeom prst="line">
            <a:avLst/>
          </a:prstGeom>
          <a:ln w="19050">
            <a:solidFill>
              <a:srgbClr val="C15F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584192" y="3090672"/>
            <a:ext cx="1450848" cy="365760"/>
          </a:xfrm>
          <a:prstGeom prst="roundRect">
            <a:avLst>
              <a:gd name="adj" fmla="val 14000"/>
            </a:avLst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8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 Agent 编排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3465576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单体 → 子 Agent 独立上下文 → Dynamic Workflows 千级并行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913632"/>
            <a:ext cx="5532120" cy="896112"/>
          </a:xfrm>
          <a:prstGeom prst="roundRect">
            <a:avLst>
              <a:gd name="adj" fmla="val 5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3913632"/>
            <a:ext cx="73152" cy="896112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4014216"/>
            <a:ext cx="5221224" cy="7132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设计哲学:可控可验证 Runtime,而非黑箱托管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权限边界 + 人在环验证 + 沙箱/审计 </a:t>
            </a:r>
            <a:r>
              <a:rPr sz="95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让自主度可以安全上移;能力沉淀进可被检验的 Agent Loop。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63640" y="1188720"/>
            <a:ext cx="91440" cy="18288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1170432"/>
            <a:ext cx="5486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Claude Code 架构  ·  Agent Runtime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1645920"/>
            <a:ext cx="1245870" cy="384048"/>
          </a:xfrm>
          <a:prstGeom prst="roundRect">
            <a:avLst>
              <a:gd name="adj" fmla="val 18000"/>
            </a:avLst>
          </a:prstGeom>
          <a:solidFill>
            <a:srgbClr val="2A4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目标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527066.0" y="1837944"/>
            <a:ext cx="111192.0" cy="0"/>
          </a:xfrm>
          <a:prstGeom prst="line">
            <a:avLst/>
          </a:prstGeom>
          <a:ln w="2222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655814" y="1645920"/>
            <a:ext cx="1245870" cy="384048"/>
          </a:xfrm>
          <a:prstGeom prst="roundRect">
            <a:avLst>
              <a:gd name="adj" fmla="val 18000"/>
            </a:avLst>
          </a:prstGeom>
          <a:solidFill>
            <a:srgbClr val="2A4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工具调用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919240.0" y="1837944"/>
            <a:ext cx="111192.0" cy="0"/>
          </a:xfrm>
          <a:prstGeom prst="line">
            <a:avLst/>
          </a:prstGeom>
          <a:ln w="2222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047988" y="1645920"/>
            <a:ext cx="1245870" cy="384048"/>
          </a:xfrm>
          <a:prstGeom prst="roundRect">
            <a:avLst>
              <a:gd name="adj" fmla="val 18000"/>
            </a:avLst>
          </a:prstGeom>
          <a:solidFill>
            <a:srgbClr val="2A4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0311414.0" y="1837944"/>
            <a:ext cx="111192.0" cy="0"/>
          </a:xfrm>
          <a:prstGeom prst="line">
            <a:avLst/>
          </a:prstGeom>
          <a:ln w="2222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10440162" y="1645920"/>
            <a:ext cx="1245870" cy="384048"/>
          </a:xfrm>
          <a:prstGeom prst="roundRect">
            <a:avLst>
              <a:gd name="adj" fmla="val 18000"/>
            </a:avLst>
          </a:prstGeom>
          <a:solidFill>
            <a:srgbClr val="2A4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上下文管理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63640" y="2121408"/>
            <a:ext cx="5422392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↺ </a:t>
            </a:r>
            <a:r>
              <a:rPr sz="90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循环至目标达成 · ~92% 上下文自动压缩(compaction)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63640" y="2432304"/>
            <a:ext cx="5422392" cy="731520"/>
          </a:xfrm>
          <a:prstGeom prst="roundRect">
            <a:avLst>
              <a:gd name="adj" fmla="val 5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63640" y="2432304"/>
            <a:ext cx="73152" cy="731520"/>
          </a:xfrm>
          <a:prstGeom prst="rect">
            <a:avLst/>
          </a:prstGeom>
          <a:solidFill>
            <a:srgbClr val="355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64808" y="2532888"/>
            <a:ext cx="5111496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355C7D"/>
                </a:solidFill>
                <a:latin typeface="Microsoft YaHei"/>
                <a:ea typeface="Microsoft YaHei"/>
                <a:cs typeface="Microsoft YaHei"/>
              </a:rPr>
              <a:t>Sub-agents · 子 Agent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独立上下文窗口 + 自定系统提示 + 专属工具/权限;主 Agent 委派、子 Agent 回传摘要(隔离上下文)。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63640" y="3218688"/>
            <a:ext cx="5422392" cy="731520"/>
          </a:xfrm>
          <a:prstGeom prst="roundRect">
            <a:avLst>
              <a:gd name="adj" fmla="val 5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263640" y="3218688"/>
            <a:ext cx="73152" cy="731520"/>
          </a:xfrm>
          <a:prstGeom prst="rect">
            <a:avLst/>
          </a:prstGeom>
          <a:solidFill>
            <a:srgbClr val="355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64808" y="3319272"/>
            <a:ext cx="5111496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355C7D"/>
                </a:solidFill>
                <a:latin typeface="Microsoft YaHei"/>
                <a:ea typeface="Microsoft YaHei"/>
                <a:cs typeface="Microsoft YaHei"/>
              </a:rPr>
              <a:t>权限边界 · Permission Boundary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ask / auto-accept / plan / auto 多档;checkpoints 可回滚、allowlist 预批、组织-项目-个人分层授权。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63640" y="4005072"/>
            <a:ext cx="5422392" cy="804672"/>
          </a:xfrm>
          <a:prstGeom prst="roundRect">
            <a:avLst>
              <a:gd name="adj" fmla="val 5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63640" y="4005072"/>
            <a:ext cx="73152" cy="804672"/>
          </a:xfrm>
          <a:prstGeom prst="rect">
            <a:avLst/>
          </a:prstGeom>
          <a:solidFill>
            <a:srgbClr val="355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64808" y="4105656"/>
            <a:ext cx="5111496" cy="6217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355C7D"/>
                </a:solidFill>
                <a:latin typeface="Microsoft YaHei"/>
                <a:ea typeface="Microsoft YaHei"/>
                <a:cs typeface="Microsoft YaHei"/>
              </a:rPr>
              <a:t>多入口 · 一次改进多界面释放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终端 CLI · VS Code / JetBrains · 桌面 App · Web/iOS(2025-10)· GitHub Actions/GitLab CI · Slack;另有 Agent SDK(可编程)与 MCP(统一工具接口)。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010912"/>
            <a:ext cx="91440" cy="18288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" y="4992624"/>
            <a:ext cx="82296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可观测的能力跃迁(Anthropic 内部 · 2025 年 2 月 → 8 月)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2920" y="5340096"/>
            <a:ext cx="3563112" cy="960120"/>
          </a:xfrm>
          <a:prstGeom prst="roundRect">
            <a:avLst>
              <a:gd name="adj" fmla="val 8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920" y="5340096"/>
            <a:ext cx="73152" cy="96012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5800" y="5394960"/>
            <a:ext cx="3325368" cy="8686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9.8 → 21.2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连续动作 / 链式工具调用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无人工干预的连续工具调用(峰值 +116%)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12920" y="5340096"/>
            <a:ext cx="3563112" cy="960120"/>
          </a:xfrm>
          <a:prstGeom prst="roundRect">
            <a:avLst>
              <a:gd name="adj" fmla="val 8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12920" y="5340096"/>
            <a:ext cx="73152" cy="96012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495800" y="5394960"/>
            <a:ext cx="3325368" cy="8686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3.2 → 3.8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任务复杂度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1–5 分制(1=基础编辑,5=专家级任务)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122920" y="5340096"/>
            <a:ext cx="3563112" cy="960120"/>
          </a:xfrm>
          <a:prstGeom prst="roundRect">
            <a:avLst>
              <a:gd name="adj" fmla="val 8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122920" y="5340096"/>
            <a:ext cx="73152" cy="96012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305800" y="5394960"/>
            <a:ext cx="3325368" cy="8686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14% → 37%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「实现新功能」占比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指 Claude Code 使用中投入新功能的比例(非「功能由 AI 造」)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"/>
            <a:ext cx="11155680" cy="8412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0DFD5"/>
                </a:solidFill>
                <a:latin typeface="Microsoft YaHei"/>
                <a:ea typeface="Microsoft YaHei"/>
                <a:cs typeface="Microsoft YaHei"/>
              </a:rPr>
              <a:t>03 · THE BOOTSTRAPPING FLYWHEEL · AI building AI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自举飞轮:编码是 AI 造 AI 的高可信闭环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2412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图4: 自举飞轮与内部研究证据 · 资料来源: Anthropic《How AI Is Transforming Work at Anthropic》(2025-12)、《When AI builds itself》(2026-06) · 框架: 早期可测加速,非自主 RSI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68580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91440" cy="18288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170432"/>
            <a:ext cx="512064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自举飞轮  ·  Bootstrapping Flywheel</a:t>
            </a:r>
          </a:p>
        </p:txBody>
      </p:sp>
      <p:sp>
        <p:nvSpPr>
          <p:cNvPr id="10" name="Donut 9"/>
          <p:cNvSpPr/>
          <p:nvPr/>
        </p:nvSpPr>
        <p:spPr>
          <a:xfrm>
            <a:off x="1746504" y="2176272"/>
            <a:ext cx="2450592" cy="2450592"/>
          </a:xfrm>
          <a:prstGeom prst="donut">
            <a:avLst>
              <a:gd name="adj" fmla="val 16000"/>
            </a:avLst>
          </a:prstGeom>
          <a:solidFill>
            <a:srgbClr val="F0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2160000">
            <a:off x="3573138" y="2291410"/>
            <a:ext cx="237744" cy="237744"/>
          </a:xfrm>
          <a:prstGeom prst="triangle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6480000">
            <a:off x="4018253" y="3661333"/>
            <a:ext cx="237744" cy="237744"/>
          </a:xfrm>
          <a:prstGeom prst="triangle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10800000">
            <a:off x="2852928" y="4507992"/>
            <a:ext cx="237744" cy="237744"/>
          </a:xfrm>
          <a:prstGeom prst="triangle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 rot="15120000">
            <a:off x="1687602" y="3661333"/>
            <a:ext cx="237744" cy="237744"/>
          </a:xfrm>
          <a:prstGeom prst="triangle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 rot="19440000">
            <a:off x="2132717" y="2291410"/>
            <a:ext cx="237744" cy="237744"/>
          </a:xfrm>
          <a:prstGeom prst="triangle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093976" y="1883664"/>
            <a:ext cx="1755648" cy="585216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C15F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0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模型变强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59301" y="2730322"/>
            <a:ext cx="1755648" cy="585216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C15F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0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Claude Code 变强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14186" y="4100245"/>
            <a:ext cx="1755648" cy="585216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C15F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③ </a:t>
            </a:r>
            <a:r>
              <a:rPr sz="10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内部研发提速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3765" y="4100245"/>
            <a:ext cx="1755648" cy="585216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C15F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④ </a:t>
            </a:r>
            <a:r>
              <a:rPr sz="10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真实反馈回流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650" y="2730322"/>
            <a:ext cx="1755648" cy="585216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C15F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⑤ </a:t>
            </a:r>
            <a:r>
              <a:rPr sz="10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反哺下一代模型</a:t>
            </a:r>
          </a:p>
        </p:txBody>
      </p:sp>
      <p:sp>
        <p:nvSpPr>
          <p:cNvPr id="21" name="Oval 20"/>
          <p:cNvSpPr/>
          <p:nvPr/>
        </p:nvSpPr>
        <p:spPr>
          <a:xfrm>
            <a:off x="2389784" y="2819552"/>
            <a:ext cx="1164031" cy="1164031"/>
          </a:xfrm>
          <a:prstGeom prst="ellipse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自举飞轮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building AI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77840" y="1188720"/>
            <a:ext cx="91440" cy="18288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42432" y="1170432"/>
            <a:ext cx="603504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为何编码 = 高可信闭环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1554480"/>
            <a:ext cx="6108192" cy="1755648"/>
          </a:xfrm>
          <a:prstGeom prst="roundRect">
            <a:avLst>
              <a:gd name="adj" fmla="val 5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77840" y="1554480"/>
            <a:ext cx="73152" cy="1755648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79008" y="1655064"/>
            <a:ext cx="5797296" cy="15727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可验证性:编码闭环的核心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100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清晰输入输出:issue / spec 进,补丁 + 通过的测试出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10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可自动验证:</a:t>
            </a:r>
            <a:r>
              <a:rPr sz="100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「代码能跑、测试是否通过」即确定性评分(Demystifying evals, 2026-01)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10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失败轨迹 + 测试结果 = 训练/评测信号</a:t>
            </a:r>
            <a:r>
              <a:rPr sz="100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(Code RL:reward signals &amp; verifiers)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10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Dario:</a:t>
            </a:r>
            <a:r>
              <a:rPr sz="100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可验证任务(编码)1–2 年内可达;不可验证任务才是真不确定性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77840" y="3456432"/>
            <a:ext cx="6108192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编码的三重身份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77840" y="3749039"/>
            <a:ext cx="1889760" cy="932688"/>
          </a:xfrm>
          <a:prstGeom prst="roundRect">
            <a:avLst>
              <a:gd name="adj" fmla="val 5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77840" y="3749039"/>
            <a:ext cx="73152" cy="932688"/>
          </a:xfrm>
          <a:prstGeom prst="rect">
            <a:avLst/>
          </a:prstGeom>
          <a:solidFill>
            <a:srgbClr val="355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79008" y="3849623"/>
            <a:ext cx="1578864" cy="7498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355C7D"/>
                </a:solidFill>
                <a:latin typeface="Microsoft YaHei"/>
                <a:ea typeface="Microsoft YaHei"/>
                <a:cs typeface="Microsoft YaHei"/>
              </a:rPr>
              <a:t>营收产品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8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Claude Code 成营收主轴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87056" y="3749039"/>
            <a:ext cx="1889760" cy="932688"/>
          </a:xfrm>
          <a:prstGeom prst="roundRect">
            <a:avLst>
              <a:gd name="adj" fmla="val 5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687056" y="3749039"/>
            <a:ext cx="73152" cy="932688"/>
          </a:xfrm>
          <a:prstGeom prst="rect">
            <a:avLst/>
          </a:prstGeom>
          <a:solidFill>
            <a:srgbClr val="355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88224" y="3849623"/>
            <a:ext cx="1578864" cy="7498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355C7D"/>
                </a:solidFill>
                <a:latin typeface="Microsoft YaHei"/>
                <a:ea typeface="Microsoft YaHei"/>
                <a:cs typeface="Microsoft YaHei"/>
              </a:rPr>
              <a:t>困难任务分发器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8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把真实难题喂给模型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796272" y="3749039"/>
            <a:ext cx="1889760" cy="932688"/>
          </a:xfrm>
          <a:prstGeom prst="roundRect">
            <a:avLst>
              <a:gd name="adj" fmla="val 5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96272" y="3749039"/>
            <a:ext cx="73152" cy="932688"/>
          </a:xfrm>
          <a:prstGeom prst="rect">
            <a:avLst/>
          </a:prstGeom>
          <a:solidFill>
            <a:srgbClr val="355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97440" y="3849623"/>
            <a:ext cx="1578864" cy="7498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355C7D"/>
                </a:solidFill>
                <a:latin typeface="Microsoft YaHei"/>
                <a:ea typeface="Microsoft YaHei"/>
                <a:cs typeface="Microsoft YaHei"/>
              </a:rPr>
              <a:t>模型改进来源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8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轨迹/反馈回流训练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956048"/>
            <a:ext cx="91440" cy="18288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" y="4937760"/>
            <a:ext cx="10058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内部研究证据 ·《How AI Is Transforming Work at Anthropic》(Anthropic, 2025-12)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285232"/>
            <a:ext cx="2644902" cy="969264"/>
          </a:xfrm>
          <a:prstGeom prst="roundRect">
            <a:avLst>
              <a:gd name="adj" fmla="val 8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5285232"/>
            <a:ext cx="73152" cy="969264"/>
          </a:xfrm>
          <a:prstGeom prst="rect">
            <a:avLst/>
          </a:prstGeom>
          <a:solidFill>
            <a:srgbClr val="355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5340096"/>
            <a:ext cx="2407158" cy="8778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355C7D"/>
                </a:solidFill>
                <a:latin typeface="Microsoft YaHei"/>
                <a:ea typeface="Microsoft YaHei"/>
                <a:cs typeface="Microsoft YaHei"/>
              </a:rPr>
              <a:t>132 · 53 · 200K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样本规模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工程师 · 深度访谈 · Claude Code 会话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348990" y="5285232"/>
            <a:ext cx="2644902" cy="969264"/>
          </a:xfrm>
          <a:prstGeom prst="roundRect">
            <a:avLst>
              <a:gd name="adj" fmla="val 8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348990" y="5285232"/>
            <a:ext cx="73152" cy="969264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31870" y="5340096"/>
            <a:ext cx="2407158" cy="8778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4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+50%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生产率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员工自报 · 全公司平均(用量 28%→59%)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95060" y="5285232"/>
            <a:ext cx="2644902" cy="969264"/>
          </a:xfrm>
          <a:prstGeom prst="roundRect">
            <a:avLst>
              <a:gd name="adj" fmla="val 8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95060" y="5285232"/>
            <a:ext cx="73152" cy="969264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77940" y="5340096"/>
            <a:ext cx="2407158" cy="8778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4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+67%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merged PR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人均每日 · Engineering 全面采用后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41130" y="5285232"/>
            <a:ext cx="2644902" cy="969264"/>
          </a:xfrm>
          <a:prstGeom prst="roundRect">
            <a:avLst>
              <a:gd name="adj" fmla="val 8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41130" y="5285232"/>
            <a:ext cx="73152" cy="969264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24010" y="5340096"/>
            <a:ext cx="2407158" cy="8778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4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27%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本不会做的任务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占 Claude 辅助工作的比例(非全部任务)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"/>
            <a:ext cx="11155680" cy="8412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0DFD5"/>
                </a:solidFill>
                <a:latin typeface="Microsoft YaHei"/>
                <a:ea typeface="Microsoft YaHei"/>
                <a:cs typeface="Microsoft YaHei"/>
              </a:rPr>
              <a:t>04 · EXPANSION · 可验证性是外扩速度的瓶颈变量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 Coding Agent 到通用知识工作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2412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图5: 共享栈与编码→通用知识工作外扩 · 资料来源: Anthropic Claude Cowork(2026-01)、Agent Skills/插件、Claude Code/Agent SDK 文档 ·〔向〕外扩节奏为方向性判断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68580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91440" cy="18288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170432"/>
            <a:ext cx="10058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迁移逻辑:编码可验证性最高 → 先突破 → 再外扩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554480"/>
            <a:ext cx="2686050" cy="438912"/>
          </a:xfrm>
          <a:prstGeom prst="roundRect">
            <a:avLst>
              <a:gd name="adj" fmla="val 18000"/>
            </a:avLst>
          </a:prstGeom>
          <a:solidFill>
            <a:srgbClr val="F0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9A462A"/>
                </a:solidFill>
                <a:latin typeface="Microsoft YaHei"/>
                <a:ea typeface="Microsoft YaHei"/>
                <a:cs typeface="Microsoft YaHei"/>
              </a:rPr>
              <a:t>编码:可验证性最高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06526.0" y="1773936"/>
            <a:ext cx="111192.0" cy="0"/>
          </a:xfrm>
          <a:prstGeom prst="line">
            <a:avLst/>
          </a:prstGeom>
          <a:ln w="22225">
            <a:solidFill>
              <a:srgbClr val="9A462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35274" y="1554480"/>
            <a:ext cx="2686050" cy="438912"/>
          </a:xfrm>
          <a:prstGeom prst="roundRect">
            <a:avLst>
              <a:gd name="adj" fmla="val 18000"/>
            </a:avLst>
          </a:prstGeom>
          <a:solidFill>
            <a:srgbClr val="F0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9A462A"/>
                </a:solidFill>
                <a:latin typeface="Microsoft YaHei"/>
                <a:ea typeface="Microsoft YaHei"/>
                <a:cs typeface="Microsoft YaHei"/>
              </a:rPr>
              <a:t>打穿楔子(先突破)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38880.0" y="1773936"/>
            <a:ext cx="111192.0" cy="0"/>
          </a:xfrm>
          <a:prstGeom prst="line">
            <a:avLst/>
          </a:prstGeom>
          <a:ln w="22225">
            <a:solidFill>
              <a:srgbClr val="9A462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167628" y="1554480"/>
            <a:ext cx="2686050" cy="438912"/>
          </a:xfrm>
          <a:prstGeom prst="roundRect">
            <a:avLst>
              <a:gd name="adj" fmla="val 18000"/>
            </a:avLst>
          </a:prstGeom>
          <a:solidFill>
            <a:srgbClr val="F0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9A462A"/>
                </a:solidFill>
                <a:latin typeface="Microsoft YaHei"/>
                <a:ea typeface="Microsoft YaHei"/>
                <a:cs typeface="Microsoft YaHei"/>
              </a:rPr>
              <a:t>共享栈复用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71234.0" y="1773936"/>
            <a:ext cx="111192.0" cy="0"/>
          </a:xfrm>
          <a:prstGeom prst="line">
            <a:avLst/>
          </a:prstGeom>
          <a:ln w="22225">
            <a:solidFill>
              <a:srgbClr val="9A462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999982" y="1554480"/>
            <a:ext cx="2686050" cy="438912"/>
          </a:xfrm>
          <a:prstGeom prst="roundRect">
            <a:avLst>
              <a:gd name="adj" fmla="val 18000"/>
            </a:avLst>
          </a:prstGeom>
          <a:solidFill>
            <a:srgbClr val="F0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9A462A"/>
                </a:solidFill>
                <a:latin typeface="Microsoft YaHei"/>
                <a:ea typeface="Microsoft YaHei"/>
                <a:cs typeface="Microsoft YaHei"/>
              </a:rPr>
              <a:t>外扩通用知识工作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011680"/>
            <a:ext cx="11183112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图5: </a:t>
            </a:r>
            <a:r>
              <a:rPr sz="80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编码楔子 → 平台外扩路径(高价值任务 = 端到端自主闭环) · 资料来源: 本研究整理、NVIDIA GTC 场景分层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249424"/>
            <a:ext cx="5504688" cy="1170432"/>
          </a:xfrm>
          <a:prstGeom prst="roundRect">
            <a:avLst>
              <a:gd name="adj" fmla="val 5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249424"/>
            <a:ext cx="73152" cy="1170432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2350008"/>
            <a:ext cx="5193792" cy="9875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载体 ① Cowork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6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把 Claude Code 能力带到通用知识工作的桌面级 Agent:授权文件夹后自主读写、跨本地应用与连接器(Drive/Gmail)交付成品。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6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研究预览 2026-01 · 领域插件(财务 / HR / 工程)。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529584"/>
            <a:ext cx="5504688" cy="1188720"/>
          </a:xfrm>
          <a:prstGeom prst="roundRect">
            <a:avLst>
              <a:gd name="adj" fmla="val 5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529584"/>
            <a:ext cx="73152" cy="118872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3630168"/>
            <a:ext cx="5193792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载体 ② 开源插件 / Agent Skills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6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销售 / 法务 / 财务等角色专精能力包;同一套栈把内部沉淀快速产品化为外部「角色 Agent」。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6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MCP 统一工具接口让连接器与技能即插即用。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1344" y="2231136"/>
            <a:ext cx="91440" cy="18288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45936" y="2212848"/>
            <a:ext cx="5486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共享栈优势:同一引擎,内外复用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84264" y="2542032"/>
            <a:ext cx="4498848" cy="566928"/>
          </a:xfrm>
          <a:prstGeom prst="roundRect">
            <a:avLst>
              <a:gd name="adj" fmla="val 6000"/>
            </a:avLst>
          </a:prstGeom>
          <a:solidFill>
            <a:srgbClr val="DD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355C7D"/>
                </a:solidFill>
                <a:latin typeface="Microsoft YaHei"/>
                <a:ea typeface="Microsoft YaHei"/>
                <a:cs typeface="Microsoft YaHei"/>
              </a:rPr>
              <a:t>底层  </a:t>
            </a:r>
            <a:r>
              <a:rPr sz="11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Model + Agent Loop + MCP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933688" y="3141878"/>
            <a:ext cx="0" cy="208484"/>
          </a:xfrm>
          <a:prstGeom prst="line">
            <a:avLst/>
          </a:prstGeom>
          <a:ln w="25400">
            <a:solidFill>
              <a:srgbClr val="C15F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684264" y="3383280"/>
            <a:ext cx="4498848" cy="566928"/>
          </a:xfrm>
          <a:prstGeom prst="roundRect">
            <a:avLst>
              <a:gd name="adj" fmla="val 6000"/>
            </a:avLst>
          </a:prstGeom>
          <a:solidFill>
            <a:srgbClr val="F0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9A462A"/>
                </a:solidFill>
                <a:latin typeface="Microsoft YaHei"/>
                <a:ea typeface="Microsoft YaHei"/>
                <a:cs typeface="Microsoft YaHei"/>
              </a:rPr>
              <a:t>沉淀  </a:t>
            </a:r>
            <a:r>
              <a:rPr sz="11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内部沉淀的 Agent 能力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33688" y="3983126"/>
            <a:ext cx="0" cy="208484"/>
          </a:xfrm>
          <a:prstGeom prst="line">
            <a:avLst/>
          </a:prstGeom>
          <a:ln w="25400">
            <a:solidFill>
              <a:srgbClr val="C15F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684264" y="4224528"/>
            <a:ext cx="4498848" cy="566928"/>
          </a:xfrm>
          <a:prstGeom prst="roundRect">
            <a:avLst>
              <a:gd name="adj" fmla="val 6000"/>
            </a:avLst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产品  </a:t>
            </a:r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产品化为外部「角色 Agent」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882896"/>
            <a:ext cx="5504688" cy="1243584"/>
          </a:xfrm>
          <a:prstGeom prst="roundRect">
            <a:avLst>
              <a:gd name="adj" fmla="val 5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4882896"/>
            <a:ext cx="73152" cy="124358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4983480"/>
            <a:ext cx="5193792" cy="10607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核心瓶颈:非编码领域「可验证性」弱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评测标准模糊、反馈回流慢 —— 没有「跑测试即评分」的确定性信号。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8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→ 可验证性 = 外扩速度的瓶颈变量。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1344" y="4882896"/>
            <a:ext cx="5504688" cy="1243584"/>
          </a:xfrm>
          <a:prstGeom prst="roundRect">
            <a:avLst>
              <a:gd name="adj" fmla="val 5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81344" y="4882896"/>
            <a:ext cx="73152" cy="1243584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82512" y="4983480"/>
            <a:ext cx="5193792" cy="10607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路径判断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先守编码楔子,再平台扩张;可验证性强的领域优先被 Agent 化。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弱可验证领域:靠人在环 + 评测建设逐步补齐反馈闭环。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"/>
            <a:ext cx="11155680" cy="8412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0DFD5"/>
                </a:solidFill>
                <a:latin typeface="Microsoft YaHei"/>
                <a:ea typeface="Microsoft YaHei"/>
                <a:cs typeface="Microsoft YaHei"/>
              </a:rPr>
              <a:t>05 · ENTERPRISE GO-TO-MARKET · 卖 Token → 卖组织提速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面向 ToB 的布局与动作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2412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图6: Anthropic 年化收入轨迹与 B 端市场地位 · 资料来源: The Information、Menlo Ventures、Ramp、国泰海通证券(2026-05-30) ·〔强〕2024末~$1B;余为报道/券商口径〔中〕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68580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188720"/>
            <a:ext cx="91440" cy="18288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170432"/>
            <a:ext cx="493776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年化收入(ARR)轨迹(估计, $B)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50392" y="3273552"/>
            <a:ext cx="3931920" cy="0"/>
          </a:xfrm>
          <a:prstGeom prst="line">
            <a:avLst/>
          </a:prstGeom>
          <a:ln w="12700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96112" y="3227555"/>
            <a:ext cx="820674" cy="45997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770355"/>
            <a:ext cx="1076706" cy="438912"/>
          </a:xfrm>
          <a:prstGeom prst="rect">
            <a:avLst/>
          </a:prstGeom>
          <a:noFill/>
        </p:spPr>
        <p:txBody>
          <a:bodyPr wrap="square" lIns="36576" rIns="36576" tIns="18288" bIns="18288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$1B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〔强〕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310128"/>
            <a:ext cx="1076706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2024 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17954" y="2859579"/>
            <a:ext cx="820674" cy="413973"/>
          </a:xfrm>
          <a:prstGeom prst="rect">
            <a:avLst/>
          </a:prstGeom>
          <a:solidFill>
            <a:srgbClr val="355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89938" y="2402379"/>
            <a:ext cx="1076706" cy="438912"/>
          </a:xfrm>
          <a:prstGeom prst="rect">
            <a:avLst/>
          </a:prstGeom>
          <a:noFill/>
        </p:spPr>
        <p:txBody>
          <a:bodyPr wrap="square" lIns="36576" rIns="36576" tIns="18288" bIns="18288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$9B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〔中〕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9938" y="3310128"/>
            <a:ext cx="1076706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2025 末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39796" y="2629593"/>
            <a:ext cx="820674" cy="643959"/>
          </a:xfrm>
          <a:prstGeom prst="rect">
            <a:avLst/>
          </a:prstGeom>
          <a:solidFill>
            <a:srgbClr val="355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11780" y="2172393"/>
            <a:ext cx="1076706" cy="438912"/>
          </a:xfrm>
          <a:prstGeom prst="rect">
            <a:avLst/>
          </a:prstGeom>
          <a:noFill/>
        </p:spPr>
        <p:txBody>
          <a:bodyPr wrap="square" lIns="36576" rIns="36576" tIns="18288" bIns="18288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$14B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〔中〕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1780" y="3310128"/>
            <a:ext cx="1076706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2026 Q1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61638" y="1893640"/>
            <a:ext cx="820674" cy="1379912"/>
          </a:xfrm>
          <a:prstGeom prst="rect">
            <a:avLst/>
          </a:prstGeom>
          <a:solidFill>
            <a:srgbClr val="9A4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33622" y="1436440"/>
            <a:ext cx="1076706" cy="438912"/>
          </a:xfrm>
          <a:prstGeom prst="rect">
            <a:avLst/>
          </a:prstGeom>
          <a:noFill/>
        </p:spPr>
        <p:txBody>
          <a:bodyPr wrap="square" lIns="36576" rIns="36576" tIns="18288" bIns="18288" anchor="b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~$30B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〔中·券商〕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33622" y="3310128"/>
            <a:ext cx="1076706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2026 ARR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3712463"/>
            <a:ext cx="457200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图6: </a:t>
            </a:r>
            <a:r>
              <a:rPr sz="85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Anthropic 年化收入轨迹(多源口径)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资料来源: The Information、国泰海通证券(2026-05-30)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114800"/>
            <a:ext cx="4617720" cy="1956816"/>
          </a:xfrm>
          <a:prstGeom prst="roundRect">
            <a:avLst>
              <a:gd name="adj" fmla="val 5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114800"/>
            <a:ext cx="73152" cy="1956816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" y="4215384"/>
            <a:ext cx="4306824" cy="17739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B 端经济学:高价值任务驱动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19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约 25% 高价值场景创造约 80% 收入(NVIDIA GTC 场景分层)。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19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单用户变现 ≈ OpenAI 的 8×;企业 API 份额 12%(2023)→40%(2025)居首。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19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Ramp:美企 Anthropic 占(A+O)AI 支出 60–65%;新增采购 73%→Anthropic。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19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年付费 &gt;$1M 企业客户 500(2026-02)→1000(2026-04)。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9240" y="1170432"/>
            <a:ext cx="6336792" cy="1444752"/>
          </a:xfrm>
          <a:prstGeom prst="roundRect">
            <a:avLst>
              <a:gd name="adj" fmla="val 5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49240" y="1170432"/>
            <a:ext cx="73152" cy="1444752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50408" y="1271016"/>
            <a:ext cx="6025896" cy="12618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企业级动作 · Enterprise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19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Claude for Enterprise(2024-09):500K 上下文 · SSO/RBAC/SCIM/审计 · 不用客户数据训练。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19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HIPAA-ready(BAA)· 医疗与生命科学(2025-10 / 2026-01)· 金融(2025-07)。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19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Managed Agents 企业级托管 · 行业专精角色 Agent。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49240" y="2724912"/>
            <a:ext cx="6336792" cy="1335024"/>
          </a:xfrm>
          <a:prstGeom prst="roundRect">
            <a:avLst>
              <a:gd name="adj" fmla="val 5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49240" y="2724912"/>
            <a:ext cx="73152" cy="1335024"/>
          </a:xfrm>
          <a:prstGeom prst="rect">
            <a:avLst/>
          </a:prstGeom>
          <a:solidFill>
            <a:srgbClr val="355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50408" y="2825496"/>
            <a:ext cx="6025896" cy="11521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55C7D"/>
                </a:solidFill>
                <a:latin typeface="Microsoft YaHei"/>
                <a:ea typeface="Microsoft YaHei"/>
                <a:cs typeface="Microsoft YaHei"/>
              </a:rPr>
              <a:t>开发者 · 生态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19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Agent SDK(原 Claude Code SDK,2025-09 更名):内部框架 → 可编程外部能力。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19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MCP 开放协议(2024-11;2025-03 OpenAI 采用;2025-12 入 Linux Foundation)。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19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插件 / Agent Skills 生态:角色与连接器即插即用。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49240" y="4169663"/>
            <a:ext cx="6336792" cy="1097280"/>
          </a:xfrm>
          <a:prstGeom prst="roundRect">
            <a:avLst>
              <a:gd name="adj" fmla="val 5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349240" y="4169663"/>
            <a:ext cx="73152" cy="109728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50408" y="4270247"/>
            <a:ext cx="6025896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信任即准入 · Trust = Access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19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RSP / System Cards / Transparency Hub —— 安全可信作 ToB 差异化卖点,而非成本。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19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分发多入口:终端/IDE/API/MCP/插件,单次改进多界面释放。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49240" y="5376672"/>
            <a:ext cx="6336792" cy="566928"/>
          </a:xfrm>
          <a:prstGeom prst="roundRect">
            <a:avLst>
              <a:gd name="adj" fmla="val 6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F0DFD5"/>
                </a:solidFill>
                <a:latin typeface="Microsoft YaHei"/>
                <a:ea typeface="Microsoft YaHei"/>
                <a:cs typeface="Microsoft YaHei"/>
              </a:rPr>
              <a:t>模式迁移　</a:t>
            </a:r>
            <a:r>
              <a:rPr sz="11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卖 Token → 卖「组织提速」:价值随高价值任务的完成度计量。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"/>
            <a:ext cx="11155680" cy="8412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0DFD5"/>
                </a:solidFill>
                <a:latin typeface="Microsoft YaHei"/>
                <a:ea typeface="Microsoft YaHei"/>
                <a:cs typeface="Microsoft YaHei"/>
              </a:rPr>
              <a:t>06 · SAFETY &amp; CONTROLLABILITY · 边界条件,而非刹车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 安全与可控性:治理即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2412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图7: 治理即 Runtime 与人在环责任链 · 资料来源: Anthropic RSP(2023-09 起)、System Cards、Transparency Hub(2026)· ASL-3 安全措施 2025-05 随 Claude Opus 4 启用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68580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88720"/>
            <a:ext cx="11183112" cy="658368"/>
          </a:xfrm>
          <a:prstGeom prst="roundRect">
            <a:avLst>
              <a:gd name="adj" fmla="val 6000"/>
            </a:avLst>
          </a:prstGeom>
          <a:solidFill>
            <a:srgbClr val="F0DF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9A462A"/>
                </a:solidFill>
                <a:latin typeface="Microsoft YaHei"/>
                <a:ea typeface="Microsoft YaHei"/>
                <a:cs typeface="Microsoft YaHei"/>
              </a:rPr>
              <a:t>新风险面　</a:t>
            </a:r>
            <a:r>
              <a:rPr sz="115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自主度 / 托管度上升 → 权限、监督、可控性、agentic misalignment（代理性错位）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188720"/>
            <a:ext cx="91440" cy="658368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084831"/>
            <a:ext cx="5504688" cy="2761488"/>
          </a:xfrm>
          <a:prstGeom prst="roundRect">
            <a:avLst>
              <a:gd name="adj" fmla="val 5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084831"/>
            <a:ext cx="73152" cy="2761488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2185415"/>
            <a:ext cx="5193792" cy="2578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治理即 Runtime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RSP(2023-09):</a:t>
            </a:r>
            <a:r>
              <a:rPr sz="100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预声明能力阈值与发布标准;ASL 分级(ASL-1…4+),ASL-3 安全措施 2025-05 随 Claude Opus 4 启用。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System Cards:</a:t>
            </a:r>
            <a:r>
              <a:rPr sz="100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随模型发布公开能力与安全评测。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Transparency Hub(2026):</a:t>
            </a:r>
            <a:r>
              <a:rPr sz="100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集中模型卡 / 安全措施 / 自愿承诺,另有面向非专家的 Model Report。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评测内嵌:</a:t>
            </a:r>
            <a:r>
              <a:rPr sz="100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把「能不能发」前置成「按什么规则持续发」。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1344" y="2103119"/>
            <a:ext cx="91440" cy="18288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2084831"/>
            <a:ext cx="5486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可控机制 · 人在环责任链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2468880"/>
            <a:ext cx="1266444" cy="420624"/>
          </a:xfrm>
          <a:prstGeom prst="roundRect">
            <a:avLst>
              <a:gd name="adj" fmla="val 18000"/>
            </a:avLst>
          </a:prstGeom>
          <a:solidFill>
            <a:srgbClr val="2A4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Delegate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465344.0" y="2679192"/>
            <a:ext cx="111192.0" cy="0"/>
          </a:xfrm>
          <a:prstGeom prst="line">
            <a:avLst/>
          </a:prstGeom>
          <a:ln w="2222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594092" y="2468880"/>
            <a:ext cx="1266444" cy="420624"/>
          </a:xfrm>
          <a:prstGeom prst="roundRect">
            <a:avLst>
              <a:gd name="adj" fmla="val 18000"/>
            </a:avLst>
          </a:prstGeom>
          <a:solidFill>
            <a:srgbClr val="2A4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78092.0" y="2679192"/>
            <a:ext cx="111192.0" cy="0"/>
          </a:xfrm>
          <a:prstGeom prst="line">
            <a:avLst/>
          </a:prstGeom>
          <a:ln w="2222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006840" y="2468880"/>
            <a:ext cx="1266444" cy="420624"/>
          </a:xfrm>
          <a:prstGeom prst="roundRect">
            <a:avLst>
              <a:gd name="adj" fmla="val 18000"/>
            </a:avLst>
          </a:prstGeom>
          <a:solidFill>
            <a:srgbClr val="2A4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Review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290840.0" y="2679192"/>
            <a:ext cx="111192.0" cy="0"/>
          </a:xfrm>
          <a:prstGeom prst="line">
            <a:avLst/>
          </a:prstGeom>
          <a:ln w="2222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419588" y="2468880"/>
            <a:ext cx="1266444" cy="420624"/>
          </a:xfrm>
          <a:prstGeom prst="roundRect">
            <a:avLst>
              <a:gd name="adj" fmla="val 18000"/>
            </a:avLst>
          </a:prstGeom>
          <a:solidFill>
            <a:srgbClr val="2A4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Accountability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1344" y="3127248"/>
            <a:ext cx="5504688" cy="1719072"/>
          </a:xfrm>
          <a:prstGeom prst="roundRect">
            <a:avLst>
              <a:gd name="adj" fmla="val 5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81344" y="3127248"/>
            <a:ext cx="73152" cy="1719072"/>
          </a:xfrm>
          <a:prstGeom prst="rect">
            <a:avLst/>
          </a:prstGeom>
          <a:solidFill>
            <a:srgbClr val="355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2512" y="3227832"/>
            <a:ext cx="5193792" cy="15361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55C7D"/>
                </a:solidFill>
                <a:latin typeface="Microsoft YaHei"/>
                <a:ea typeface="Microsoft YaHei"/>
                <a:cs typeface="Microsoft YaHei"/>
              </a:rPr>
              <a:t>落地机制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355C7D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100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权限边界:ask / auto-accept / plan / auto 多档授权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355C7D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100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人在环验证:委派 → 验证 → 复核 → 可问责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355C7D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100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沙箱 / 审计 / checkpoints 回滚 / allowlist 预批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355C7D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10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自主度可上移的前提 = 监督与验证同步增强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047488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DD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355C7D"/>
                </a:solidFill>
                <a:latin typeface="Microsoft YaHei"/>
                <a:ea typeface="Microsoft YaHei"/>
                <a:cs typeface="Microsoft YaHei"/>
              </a:rPr>
              <a:t>演化呼应　</a:t>
            </a:r>
            <a:r>
              <a:rPr sz="115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阶段一的「安全信仰」在阶段四技术化落地 —— 成为速度的边界条件,而非刹车。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047488"/>
            <a:ext cx="91440" cy="969264"/>
          </a:xfrm>
          <a:prstGeom prst="rect">
            <a:avLst/>
          </a:prstGeom>
          <a:solidFill>
            <a:srgbClr val="355C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"/>
            <a:ext cx="11155680" cy="8412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0DFD5"/>
                </a:solidFill>
                <a:latin typeface="Microsoft YaHei"/>
                <a:ea typeface="Microsoft YaHei"/>
                <a:cs typeface="Microsoft YaHei"/>
              </a:rPr>
              <a:t>07 · OUTLOOK &amp; SIGNPOSTS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未来展望与信号灯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102412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图8: 可跟踪信号灯 · 资料来源: Anthropic、Menlo Ventures/Ramp、The Information、TicketTrends、国泰海通证券(2026-05-30) · 颜色为方向性判断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68580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170432"/>
            <a:ext cx="5504688" cy="1645920"/>
          </a:xfrm>
          <a:prstGeom prst="roundRect">
            <a:avLst>
              <a:gd name="adj" fmla="val 5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170432"/>
            <a:ext cx="73152" cy="164592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271016"/>
            <a:ext cx="5193792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技术拐点 · 趋势延伸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把「可验证 Agent 闭环」从编码外推到更广知识工作。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自主度 / 托管度继续上移 —— 后台、长程、多 Agent。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8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Dynamic Workflows:可达千级并行子 Agent(2026-05)。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170432"/>
            <a:ext cx="5504688" cy="1645920"/>
          </a:xfrm>
          <a:prstGeom prst="roundRect">
            <a:avLst>
              <a:gd name="adj" fmla="val 5000"/>
            </a:avLst>
          </a:prstGeom>
          <a:solidFill>
            <a:srgbClr val="F5F3F0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1344" y="1170432"/>
            <a:ext cx="73152" cy="1645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271016"/>
            <a:ext cx="5193792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风险边界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100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质量债:自主度↑ 而验证/监督不同步;技能退化、弱可验证领域瓶颈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8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98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算力约束:已现 Claude Code 限流/分层(2026-04);锁定 ~12.3GW vs OpenAI 激进扩张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8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▸ </a:t>
            </a:r>
            <a:r>
              <a:rPr sz="980" b="0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竞品追赶:Codex 下载量 2026-04 反超 Claude Code(GPT-5.5 接入)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980944"/>
            <a:ext cx="91440" cy="182880"/>
          </a:xfrm>
          <a:prstGeom prst="rect">
            <a:avLst/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2962656"/>
            <a:ext cx="10058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信号灯(可跟踪) · Signposts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91840"/>
            <a:ext cx="2090318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291840"/>
            <a:ext cx="2090318" cy="64008"/>
          </a:xfrm>
          <a:prstGeom prst="rect">
            <a:avLst/>
          </a:prstGeom>
          <a:solidFill>
            <a:srgbClr val="2F8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9224" y="3474720"/>
            <a:ext cx="182880" cy="182880"/>
          </a:xfrm>
          <a:prstGeom prst="ellipse">
            <a:avLst/>
          </a:prstGeom>
          <a:solidFill>
            <a:srgbClr val="2F8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3438144"/>
            <a:ext cx="159654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F805F"/>
                </a:solidFill>
                <a:latin typeface="Microsoft YaHei"/>
                <a:ea typeface="Microsoft YaHei"/>
                <a:cs typeface="Microsoft YaHei"/>
              </a:rPr>
              <a:t>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" y="3767328"/>
            <a:ext cx="1815998" cy="6217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连续动作 / 自主度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9.8→21.2 已现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76118" y="3291840"/>
            <a:ext cx="2090318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76118" y="3291840"/>
            <a:ext cx="2090318" cy="64008"/>
          </a:xfrm>
          <a:prstGeom prst="rect">
            <a:avLst/>
          </a:prstGeom>
          <a:solidFill>
            <a:srgbClr val="2F8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922422" y="3474720"/>
            <a:ext cx="182880" cy="182880"/>
          </a:xfrm>
          <a:prstGeom prst="ellipse">
            <a:avLst/>
          </a:prstGeom>
          <a:solidFill>
            <a:srgbClr val="2F8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78454" y="3438144"/>
            <a:ext cx="159654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F805F"/>
                </a:solidFill>
                <a:latin typeface="Microsoft YaHei"/>
                <a:ea typeface="Microsoft YaHei"/>
                <a:cs typeface="Microsoft YaHei"/>
              </a:rPr>
              <a:t>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2422" y="3767328"/>
            <a:ext cx="1815998" cy="6217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MCP 生态规模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入 Linux Foundation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49316" y="3291840"/>
            <a:ext cx="2090318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49316" y="3291840"/>
            <a:ext cx="2090318" cy="64008"/>
          </a:xfrm>
          <a:prstGeom prst="rect">
            <a:avLst/>
          </a:prstGeom>
          <a:solidFill>
            <a:srgbClr val="2F8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195620" y="3474720"/>
            <a:ext cx="182880" cy="182880"/>
          </a:xfrm>
          <a:prstGeom prst="ellipse">
            <a:avLst/>
          </a:prstGeom>
          <a:solidFill>
            <a:srgbClr val="2F8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51652" y="3438144"/>
            <a:ext cx="159654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F805F"/>
                </a:solidFill>
                <a:latin typeface="Microsoft YaHei"/>
                <a:ea typeface="Microsoft YaHei"/>
                <a:cs typeface="Microsoft YaHei"/>
              </a:rPr>
              <a:t>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95620" y="3767328"/>
            <a:ext cx="1815998" cy="6217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企业 API 份额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40% 居首;Ramp 60–65%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22515" y="3291840"/>
            <a:ext cx="2090318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22515" y="3291840"/>
            <a:ext cx="2090318" cy="6400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468819" y="3474720"/>
            <a:ext cx="182880" cy="18288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24851" y="3438144"/>
            <a:ext cx="159654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8819" y="3767328"/>
            <a:ext cx="1815998" cy="6217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Cowork / 企业 Agent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2026-01 预览,待放量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95713" y="3291840"/>
            <a:ext cx="2090318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95713" y="3291840"/>
            <a:ext cx="2090318" cy="6400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742017" y="3474720"/>
            <a:ext cx="182880" cy="182880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998049" y="3438144"/>
            <a:ext cx="1596542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42017" y="3767328"/>
            <a:ext cx="1815998" cy="6217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算力锁定 &amp; 竞品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~12.3GW;Codex 反超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553712"/>
            <a:ext cx="868680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C15F3C"/>
                </a:solidFill>
                <a:latin typeface="Microsoft YaHei"/>
                <a:ea typeface="Microsoft YaHei"/>
                <a:cs typeface="Microsoft YaHei"/>
              </a:rPr>
              <a:t>图8: </a:t>
            </a:r>
            <a:r>
              <a:rPr sz="850" b="1" i="0">
                <a:solidFill>
                  <a:srgbClr val="1E2630"/>
                </a:solidFill>
                <a:latin typeface="Microsoft YaHei"/>
                <a:ea typeface="Microsoft YaHei"/>
                <a:cs typeface="Microsoft YaHei"/>
              </a:rPr>
              <a:t>可跟踪信号灯(自主度 / 生态 / 份额 / 渗透 / 算力·竞品)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资料来源: Anthropic、Menlo/Ramp、The Information、TicketTrends、国泰海通(2026-05-30)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992624"/>
            <a:ext cx="11183112" cy="1060704"/>
          </a:xfrm>
          <a:prstGeom prst="roundRect">
            <a:avLst>
              <a:gd name="adj" fmla="val 6000"/>
            </a:avLst>
          </a:prstGeom>
          <a:solidFill>
            <a:srgbClr val="C15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结论回扣　</a:t>
            </a: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领先本质 = 速度系统 + Agent 协同演化能力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把模型能力沉淀进可控、可验证的 Agent Runtime,并以「自举飞轮」持续放大 —— 而非单点模型分数领先。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