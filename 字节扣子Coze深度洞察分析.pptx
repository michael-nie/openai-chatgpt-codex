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-1097280"/>
            <a:ext cx="5029200" cy="5029200"/>
          </a:xfrm>
          <a:prstGeom prst="ellipse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0" y="3291840"/>
            <a:ext cx="3840480" cy="3840480"/>
          </a:xfrm>
          <a:prstGeom prst="ellipse">
            <a:avLst/>
          </a:prstGeom>
          <a:solidFill>
            <a:srgbClr val="1E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8412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字节跳动 · 扣子 COZE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深度洞察分析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D8DEE9"/>
                </a:solidFill>
                <a:latin typeface="Arial"/>
                <a:ea typeface="思源黑体"/>
                <a:cs typeface="思源黑体"/>
              </a:rPr>
              <a:t>一个平台，串起字节 AI 的应用层闭环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综合全景 · 产品 / 技术 / 市场 / 商业 / 生态 / 竞争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D8DEE9"/>
                </a:solidFill>
                <a:latin typeface="Arial"/>
                <a:ea typeface="思源黑体"/>
                <a:cs typeface="思源黑体"/>
              </a:rPr>
              <a:t>聚焦国内版 coze.cn  ·  2026 年 6 月  ·  5 路并行检索 + 多源交叉验证 + 可信度分层标注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说明：本环境对多数中文媒体/官网抓取受限，结论多基于权威页面搜索摘要交叉印证；GitHub 数据为 API 实测。引用前请以官网/官方发布稿复核。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EXECUTIVE SUMMARY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六个判断：扣子是字节 AI 闭环的「应用层抓手」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可信度: 强=官方+多源 · 中=单一媒体/厂商自报 | 国内版 coze.cn ·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3675887" cy="157276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82296" cy="157276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435608"/>
            <a:ext cx="3346703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① 定位在演进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零代码 Bot 工厂 → 通用 Agent → 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职场 AI + Vibe Coding，两年多次升级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399" y="1325880"/>
            <a:ext cx="3675887" cy="157276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399" y="1325880"/>
            <a:ext cx="82296" cy="157276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7" y="1435608"/>
            <a:ext cx="3346703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② 规模领先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月活开发者 100万→300万；2.0 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「上千万用户」，自称中国最大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8" y="1325880"/>
            <a:ext cx="3675887" cy="157276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8" y="1325880"/>
            <a:ext cx="82296" cy="157276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6" y="1435608"/>
            <a:ext cx="3346703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③ 开源是关键落子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Studio+Loop·Apache2.0·约2.1万★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抢 Agent「事实标准」、反制 Dify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44952"/>
            <a:ext cx="3675887" cy="157276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044952"/>
            <a:ext cx="82296" cy="1572768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3154680"/>
            <a:ext cx="3346703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④ 三段式火箭变现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开源引流 → 企业订阅 → 火山算力/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抖音流量；模板分成平台抽 20%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399" y="3044952"/>
            <a:ext cx="3675887" cy="157276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399" y="3044952"/>
            <a:ext cx="82296" cy="1572768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7" y="3154680"/>
            <a:ext cx="3346703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⑤ 护城河四位一体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豆包模型 × 火山算力 × 抖音/飞书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流量 × 开源生态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8" y="3044952"/>
            <a:ext cx="3675887" cy="157276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8" y="3044952"/>
            <a:ext cx="82296" cy="1572768"/>
          </a:xfrm>
          <a:prstGeom prst="rect">
            <a:avLst/>
          </a:prstGeom>
          <a:solidFill>
            <a:srgbClr val="C26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6" y="3154680"/>
            <a:ext cx="3346703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⑥ 风险也清晰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工具型变现天花板、定位摇摆、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同质化、母公司利润压力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一句话：扣子的价值不止于工具本身，而在把「模型—应用—分发—算力」串成可变现闭环。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CONTENTS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本报告地图：六大板块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可信度: 强=官方+多源 · 中=单一媒体/厂商自报 | 国内版 coze.cn ·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3675887" cy="224028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3675887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728216"/>
            <a:ext cx="3218687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01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产品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定位 · 演进 · 功能架构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399" y="1417320"/>
            <a:ext cx="3675887" cy="224028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399" y="1417320"/>
            <a:ext cx="3675887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728216"/>
            <a:ext cx="3218687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02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技术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模型底座 · 架构 · 开源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8" y="1417320"/>
            <a:ext cx="3675887" cy="224028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8" y="1417320"/>
            <a:ext cx="3675887" cy="91440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0" y="1728216"/>
            <a:ext cx="3218687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03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市场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增长 · 份额 · 底座规模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40480"/>
            <a:ext cx="3675887" cy="224028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840480"/>
            <a:ext cx="3675887" cy="91440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151376"/>
            <a:ext cx="3218687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04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商业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定价 · 变现 · 战略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399" y="3840480"/>
            <a:ext cx="3675887" cy="224028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399" y="3840480"/>
            <a:ext cx="3675887" cy="91440"/>
          </a:xfrm>
          <a:prstGeom prst="rect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9431" y="4151376"/>
            <a:ext cx="3218687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05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生态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字节 AI 闭环协同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8" y="3840480"/>
            <a:ext cx="3675887" cy="224028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8" y="3840480"/>
            <a:ext cx="3675887" cy="91440"/>
          </a:xfrm>
          <a:prstGeom prst="rect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0" y="4151376"/>
            <a:ext cx="3218687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06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竞争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格局 · SWOT · 风险趋势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METHODOLOGY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先讲清两条最易踩的坑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可信度: 强=官方+多源 · 中=单一媒体/厂商自报 | 国内版 coze.cn ·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33172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82296" cy="2331720"/>
          </a:xfrm>
          <a:prstGeom prst="rect">
            <a:avLst/>
          </a:prstGeom>
          <a:solidFill>
            <a:srgbClr val="B04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481328"/>
            <a:ext cx="520293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04744"/>
                </a:solidFill>
                <a:latin typeface="Arial"/>
                <a:ea typeface="思源黑体"/>
                <a:cs typeface="思源黑体"/>
              </a:rPr>
              <a:t>坑① 豆包 ≠ 扣子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豆包 = C 端 AI 助手 App，月活以亿计；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扣子 = 面向开发者的 Agent 平台，规模以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开发者/智能体数计。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B04744"/>
                </a:solidFill>
                <a:latin typeface="Arial"/>
                <a:ea typeface="思源黑体"/>
                <a:cs typeface="思源黑体"/>
              </a:rPr>
              <a:t>「5700万日活、3.4亿月活」均为豆包，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B04744"/>
                </a:solidFill>
                <a:latin typeface="Arial"/>
                <a:ea typeface="思源黑体"/>
                <a:cs typeface="思源黑体"/>
              </a:rPr>
              <a:t>不可挂在扣子名下。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71600"/>
            <a:ext cx="5532120" cy="233172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371600"/>
            <a:ext cx="82296" cy="2331720"/>
          </a:xfrm>
          <a:prstGeom prst="rect">
            <a:avLst/>
          </a:prstGeom>
          <a:solidFill>
            <a:srgbClr val="C26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481328"/>
            <a:ext cx="520293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坑② 开发者口径在变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100万「活跃开发者」(2024.12)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→ 300万「月活开发者」(2025.12)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→「上千万用户/1000万开发场景」(2026.01)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三者计量口径不同，构成趋势但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非同一指标，勿连成单一曲线。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977639"/>
            <a:ext cx="11201400" cy="178308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977639"/>
            <a:ext cx="82296" cy="178308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4087367"/>
            <a:ext cx="10872216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研究方法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5 路并行检索（产品 / 市场 / 商业 / 技术 / 竞争）→ 去重抓取 → 多源交叉核验 → 按可信度排序综合。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可信度分层：强（官方+多源） / 中（单一媒体或厂商自报、无第三方审计） / 弱（已剔除或降级），全程标注。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• 限制：coze.cn / 火山引擎 / 多数中文媒体抓取受限（403），定价等单源数字标「中」，以官网为准；GitHub 为 API 一手数据。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PRODUCT · POSITIONING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一句话：零门槛搭 Agent，一键全渠道分发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可信度: 强=官方+多源 · 中=单一媒体/厂商自报 | 国内版 coze.cn ·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201400" cy="1234440"/>
          </a:xfrm>
          <a:prstGeom prst="roundRect">
            <a:avLst/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81328"/>
            <a:ext cx="106070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扣子 = 字节基于自研豆包大模型 + 火山引擎底座的「一站式 AI Agent 开发平台」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无论是否有编程基础，都能可视化搭建智能体 / AI 应用，并一键发布到多渠道。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34640"/>
            <a:ext cx="3630168" cy="27432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834640"/>
            <a:ext cx="82296" cy="27432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944368"/>
            <a:ext cx="330098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双版本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海外 Coze(coze.com)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2023.11 上线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国内 扣子(coze.cn)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2024.02 上线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早期内置「云雀」，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现以豆包为主、开放多模型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2834640"/>
            <a:ext cx="3630168" cy="27432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2834640"/>
            <a:ext cx="82296" cy="2743200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944368"/>
            <a:ext cx="330098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三类用户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① 个人创作者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  私域营销 / 自媒体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② 中小开发者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  快速验证 / 工具搭建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③ 企业客户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  专业版 / 私有化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834640"/>
            <a:ext cx="3648456" cy="27432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55864" y="2834640"/>
            <a:ext cx="82296" cy="2743200"/>
          </a:xfrm>
          <a:prstGeom prst="rect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2944368"/>
            <a:ext cx="331927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闭环中的角色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模型(豆包)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↓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应用构建(扣子) ← 本层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↓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分发(抖音/飞书) ↓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算力(火山引擎)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PRODUCT · TIMELINE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两年五级跳：从 Bot 工厂到职场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日期/口径多源交叉 · 2025.12 与 2026.01 为相邻两次发布 |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05</a:t>
            </a:r>
          </a:p>
        </p:txBody>
      </p:sp>
      <p:pic>
        <p:nvPicPr>
          <p:cNvPr id="8" name="Picture 7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11521440" cy="340005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212080"/>
            <a:ext cx="11201400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789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节奏特征：上线即高速迭代 —— 2024 完成商业化，2025 连推「通用 Agent」与「开源」两大动作，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2025 年底起重心转向「职场生产力 + Vibe Coding」，并为 Agent 配置邮箱 / 云电脑 / 云手机（Agent World）。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PRODUCT · CAPABILITIES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六大模块拼出「搭得快、发得广」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可信度: 强=官方+多源 · 中=单一媒体/厂商自报 | 国内版 coze.cn ·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3675887" cy="13716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82296" cy="13716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435608"/>
            <a:ext cx="334670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① 工作流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可视化拖拽编排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LLM/知识库/插件/代码节点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399" y="1325880"/>
            <a:ext cx="3675887" cy="13716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399" y="1325880"/>
            <a:ext cx="82296" cy="13716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7" y="1435608"/>
            <a:ext cx="334670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② 插件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200+ 官方插件 + 自定义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可「MCP 化」发布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8" y="1325880"/>
            <a:ext cx="3675887" cy="13716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8" y="1325880"/>
            <a:ext cx="82296" cy="13716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6" y="1435608"/>
            <a:ext cx="334670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③ 知识库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PDF/网页/飞书等向量化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检索降幻觉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843784"/>
            <a:ext cx="3675887" cy="13716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843784"/>
            <a:ext cx="82296" cy="1371600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2953512"/>
            <a:ext cx="334670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④ 记忆体系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变量 / 数据库 / 长期记忆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个性化 + 权限控制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399" y="2843784"/>
            <a:ext cx="3675887" cy="13716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399" y="2843784"/>
            <a:ext cx="82296" cy="1371600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7" y="2953512"/>
            <a:ext cx="334670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⑤ 多 Agent 编排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多智能体按角色协同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触发器定时/事件触发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8" y="2843784"/>
            <a:ext cx="3675887" cy="13716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8" y="2843784"/>
            <a:ext cx="82296" cy="1371600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6" y="2953512"/>
            <a:ext cx="334670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⑥ 多模态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图像流 + Seedance 视频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语音合成，能看能听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434840"/>
            <a:ext cx="11201400" cy="36576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572000"/>
            <a:ext cx="11201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一键多端分发（扣子核心优势）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74920"/>
            <a:ext cx="585216" cy="42062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豆包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97864" y="5074920"/>
            <a:ext cx="585216" cy="42062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飞书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92808" y="5074920"/>
            <a:ext cx="585216" cy="42062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抖音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87752" y="5074920"/>
            <a:ext cx="585216" cy="42062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微信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82696" y="5074920"/>
            <a:ext cx="877824" cy="42062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企业微信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0248" y="5074920"/>
            <a:ext cx="731520" cy="42062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API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11496" y="5074920"/>
            <a:ext cx="1463040" cy="42062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Chat SDK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84264" y="5074920"/>
            <a:ext cx="1024128" cy="42062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网页/嵌入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5074920"/>
            <a:ext cx="877824" cy="42062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扣子商店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TECH · ARCHITECTURE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四层底座：算力 → 模型 → 框架 → 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可信度: 强=官方+多源 · 中=单一媒体/厂商自报 | 国内版 coze.cn ·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17320"/>
            <a:ext cx="1920240" cy="841248"/>
          </a:xfrm>
          <a:prstGeom prst="round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80360" y="1417320"/>
            <a:ext cx="8485632" cy="84124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17320"/>
            <a:ext cx="19202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平台层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417320"/>
            <a:ext cx="81381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扣子 Coze：工作流引擎 · 插件 · 知识库 · 多 Agent · MCP 全面支持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368296"/>
            <a:ext cx="1920240" cy="841248"/>
          </a:xfrm>
          <a:prstGeom prst="roundRect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80360" y="2368296"/>
            <a:ext cx="8485632" cy="84124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368296"/>
            <a:ext cx="19202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框架层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368296"/>
            <a:ext cx="81381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CloudWeGo Eino（Go）运行时 + Hertz · 前端 React/TS · 微服务+DDD · RAG: ES + Milvus/VikingDB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319272"/>
            <a:ext cx="1920240" cy="841248"/>
          </a:xfrm>
          <a:prstGeom prst="roundRect">
            <a:avLst/>
          </a:prstGeom>
          <a:solidFill>
            <a:srgbClr val="245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80360" y="3319272"/>
            <a:ext cx="8485632" cy="84124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19272"/>
            <a:ext cx="19202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模型层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319272"/>
            <a:ext cx="81381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主力豆包 1.6（256K·区间定价，成本约 R1 的 1/3）· 开放多模型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270248"/>
            <a:ext cx="1920240" cy="841248"/>
          </a:xfrm>
          <a:prstGeom prst="round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80360" y="4270248"/>
            <a:ext cx="8485632" cy="84124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70248"/>
            <a:ext cx="19202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算力层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4270248"/>
            <a:ext cx="81381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火山引擎：算力 / 方舟模型推理 / 向量库 —— 扣子专业版即由其承载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85232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可接模型（SaaS + 开源版）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650992"/>
            <a:ext cx="566928" cy="402336"/>
          </a:xfrm>
          <a:prstGeom prst="roundRect">
            <a:avLst/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豆包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81328" y="5650992"/>
            <a:ext cx="1389888" cy="402336"/>
          </a:xfrm>
          <a:prstGeom prst="roundRect">
            <a:avLst/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DeepSeek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62656" y="5650992"/>
            <a:ext cx="841247" cy="402336"/>
          </a:xfrm>
          <a:prstGeom prst="roundRect">
            <a:avLst/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通义千问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95343" y="5650992"/>
            <a:ext cx="978408" cy="402336"/>
          </a:xfrm>
          <a:prstGeom prst="roundRect">
            <a:avLst/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智谱GLM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65191" y="5650992"/>
            <a:ext cx="841247" cy="402336"/>
          </a:xfrm>
          <a:prstGeom prst="roundRect">
            <a:avLst/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Kimi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97878" y="5650992"/>
            <a:ext cx="1252728" cy="402336"/>
          </a:xfrm>
          <a:prstGeom prst="roundRect">
            <a:avLst/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MiniMax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42046" y="5650992"/>
            <a:ext cx="2212848" cy="402336"/>
          </a:xfrm>
          <a:prstGeom prst="roundRect">
            <a:avLst/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Claude/Gemini*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TECH · OPEN SOURCE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开源：最具杠杆的一步 —— 抢 Agent「事实标准」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Stars/Forks 为 GitHub API 实测(2026-06-22) |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08</a:t>
            </a:r>
          </a:p>
        </p:txBody>
      </p:sp>
      <p:pic>
        <p:nvPicPr>
          <p:cNvPr id="8" name="Picture 7" descr="github_st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5852160" cy="1966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114800"/>
            <a:ext cx="5669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21,013★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Coze Studio · Apache 2.0 · 2025.7.26 开源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417320"/>
            <a:ext cx="5120640" cy="129844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417320"/>
            <a:ext cx="82296" cy="129844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4848" y="1527048"/>
            <a:ext cx="47914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Coze Studio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开发平台开源版，脱胎于服务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「数万企业、数百万开发者」的商业版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852928"/>
            <a:ext cx="5120640" cy="129844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2852928"/>
            <a:ext cx="82296" cy="1298448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2962656"/>
            <a:ext cx="47914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Coze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AgentOps 全生命周期：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Prompt 开发 / 评测 / 可观测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4288536"/>
            <a:ext cx="5120640" cy="146304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0" y="4288536"/>
            <a:ext cx="82296" cy="1463040"/>
          </a:xfrm>
          <a:prstGeom prst="rect">
            <a:avLst/>
          </a:prstGeom>
          <a:solidFill>
            <a:srgbClr val="C26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4848" y="4398264"/>
            <a:ext cx="479145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开源 vs 商业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核心搭建能力开源；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音色/语音、租户管理、企业弹性扩容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留作商业版变现点。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MARKET · GROWTH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中国最大的 Agent 开发平台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官方披露口径（Force 大会 / 扣子 2.0）· 口径随时间演变，详见图注 |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09</a:t>
            </a:r>
          </a:p>
        </p:txBody>
      </p:sp>
      <p:pic>
        <p:nvPicPr>
          <p:cNvPr id="8" name="Picture 7" descr="dev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6766560" cy="45148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79" y="1554480"/>
            <a:ext cx="4206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300万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月活开发者（2025.12 Force）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2880360"/>
            <a:ext cx="4206240" cy="132588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2880360"/>
            <a:ext cx="82296" cy="1325880"/>
          </a:xfrm>
          <a:prstGeom prst="rect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9247" y="2990088"/>
            <a:ext cx="3877056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2.0 口径跃升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2026.01 称服务「上千万用户 /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1000万真实开发场景」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4315968"/>
            <a:ext cx="4206240" cy="141732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4315968"/>
            <a:ext cx="82296" cy="1417320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7" y="4425696"/>
            <a:ext cx="387705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第三方定位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2025 多份选型榜列第一梯队/榜首；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量子位《年度 AI 100》入 Agent TOP3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（月活另有 458万 口径，待复核）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MARKET · FOUNDATION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底座复利：模型 × 算力的护城河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IDC 为 MaaS/大模型平台口径，非 Agent 平台细分口径 · 豆包 token 为发布会披露 |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10</a:t>
            </a:r>
          </a:p>
        </p:txBody>
      </p:sp>
      <p:pic>
        <p:nvPicPr>
          <p:cNvPr id="8" name="Picture 7" descr="maas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4609813" cy="3063240"/>
          </a:xfrm>
          <a:prstGeom prst="rect">
            <a:avLst/>
          </a:prstGeom>
        </p:spPr>
      </p:pic>
      <p:pic>
        <p:nvPicPr>
          <p:cNvPr id="9" name="Picture 8" descr="doubao_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5394960" cy="334065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6177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59.2%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火山引擎大模型云上调用量份额（IDC，2024 为 46.4%）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豆包日均 token 两年增约 1000 倍（2024.05 的 1200亿 → 2026.03 的 120万亿），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居中国第一、全球前三；IDC MaaS 口径下字节约 16%、列第三。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注：尚无「Agent 平台」细分赛道的扣子精确市占，不宜标百分比。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BUSINESS · PRICING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四档订阅 + 资源点计费 + 模板分成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定价随计费规则 2024–2026 反复调整，「中」者为第三方整理、未经官网确认，以官网为准 |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00887" y="137160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114800"/>
                <a:gridCol w="45720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思源黑体"/>
                          <a:cs typeface="思源黑体"/>
                        </a:rPr>
                        <a:t>版本</a:t>
                      </a:r>
                    </a:p>
                  </a:txBody>
                  <a:tcPr anchor="ctr" marL="64008" marT="18288" marB="18288">
                    <a:solidFill>
                      <a:srgbClr val="1622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思源黑体"/>
                          <a:cs typeface="思源黑体"/>
                        </a:rPr>
                        <a:t>价格（人民币）</a:t>
                      </a:r>
                    </a:p>
                  </a:txBody>
                  <a:tcPr anchor="ctr" marL="64008" marT="18288" marB="18288">
                    <a:solidFill>
                      <a:srgbClr val="1622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思源黑体"/>
                          <a:cs typeface="思源黑体"/>
                        </a:rPr>
                        <a:t>资源 / 权益</a:t>
                      </a:r>
                    </a:p>
                  </a:txBody>
                  <a:tcPr anchor="ctr" marL="64008" marT="18288" marB="18288">
                    <a:solidFill>
                      <a:srgbClr val="1622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个人免费版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0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约 500 资源点/天（每日重置）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个人进阶版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26B09"/>
                          </a:solidFill>
                          <a:latin typeface="Arial"/>
                          <a:ea typeface="思源黑体"/>
                          <a:cs typeface="思源黑体"/>
                        </a:rPr>
                        <a:t>首月 9.9 元（原价 39.9/月）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约 3 万积分/月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团队版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26B09"/>
                          </a:solidFill>
                          <a:latin typeface="Arial"/>
                          <a:ea typeface="思源黑体"/>
                          <a:cs typeface="思源黑体"/>
                        </a:rPr>
                        <a:t>按席位包年包月（单价未确证）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协同开发 · 跨空间迁移 · 方舟模型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企业版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26B09"/>
                          </a:solidFill>
                          <a:latin typeface="Arial"/>
                          <a:ea typeface="思源黑体"/>
                          <a:cs typeface="思源黑体"/>
                        </a:rPr>
                        <a:t>约 4980 元/月，年付 8.3 折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约 300 万资源点/月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专业版(付费)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按调用 Token 计费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每日赠 500 资源点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4617720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抽成 20%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模板中心：创作者定价售卖、平台抽 20%（创作者得 80%）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61772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计费单位：资源点（积分）；模型费 = Token × 单价；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扣减序：资源点 &gt; 代金券 &gt; 现金账户。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智能体交互已改为仅按模型 Token 计费。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BUSINESS · STRATEGY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三段式火箭 + 双平台分工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可信度: 强=官方+多源 · 中=单一媒体/厂商自报 | 国内版 coze.cn ·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三段式火箭（媒体/分析框架，非官方表述）</a:t>
            </a:r>
          </a:p>
        </p:txBody>
      </p:sp>
      <p:sp>
        <p:nvSpPr>
          <p:cNvPr id="9" name="Chevron 8"/>
          <p:cNvSpPr/>
          <p:nvPr/>
        </p:nvSpPr>
        <p:spPr>
          <a:xfrm>
            <a:off x="502920" y="1737360"/>
            <a:ext cx="3733800" cy="868680"/>
          </a:xfrm>
          <a:prstGeom prst="chevron">
            <a:avLst/>
          </a:prstGeom>
          <a:solidFill>
            <a:srgbClr val="9DB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① 开源引流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社区版 Apache 2.0 抢开发者</a:t>
            </a:r>
          </a:p>
        </p:txBody>
      </p:sp>
      <p:sp>
        <p:nvSpPr>
          <p:cNvPr id="10" name="Chevron 9"/>
          <p:cNvSpPr/>
          <p:nvPr/>
        </p:nvSpPr>
        <p:spPr>
          <a:xfrm>
            <a:off x="4090416" y="1737360"/>
            <a:ext cx="3880104" cy="868680"/>
          </a:xfrm>
          <a:prstGeom prst="chevron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② 企业订阅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SLA/租户/合规等高级功能付费</a:t>
            </a:r>
          </a:p>
        </p:txBody>
      </p:sp>
      <p:sp>
        <p:nvSpPr>
          <p:cNvPr id="11" name="Chevron 10"/>
          <p:cNvSpPr/>
          <p:nvPr/>
        </p:nvSpPr>
        <p:spPr>
          <a:xfrm>
            <a:off x="7824216" y="1737360"/>
            <a:ext cx="3880104" cy="868680"/>
          </a:xfrm>
          <a:prstGeom prst="chevron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③ 生态盈利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火山算力 + 抖音流量分发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803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双平台分工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532120" cy="18288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82296" cy="18288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401568"/>
            <a:ext cx="520293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扣子 Coze（C 端 / 开发者）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低代码、易用、广度，含开源版；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快速验证与创作者生态。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企业落地：1 控制台 + N 预置 Agent + X 自建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91840"/>
            <a:ext cx="5532120" cy="18288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3291840"/>
            <a:ext cx="82296" cy="1828800"/>
          </a:xfrm>
          <a:prstGeom prst="rect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3401568"/>
            <a:ext cx="520293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HiAgent（企业级 / 火山引擎）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私有化部署、数据不出内网，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满足金融/医疗/制造合规；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宣称 AI 应用开发周期缩短 95%+（厂商口径）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492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线索：据极客公园，团队 2025 年初设定的商业化目标「半年内即达成」；但无公开营收金额，属定性表述。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ECOSYSTEM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一条闭环：模型 → 应用 → 分发 → 算力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可信度: 强=官方+多源 · 中=单一媒体/厂商自报 | 国内版 coze.cn ·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13</a:t>
            </a:r>
          </a:p>
        </p:txBody>
      </p:sp>
      <p:sp>
        <p:nvSpPr>
          <p:cNvPr id="8" name="Chevron 7"/>
          <p:cNvSpPr/>
          <p:nvPr/>
        </p:nvSpPr>
        <p:spPr>
          <a:xfrm>
            <a:off x="502920" y="1554480"/>
            <a:ext cx="2800350" cy="1143000"/>
          </a:xfrm>
          <a:prstGeom prst="chevron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模型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豆包 / 即梦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训练与生成能力</a:t>
            </a:r>
          </a:p>
        </p:txBody>
      </p:sp>
      <p:sp>
        <p:nvSpPr>
          <p:cNvPr id="9" name="Chevron 8"/>
          <p:cNvSpPr/>
          <p:nvPr/>
        </p:nvSpPr>
        <p:spPr>
          <a:xfrm>
            <a:off x="3156966" y="1554480"/>
            <a:ext cx="2946654" cy="1143000"/>
          </a:xfrm>
          <a:prstGeom prst="chevron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应用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扣子 Coze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让能力可被搭建</a:t>
            </a:r>
          </a:p>
        </p:txBody>
      </p:sp>
      <p:sp>
        <p:nvSpPr>
          <p:cNvPr id="10" name="Chevron 9"/>
          <p:cNvSpPr/>
          <p:nvPr/>
        </p:nvSpPr>
        <p:spPr>
          <a:xfrm>
            <a:off x="5957316" y="1554480"/>
            <a:ext cx="2946654" cy="1143000"/>
          </a:xfrm>
          <a:prstGeom prst="chevron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分发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抖音 / 飞书 / 豆包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触达海量场景</a:t>
            </a:r>
          </a:p>
        </p:txBody>
      </p:sp>
      <p:sp>
        <p:nvSpPr>
          <p:cNvPr id="11" name="Chevron 10"/>
          <p:cNvSpPr/>
          <p:nvPr/>
        </p:nvSpPr>
        <p:spPr>
          <a:xfrm>
            <a:off x="8757666" y="1554480"/>
            <a:ext cx="2946654" cy="1143000"/>
          </a:xfrm>
          <a:prstGeom prst="chevron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算力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火山引擎 + HiAgent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承载并变现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502920" y="2971800"/>
            <a:ext cx="11201400" cy="640080"/>
          </a:xfrm>
          <a:prstGeom prst="leftArrow">
            <a:avLst/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↺ 数据与收入回流，反哺模型与算力 —— 形成正循环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86200"/>
            <a:ext cx="2715768" cy="141732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86200"/>
            <a:ext cx="82296" cy="14173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95928"/>
            <a:ext cx="23865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豆包 App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C 端入口，月活以亿计，为生态导流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86200"/>
            <a:ext cx="2715768" cy="141732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7560" y="3886200"/>
            <a:ext cx="82296" cy="1417320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8728" y="3995928"/>
            <a:ext cx="23865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即梦 / Seedance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图像/视频生成，供扣子工作流调用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2715768" cy="141732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82296" cy="1417320"/>
          </a:xfrm>
          <a:prstGeom prst="rect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23865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飞书 智能伙伴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办公协同 Agent，B 端落地入口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3886200"/>
            <a:ext cx="2715768" cy="141732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3886200"/>
            <a:ext cx="82296" cy="1417320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08008" y="3995928"/>
            <a:ext cx="23865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抖音/头条/番茄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海量流量分发，扣子独特冷启动优势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4864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这条「模型—应用—分发—算力」闭环，是扣子相对独立 Agent 平台的最大结构性差异。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COMPETITION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易用与流量领先，护城河却最浅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●=强 ○=弱；评分为基于公开资料的相对定性判断，非量化基准 |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43687" y="1371600"/>
          <a:ext cx="1170432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1371600"/>
                <a:gridCol w="1463040"/>
                <a:gridCol w="1463040"/>
                <a:gridCol w="329184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思源黑体"/>
                          <a:cs typeface="思源黑体"/>
                        </a:rPr>
                        <a:t>平台 / 模型</a:t>
                      </a:r>
                    </a:p>
                  </a:txBody>
                  <a:tcPr anchor="ctr" marL="64008" marT="18288" marB="18288">
                    <a:solidFill>
                      <a:srgbClr val="1622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思源黑体"/>
                          <a:cs typeface="思源黑体"/>
                        </a:rPr>
                        <a:t>易用性</a:t>
                      </a:r>
                    </a:p>
                  </a:txBody>
                  <a:tcPr anchor="ctr" marL="64008" marT="18288" marB="18288">
                    <a:solidFill>
                      <a:srgbClr val="1622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思源黑体"/>
                          <a:cs typeface="思源黑体"/>
                        </a:rPr>
                        <a:t>企业级</a:t>
                      </a:r>
                    </a:p>
                  </a:txBody>
                  <a:tcPr anchor="ctr" marL="64008" marT="18288" marB="18288">
                    <a:solidFill>
                      <a:srgbClr val="1622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思源黑体"/>
                          <a:cs typeface="思源黑体"/>
                        </a:rPr>
                        <a:t>分发生态</a:t>
                      </a:r>
                    </a:p>
                  </a:txBody>
                  <a:tcPr anchor="ctr" marL="64008" marT="18288" marB="18288">
                    <a:solidFill>
                      <a:srgbClr val="1622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思源黑体"/>
                          <a:cs typeface="思源黑体"/>
                        </a:rPr>
                        <a:t>模型开放</a:t>
                      </a:r>
                    </a:p>
                  </a:txBody>
                  <a:tcPr anchor="ctr" marL="64008" marT="18288" marB="18288">
                    <a:solidFill>
                      <a:srgbClr val="1622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思源黑体"/>
                          <a:cs typeface="思源黑体"/>
                        </a:rPr>
                        <a:t>一句话定位</a:t>
                      </a:r>
                    </a:p>
                  </a:txBody>
                  <a:tcPr anchor="ctr" marL="64008" marT="18288" marB="18288">
                    <a:solidFill>
                      <a:srgbClr val="1622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6BE6"/>
                          </a:solidFill>
                          <a:latin typeface="Arial"/>
                          <a:ea typeface="思源黑体"/>
                          <a:cs typeface="思源黑体"/>
                        </a:rPr>
                        <a:t>扣子 Coze · 豆包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E6BE6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●●●●●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E6BE6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●●●○○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E6BE6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●●●●●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E6BE6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●●●●○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易用+流量强，开源；护城河偏浅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腾讯元器 · 混元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●●●●○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●●○○○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●●●●○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●●○○○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偏 C 端创作，打通微信生态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腾讯云 ADP · 混元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●●●○○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●●●●●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●●●○○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●●●○○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3.0 偏 To B 严肃生产，强合规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文心 AgentBuilder · 文心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●●●●○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●●●○○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●●●●○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●●○○○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核心=百度搜索/App 流量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阿里云百炼 · 通义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●●●○○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●●●●●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●●●○○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●●●●●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模型+Agent 双核，企业级强</a:t>
                      </a:r>
                    </a:p>
                  </a:txBody>
                  <a:tcPr anchor="ctr" marL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Dify · 开源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●●●○○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●●●●○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●●○○○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6223A"/>
                          </a:solidFill>
                          <a:latin typeface="Arial"/>
                          <a:ea typeface="思源黑体"/>
                          <a:cs typeface="思源黑体"/>
                        </a:rPr>
                        <a:t>●●●●●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  <a:ea typeface="思源黑体"/>
                          <a:cs typeface="思源黑体"/>
                        </a:rPr>
                        <a:t>工业化流水线，开源最直接对手</a:t>
                      </a:r>
                    </a:p>
                  </a:txBody>
                  <a:tcPr anchor="ctr" marL="64008" marT="18288" marB="18288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SWOT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SWOT：优势在生态，软肋在变现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可信度: 强=官方+多源 · 中=单一媒体/厂商自报 | 国内版 coze.cn ·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9904" y="1371600"/>
            <a:ext cx="19050" cy="443484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84448"/>
            <a:ext cx="11201400" cy="1905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40680" cy="212140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82296" cy="2121408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481328"/>
            <a:ext cx="5111496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S 优势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豆包模型（120万亿 token/全球前三）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火山引擎调用份额 59.2%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抖音/飞书流量分发独一无二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开源生态（Studio 约 2.1万★）+ 易用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371600"/>
            <a:ext cx="5440680" cy="212140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371600"/>
            <a:ext cx="82296" cy="2121408"/>
          </a:xfrm>
          <a:prstGeom prst="rect">
            <a:avLst/>
          </a:prstGeom>
          <a:solidFill>
            <a:srgbClr val="C26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81328"/>
            <a:ext cx="5111496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W 劣势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工具型变现天花板、低粘性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两年内定位多次摇摆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与竞品功能高度同质化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深绑字节生态 + 国内外版本割裂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85032"/>
            <a:ext cx="5440680" cy="212140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85032"/>
            <a:ext cx="82296" cy="212140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794760"/>
            <a:ext cx="5111496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O 机会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MCP/A2A 标准化（已支持 MCP）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2026 被视为 Agent 规模化落地元年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职场 AI / Vibe Coding 新赛道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火山引擎主战场押注 Agent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685032"/>
            <a:ext cx="5440680" cy="2121408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5352" y="3685032"/>
            <a:ext cx="82296" cy="2121408"/>
          </a:xfrm>
          <a:prstGeom prst="rect">
            <a:avLst/>
          </a:prstGeom>
          <a:solidFill>
            <a:srgbClr val="B04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794760"/>
            <a:ext cx="5111496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04744"/>
                </a:solidFill>
                <a:latin typeface="Arial"/>
                <a:ea typeface="思源黑体"/>
                <a:cs typeface="思源黑体"/>
              </a:rPr>
              <a:t>T 威胁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母公司利润波动加大算力压力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腾讯 ADP3.0 / 阿里百炼 / Dify 夹击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模型进步「稀释工作流价值」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监管/合规（出海面临欧盟 AI 法案）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RISKS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四大风险，诚实披露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可信度: 强=官方+多源 · 中=单一媒体/厂商自报 | 国内版 coze.cn ·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2715768" cy="21945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82296" cy="2194560"/>
          </a:xfrm>
          <a:prstGeom prst="rect">
            <a:avLst/>
          </a:prstGeom>
          <a:solidFill>
            <a:srgbClr val="C26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572768"/>
            <a:ext cx="2386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变现天花板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工具型订阅逻辑挑战大、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LTV 低、低频低粘性（观点）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63040"/>
            <a:ext cx="2715768" cy="21945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63040"/>
            <a:ext cx="82296" cy="2194560"/>
          </a:xfrm>
          <a:prstGeom prst="rect">
            <a:avLst/>
          </a:prstGeom>
          <a:solidFill>
            <a:srgbClr val="C26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8728" y="1572768"/>
            <a:ext cx="2386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定位摇摆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两年内 Bot→通用 Agent→职场 AI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多次重定位，「走一步看一步」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63040"/>
            <a:ext cx="2715768" cy="21945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63040"/>
            <a:ext cx="82296" cy="2194560"/>
          </a:xfrm>
          <a:prstGeom prst="rect">
            <a:avLst/>
          </a:prstGeom>
          <a:solidFill>
            <a:srgbClr val="B04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572768"/>
            <a:ext cx="2386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04744"/>
                </a:solidFill>
                <a:latin typeface="Arial"/>
                <a:ea typeface="思源黑体"/>
                <a:cs typeface="思源黑体"/>
              </a:rPr>
              <a:t>高度同质化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与腾讯/百度/阿里/Dify 趋同，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差异主要落在流量入口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1463040"/>
            <a:ext cx="2715768" cy="21945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06840" y="1463040"/>
            <a:ext cx="82296" cy="2194560"/>
          </a:xfrm>
          <a:prstGeom prst="rect">
            <a:avLst/>
          </a:prstGeom>
          <a:solidFill>
            <a:srgbClr val="B04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8" y="1572768"/>
            <a:ext cx="2386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04744"/>
                </a:solidFill>
                <a:latin typeface="Arial"/>
                <a:ea typeface="思源黑体"/>
                <a:cs typeface="思源黑体"/>
              </a:rPr>
              <a:t>母公司利润压力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报道称字节 2025 净利同比降超70%*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（官方称会计口径，含期权成本）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31920"/>
            <a:ext cx="11201400" cy="17373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931920"/>
            <a:ext cx="82296" cy="1737360"/>
          </a:xfrm>
          <a:prstGeom prst="rect">
            <a:avLst/>
          </a:prstGeom>
          <a:solidFill>
            <a:srgbClr val="C26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041648"/>
            <a:ext cx="1087221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「模型进步稀释工作流价值」悖论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模型越弱、手工编排的工作流越有意义；模型不断进步，工作流的价值被稀释 —— 这是所有低代码 Agent 平台的共同隐忧。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生态绑定是双刃：深绑字节系=冷启动优势，也意味着迁移成本与「被锁定」担忧。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INDUSTRY TRENDS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踩中两大趋势：Agent 规模化 + MCP 标准化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可信度: 强=官方+多源 · 中=单一媒体/厂商自报 | 国内版 coze.cn ·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2715768" cy="22860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82296" cy="2286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572768"/>
            <a:ext cx="238658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MCP 成事实标准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2025.12 捐入 Linux 基金会，多巨头共治；扣子已全面支持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63040"/>
            <a:ext cx="2715768" cy="22860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63040"/>
            <a:ext cx="82296" cy="2286000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8728" y="1572768"/>
            <a:ext cx="238658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多 Agent 进生产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2026 多 Agent 进生产、A2A/AP2 协议标准化关键年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63040"/>
            <a:ext cx="2715768" cy="22860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63040"/>
            <a:ext cx="82296" cy="2286000"/>
          </a:xfrm>
          <a:prstGeom prst="rect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572768"/>
            <a:ext cx="238658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规模化生产力元年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2026 Agent 深入企业核心流程、超越 RPA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1463040"/>
            <a:ext cx="2715768" cy="22860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06840" y="1463040"/>
            <a:ext cx="82296" cy="2286000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8" y="1572768"/>
            <a:ext cx="238658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火山押注 Agent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豆包破 50万亿 token 后，火山主战场转向 Agent 落地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23360"/>
            <a:ext cx="11201400" cy="1691640"/>
          </a:xfrm>
          <a:prstGeom prst="roundRect">
            <a:avLst/>
          </a:prstGeom>
          <a:solidFill>
            <a:srgbClr val="EA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206240"/>
            <a:ext cx="106070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对扣子的含义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重心正从 C 端创作迁向「职场/企业生产力 + Vibe Coding」，恰好踩在「Agent 规模化元年 + MCP 标准化」两大趋势上 —— 这是 2.0 / 2.5 押注的主线。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KEY JUDGMENTS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三条洞察 + 两类行动建议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可信度: 强=官方+多源 · 中=单一媒体/厂商自报 | 国内版 coze.cn · 数据截至 2026-06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6949440" cy="438912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82296" cy="43891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481328"/>
            <a:ext cx="662025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核心洞察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① 扣子是字节 AI 闭环的「应用层抓手」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   价值在串起模型—算力—流量，脱离闭环会低估其战略权重。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② 开源是攻守兼备、最具杠杆的一步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   对外抢「事实标准」压制 Dify，对内为企业版/云服务引流。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③ 真正的战役在「长时程 + 企业生产力」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   竞争从「谁更易用」转向「谁能在企业核心流程稳定跑通多 Agent」。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1371600"/>
            <a:ext cx="4069080" cy="210312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5240" y="1371600"/>
            <a:ext cx="82296" cy="2103120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8" y="1481328"/>
            <a:ext cx="373989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建议 · 企业用户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轻量/创作 → 扣子 SaaS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敏感/合规 → HiAgent 或开源自托管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要多模型自由 → 评估 Dify 并行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3657600"/>
            <a:ext cx="4069080" cy="210312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3657600"/>
            <a:ext cx="82296" cy="2103120"/>
          </a:xfrm>
          <a:prstGeom prst="rect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36408" y="3767328"/>
            <a:ext cx="373989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建议 · 观察/投资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6223A"/>
                </a:solidFill>
                <a:latin typeface="Arial"/>
                <a:ea typeface="思源黑体"/>
                <a:cs typeface="思源黑体"/>
              </a:rPr>
              <a:t>盯三个信号：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① 企业版付费转化与营收披露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② 开源社区活跃度（Star/贡献/自托管）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③ 抖音电商等字节场景深度变现案例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74320"/>
            <a:ext cx="91440" cy="475488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6304"/>
            <a:ext cx="106070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SOURCES &amp; CONFIDENCE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数据来源与可信度（节选）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完整来源见随附研究记录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37376"/>
            <a:ext cx="548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14884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82296" cy="21488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481328"/>
            <a:ext cx="52029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6BE6"/>
                </a:solidFill>
                <a:latin typeface="Arial"/>
                <a:ea typeface="思源黑体"/>
                <a:cs typeface="思源黑体"/>
              </a:rPr>
              <a:t>官方 / 一手（强）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github.com/coze-dev（Star/版本 API 实测）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coze.cn 官方文档 · volcengine 火山引擎文档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cloudwego.io（Eino）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71600"/>
            <a:ext cx="5532120" cy="214884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371600"/>
            <a:ext cx="82296" cy="2148840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481328"/>
            <a:ext cx="52029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29A8F"/>
                </a:solidFill>
                <a:latin typeface="Arial"/>
                <a:ea typeface="思源黑体"/>
                <a:cs typeface="思源黑体"/>
              </a:rPr>
              <a:t>发布会 / 厂商披露（中-强）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Force 大会 2024.12 / 2025.06 / 2025.12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扣子 2.0 发布稿（2026.01）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豆包 1.6 发布（2025.06）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03320"/>
            <a:ext cx="5532120" cy="2057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703320"/>
            <a:ext cx="82296" cy="2057400"/>
          </a:xfrm>
          <a:prstGeom prst="rect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813048"/>
            <a:ext cx="5202936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3E8C"/>
                </a:solidFill>
                <a:latin typeface="Arial"/>
                <a:ea typeface="思源黑体"/>
                <a:cs typeface="思源黑体"/>
              </a:rPr>
              <a:t>权威媒体 / 智库（中）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极客公园《扣子两年生长真相》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量子位（开源拆箱 / 年度 AI 100）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36氪 · InfoQ · 钛媒体 · IDC（份额）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03320"/>
            <a:ext cx="5532120" cy="2057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703320"/>
            <a:ext cx="82296" cy="2057400"/>
          </a:xfrm>
          <a:prstGeom prst="rect">
            <a:avLst/>
          </a:prstGeom>
          <a:solidFill>
            <a:srgbClr val="C26B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813048"/>
            <a:ext cx="5202936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可信度处理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2937"/>
                </a:solidFill>
                <a:latin typeface="Arial"/>
                <a:ea typeface="思源黑体"/>
                <a:cs typeface="思源黑体"/>
              </a:rPr>
              <a:t>• GitHub 数字为 API 直读（强）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26B09"/>
                </a:solidFill>
                <a:latin typeface="Arial"/>
                <a:ea typeface="思源黑体"/>
                <a:cs typeface="思源黑体"/>
              </a:rPr>
              <a:t>• 定价/458万月活/首日50万 等单源标「中」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B04744"/>
                </a:solidFill>
                <a:latin typeface="Arial"/>
                <a:ea typeface="思源黑体"/>
                <a:cs typeface="思源黑体"/>
              </a:rPr>
              <a:t>• 务必区分「豆包 App」与「扣子平台」数据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2743200"/>
            <a:ext cx="5029200" cy="5029200"/>
          </a:xfrm>
          <a:prstGeom prst="ellipse">
            <a:avLst/>
          </a:prstGeom>
          <a:solidFill>
            <a:srgbClr val="16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9601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9DBBF2"/>
                </a:solidFill>
                <a:latin typeface="Arial"/>
                <a:ea typeface="思源黑体"/>
                <a:cs typeface="思源黑体"/>
              </a:rPr>
              <a:t>扣子 COZE · 深度洞察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3600" b="1" i="0">
                <a:solidFill>
                  <a:srgbClr val="FFFFFF"/>
                </a:solidFill>
                <a:latin typeface="Arial"/>
                <a:ea typeface="思源黑体"/>
                <a:cs typeface="思源黑体"/>
              </a:rPr>
              <a:t>一个平台，一条字节 AI 闭环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D8DEE9"/>
                </a:solidFill>
                <a:latin typeface="Arial"/>
                <a:ea typeface="思源黑体"/>
                <a:cs typeface="思源黑体"/>
              </a:rPr>
              <a:t>模型(豆包) → 应用(扣子) → 分发(抖音/飞书) → 算力(火山引擎)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Arial"/>
                <a:ea typeface="思源黑体"/>
                <a:cs typeface="思源黑体"/>
              </a:rPr>
              <a:t>综合全景洞察 · 2026 年 6 月 · 多源交叉验证 · 引用前请以官网/官方发布稿复核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