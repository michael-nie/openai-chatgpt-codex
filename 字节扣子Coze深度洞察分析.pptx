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445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字节跳动 · 扣子 COZE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深度洞察分析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  <a:cs typeface="Microsoft YaHei"/>
              </a:rPr>
              <a:t>Product · Technology · Market · Business · Ecosystem · 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E5E7EB"/>
                </a:solidFill>
                <a:latin typeface="Microsoft YaHei"/>
                <a:ea typeface="Microsoft YaHei"/>
                <a:cs typeface="Microsoft YaHei"/>
              </a:rPr>
              <a:t>综合全景：产品定位 · 功能架构 · 底层技术与开源 · 用户与市场 · 商业化变现 · 生态协同 · 竞争格局 · 风险机会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聚焦国内版（coze.cn / 扣子）   |   2026 年 6 月   |   5 路并行检索 + 多源交叉验证 + 可信度分层标注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方法学提示：本次环境对多数中文媒体/官网 WebFetch 受限(403)，多数结论基于权威页面搜索摘要并经多源交叉印证；GitHub 数据为 API 实测一手值。引用前建议对照官网/官方发布稿核对确切数字与日期。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EXECUTIVE SUMMARY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执行摘要：六个核心洞察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 | 聚焦国内版 coze.cn ·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定位演进，而非一成不变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扣子是字节基于自研豆包大模型 + 火山引擎底座的一站式 AI Agent 开发平台；两年内从“零代码 Bot 工厂”→“通用 Agent(扣子空间)”→“职场 AI + Vibe Coding(2.0)”，定位多次升级。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规模领先，但要看口径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月活开发者 100万(2024.12)→ 300万(2025.12)；2.0 时官方称服务“上千万用户 / 1000万真实开发场景”，自称“中国最大的 Agent 开发平台”。口径随时间演变，勿混为单一曲线。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〔中-强〕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开源是关键战略落子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2025.7.26 开源 Coze Studio + Coze Loop(Apache 2.0，可商用)；Studio 已达约 2.1 万 Star。意在让扣子成为 Agent 开发“事实标准”、正面反制 Dify。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商业化“三段式火箭”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四档订阅 + 资源点按量计费 + 模板分成(平台抽 20%)；“扣子(开发者/C 端) + HiAgent(企业私有化)”双平台；开源引流 → 企业订阅 → 火山引擎算力/抖音流量变现。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〔中-强〕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护城河=模型×算力×流量×开源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豆包(日均 token 两年增约 1000 倍至 120 万亿)、火山引擎(模型调用份额升至 59.2%)、抖音/飞书分发生态、开源社区四位一体。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〔中-强〕</a:t>
            </a:r>
          </a:p>
          <a:p>
            <a:pPr lvl="1" algn="l">
              <a:spcBef>
                <a:spcPts val="0"/>
              </a:spcBef>
              <a:spcAft>
                <a:spcPts val="1000"/>
              </a:spcAft>
            </a:pPr>
            <a:r>
              <a:rPr sz="1150" b="0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⚠  </a:t>
            </a:r>
            <a:r>
              <a:rPr sz="1150" b="0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关键风险：工具型变现天花板与低粘性、定位反复摇摆、与腾讯/百度/阿里/Dify 高度同质化、母公司利润波动加大算力投入压力。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METHODOLOGY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研究方法与关键澄清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 | 聚焦国内版 coze.cn ·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8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流程 — </a:t>
            </a:r>
            <a:r>
              <a:rPr sz="12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将问题拆为 5 个角度(产品 / 市场 / 商业 / 技术 / 竞争)并行检索 → 去重抓取 → 多源交叉核验 → 按可信度排序综合。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8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可信度分层 — </a:t>
            </a:r>
            <a:r>
              <a:rPr sz="12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强(官方 + 多源交叉)；中(单一媒体或厂商自报、无第三方审计)；弱(已剔除或降级)。全程标注。</a:t>
            </a:r>
          </a:p>
          <a:p>
            <a:pPr lvl="1" algn="l">
              <a:spcBef>
                <a:spcPts val="0"/>
              </a:spcBef>
              <a:spcAft>
                <a:spcPts val="700"/>
              </a:spcAft>
            </a:pPr>
            <a:r>
              <a:rPr sz="1080" b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✗  </a:t>
            </a:r>
            <a:r>
              <a:rPr sz="108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关键澄清①：豆包 ≠ 扣子(最易踩坑)</a:t>
            </a:r>
          </a:p>
          <a:p>
            <a:pPr lvl="2" algn="l">
              <a:spcBef>
                <a:spcPts val="0"/>
              </a:spcBef>
              <a:spcAft>
                <a:spcPts val="700"/>
              </a:spcAft>
            </a:pPr>
            <a:r>
              <a:rPr sz="108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08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豆包是 C 端 AI 助手 App(月活以亿计)，扣子是面向开发者的 Agent 开发平台(规模以开发者/智能体数计)。“5700万日活”“3.4亿月活”均为豆包，不可挂在扣子名下。</a:t>
            </a:r>
          </a:p>
          <a:p>
            <a:pPr lvl="1" algn="l">
              <a:spcBef>
                <a:spcPts val="0"/>
              </a:spcBef>
              <a:spcAft>
                <a:spcPts val="700"/>
              </a:spcAft>
            </a:pPr>
            <a:r>
              <a:rPr sz="1080" b="0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~  </a:t>
            </a:r>
            <a:r>
              <a:rPr sz="1080" b="1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关键澄清②：开发者数量口径随时间变化</a:t>
            </a:r>
          </a:p>
          <a:p>
            <a:pPr lvl="2" algn="l">
              <a:spcBef>
                <a:spcPts val="0"/>
              </a:spcBef>
              <a:spcAft>
                <a:spcPts val="700"/>
              </a:spcAft>
            </a:pPr>
            <a:r>
              <a:rPr sz="108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08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100万“活跃开发者”(2024.12)→ 300万“月活开发者”(2025.12)→ “上千万用户/1000万开发场景”(2026.01)。三者计量口径不同，构成增长趋势但非同一指标。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8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80" b="1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核心限制 — </a:t>
            </a:r>
            <a:r>
              <a:rPr sz="1280" b="0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本次 WebFetch 对 coze.cn / 火山引擎 / 主流中文媒体多数 403，结论基于搜索摘要交叉印证；GitHub(开源 Star/版本)为 API 直读一手数据。定价/单源数字建议出稿前以官网复核。</a:t>
            </a:r>
            <a:r>
              <a:rPr sz="108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〔重要〕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PRODUCT 1/3 · POSITIONING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产品定位：扣子是什么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 | 聚焦国内版 coze.cn ·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一句话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无论是否有编程基础，都能快速搭建基于大模型的智能体 / AI 应用，并一键发布到多渠道的“一站式 AI Agent 开发平台”(零代码 / 低代码)。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双版本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海外版 Coze(coze.com)2023.11 上线，国内版扣子(coze.cn)2024.02 上线；国内版早期内置“云雀”，现以自研豆包为主力并开放多模型。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目标用户三层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① 个人创作者(私域营销 / 自媒体)；② 中小开发者；③ 企业级客户(扣子专业版 / 私有化)。订阅分免费版 / 进阶版 / 团队版 / 企业版。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〔中-强〕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战略洞察：“严肃开发者”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据极客公园深度报道，扣子团队最初想做“全民可用”(像剪映)，后聚焦到有商业目的、靠它赚钱或解决效率问题的“严肃开发者”，定位经历多次校准。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在字节版图中的角色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模型(豆包)→ 应用构建(扣子)→ 分发(抖音/飞书/豆包)→ 算力(火山引擎)闭环中的“应用构建层”。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〔中-强〕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PRODUCT 2/3 · TIMELINE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产品演进时间轴：从 Bot 工厂到职场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日期与口径多源交叉 · 2025.12 与 2026.01 为相邻的两次发布(Force 大会 → 扣子 2.0 品牌升级) |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pic>
        <p:nvPicPr>
          <p:cNvPr id="8" name="Picture 7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11475720" cy="33865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节奏特征：上线即高速迭代——2024 完成商业化收费，2025 连推“通用 Agent(扣子空间)”与“开源(Studio/Loop)”两大动作，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2025 年底至 2026 年重心转向“职场生产力 + Vibe Coding”，并为 Agent 配置邮箱 / 云电脑 / 云手机(Agent World)。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PRODUCT 3/3 · CAPABILITIES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核心功能架构：六大能力模块 + 多渠道发布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 | 聚焦国内版 coze.cn ·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611880" cy="13716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82296" cy="13716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481328"/>
            <a:ext cx="32826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① 工作流 Workflow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可视化拖拽编排，节点含 LLM、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知识库、插件、代码、条件分支、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多模态、智能体节点等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1371600"/>
            <a:ext cx="3611880" cy="13716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371600"/>
            <a:ext cx="82296" cy="1371600"/>
          </a:xfrm>
          <a:prstGeom prst="rect">
            <a:avLst/>
          </a:prstGeom>
          <a:solidFill>
            <a:srgbClr val="12B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481328"/>
            <a:ext cx="32826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B5CB"/>
                </a:solidFill>
                <a:latin typeface="Microsoft YaHei"/>
                <a:ea typeface="Microsoft YaHei"/>
                <a:cs typeface="Microsoft YaHei"/>
              </a:rPr>
              <a:t>② 插件 Plugin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200+ 官方插件 + 自定义插件，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覆盖办公/设计/数据/舆情等；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可“MCP 化”发布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1371600"/>
            <a:ext cx="3611880" cy="13716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2" y="1371600"/>
            <a:ext cx="82296" cy="1371600"/>
          </a:xfrm>
          <a:prstGeom prst="rect">
            <a:avLst/>
          </a:prstGeom>
          <a:solidFill>
            <a:srgbClr val="6E4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481328"/>
            <a:ext cx="32826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4AF0"/>
                </a:solidFill>
                <a:latin typeface="Microsoft YaHei"/>
                <a:ea typeface="Microsoft YaHei"/>
                <a:cs typeface="Microsoft YaHei"/>
              </a:rPr>
              <a:t>③ 知识库 RAG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TXT/PDF/网页/Notion/飞书等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自动向量化 + 检索，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降低大模型幻觉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80360"/>
            <a:ext cx="3611880" cy="13716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880360"/>
            <a:ext cx="82296" cy="1371600"/>
          </a:xfrm>
          <a:prstGeom prst="rect">
            <a:avLst/>
          </a:prstGeom>
          <a:solidFill>
            <a:srgbClr val="1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2990088"/>
            <a:ext cx="32826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9A5E"/>
                </a:solidFill>
                <a:latin typeface="Microsoft YaHei"/>
                <a:ea typeface="Microsoft YaHei"/>
                <a:cs typeface="Microsoft YaHei"/>
              </a:rPr>
              <a:t>④ 记忆体系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变量 / 数据库 / 长期记忆，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形成对用户的个性化记忆，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支持读写权限控制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8536" y="2880360"/>
            <a:ext cx="3611880" cy="13716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88536" y="2880360"/>
            <a:ext cx="82296" cy="13716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2990088"/>
            <a:ext cx="32826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⑤ 多 Agent 编排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多智能体协同，按角色分工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(数据/分析/创作/执行)；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触发器支持定时/事件触发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2880360"/>
            <a:ext cx="3611880" cy="13716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2880360"/>
            <a:ext cx="82296" cy="1371600"/>
          </a:xfrm>
          <a:prstGeom prst="rect">
            <a:avLst/>
          </a:prstGeom>
          <a:solidFill>
            <a:srgbClr val="12B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990088"/>
            <a:ext cx="32826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B5CB"/>
                </a:solidFill>
                <a:latin typeface="Microsoft YaHei"/>
                <a:ea typeface="Microsoft YaHei"/>
                <a:cs typeface="Microsoft YaHei"/>
              </a:rPr>
              <a:t>⑥ 多模态 / 图像视频流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图像流可视化编排，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集成 Seedance 视频生成、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语音合成，构建“能看能听”Agent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2628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0C162C"/>
                </a:solidFill>
                <a:latin typeface="Microsoft YaHei"/>
                <a:ea typeface="Microsoft YaHei"/>
                <a:cs typeface="Microsoft YaHei"/>
              </a:rPr>
              <a:t>发布渠道（一键多端分发，扣子核心优势之一）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豆包 · 飞书 · 抖音(小程序/私信助手) · 微信(公众号/客服/小程序) · 企业微信 · API 服务 · Chat SDK · 网页/嵌入网站 · 扣子商店/模板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TECH 1/2 · MODELS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技术深钻①：底层模型与多模型开放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 | 聚焦国内版 coze.cn ·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主力模型豆包 1.6(2025.06)—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含 seed-1.6 / thinking / flash 三款；支持深度思考开/关/自适应三模式、多模态输入、256K 上下文；首创“按输入长度区间定价”，综合成本约为豆包 1.5 或 DeepSeek-R1 的 1/3。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多模型开放(非单一锁定)—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2024.06 上线“模型广场/竞技场”(匿名 PK 投票)，接入豆包、通义千问、智谱 GLM、MiniMax、Kimi 等；2025 初起接入 DeepSeek R1/V3，支持其思维链与 Function Calling。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〔中-强〕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开源版可接模型协议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Coze Studio 模型配置支持火山方舟(Ark)、OpenAI、DeepSeek、Claude、Gemini、Qwen、Ollama，配置 api_key + model 即可接入。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〔强(仓库直读)〕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底座关系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豆包经火山引擎对外提供，火山引擎提供算力与基础设施；扣子专业版即由火山引擎承载。模型→平台→算力一体。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lvl="1" algn="l"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○  </a:t>
            </a:r>
            <a:r>
              <a:rPr sz="11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存疑：SaaS 版当前在线模型完整清单与最新版本(如 GLM-4.6 / Qwen3 / Kimi K2 是否在列)未能从官方页核实；豆包 1.6 之后是否有更新版本本轮未覆盖。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TECH 2/2 · ARCHITECTURE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技术深钻②：运行时架构、RAG 与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 | 聚焦国内版 coze.cn ·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8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技术栈(开源版直读)— </a:t>
            </a:r>
            <a:r>
              <a:rPr sz="12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后端 Golang(HTTP 框架字节自研 Hertz)、前端 React + TypeScript、微服务 + 领域驱动设计(DDD)；最低 2 核 CPU + 4GB 内存即可本地部署。</a:t>
            </a:r>
            <a:r>
              <a:rPr sz="108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8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核心运行时 = CloudWeGo Eino — </a:t>
            </a:r>
            <a:r>
              <a:rPr sz="12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字节开源的 Go 大模型应用框架，已被抖音、豆包、Coze 多业务线采用；为扣子提供 Agent/工作流运行时、模型抽象、知识库索引与检索。</a:t>
            </a:r>
            <a:r>
              <a:rPr sz="108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8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RAG 检索 — </a:t>
            </a:r>
            <a:r>
              <a:rPr sz="12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开源版默认精确检索用 Elasticsearch、语义检索用 Milvus(可切换火山引擎云原生向量库 VikingDB)；中间件含 MySQL 8.4 / Redis 8 / etcd / MinIO / NSQ。</a:t>
            </a:r>
            <a:r>
              <a:rPr sz="108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〔强(配置直读)〕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8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MCP 全面支持 — </a:t>
            </a:r>
            <a:r>
              <a:rPr sz="12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2025.04 起工作流可作为 MCP 扩展，插件/工作流均可“MCP 化”，开发者可发布自研 MCP；内置高德、飞书多维表格、GitHub、MySQL、ClickHouse、语音合成等扩展。</a:t>
            </a:r>
            <a:r>
              <a:rPr sz="108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〔中-强〕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8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AgentOps = Coze Loop — </a:t>
            </a:r>
            <a:r>
              <a:rPr sz="12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覆盖 Prompt 开发(Playground/版本管理)、评测(多维自动化测试)、全链路可观测(input→output 每步记录)；经 Eino 接入多模型，提供多语言 SDK。</a:t>
            </a:r>
            <a:r>
              <a:rPr sz="108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OPEN-SOURCE STRATEGY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开源战略：Coze Studio + Coze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GitHub Stars/Forks 为 API 实测(2026-06-22) · 开源时间与协议多源一致 |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pic>
        <p:nvPicPr>
          <p:cNvPr id="8" name="Picture 7" descr="github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943600" cy="24560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29400" y="146304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时间与协议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2025.7.26 开源，均为 Apache 2.0，明确允许商用。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Coze Studio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开发平台开源版，脱胎于服务“数万企业、数百万开发者”的商业版；含工作流引擎、插件框架、知识库。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Coze Loop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AgentOps 全生命周期管理(Prompt/评测/可观测)。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开源 vs 商业 — </a:t>
            </a:r>
            <a:r>
              <a:rPr sz="1250" b="0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核心搭建能力开源；音色/语音、租户管理、企业弹性扩容等留作商业版变现点。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战略意图 — </a:t>
            </a:r>
            <a:r>
              <a:rPr sz="1250" b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以开源抢占 Agent 开发“事实标准”，正面对标/反制 Dify，并为企业版与火山引擎云服务引流。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MARKET 1/2 · GROWTH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市场地位与增长：中国最大的 Agent 开发平台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官方披露口径(Force 大会 / 扣子 2.0 发布稿) · 口径随时间演变，详见图注 |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8" name="Picture 7" descr="dev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400800" cy="35754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95160" y="1417320"/>
            <a:ext cx="4846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自身增长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月活开发者 100万(2024.12)→ 300万(2025.12)；智能体数 200万+(2024.12 起)。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2.0 口径跃升 — </a:t>
            </a:r>
            <a:r>
              <a:rPr sz="1250" b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2026.01 称服务“上千万用户 / 1000万真实开发场景”，自称“中国最大的 Agent 开发平台”。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第三方定位 — </a:t>
            </a: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多份 2025 选型榜单将扣子列为国内 Agent 平台第一梯队/榜首(用户规模最高、品牌热度最大)；量子位智库《年度 AI 100》列入 AI Agent 赛道 TOP3。</a:t>
            </a:r>
          </a:p>
          <a:p>
            <a:pPr lvl="1" algn="l"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○  </a:t>
            </a: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存疑：扣子“月活/月访问用户”有 200万 与 458万(2025.06) 两个口径(或分指 App 与网页端)；“首日 50 万”等单源数字建议复核。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MARKET 2/2 · SHARE &amp; FOUNDATION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市场份额与底座规模：豆包 + 火山引擎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IDC 数据为 MaaS/大模型平台口径，非 Agent 平台细分口径 · 豆包 token 为发布会披露的发展数据 |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8" name="Picture 7" descr="maas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71600"/>
            <a:ext cx="4050597" cy="3108960"/>
          </a:xfrm>
          <a:prstGeom prst="rect">
            <a:avLst/>
          </a:prstGeom>
        </p:spPr>
      </p:pic>
      <p:pic>
        <p:nvPicPr>
          <p:cNvPr id="9" name="Picture 8" descr="doubao_tok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5440680" cy="33571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475488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底座护城河：豆包大模型日均 token 两年增长约 1000 倍(2024.05 的 1200 亿 → 2026.03 的 120 万亿，居中国第一、全球前三)；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火山引擎大模型云上调用量份额从 2024 年 46.4% 升至 2025 年 59.2%(IDC)。注意：IDC MaaS 口径下字节约 16%、列第三；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截至本研究，未发现针对“Agent 开发平台”细分赛道给出扣子的明确市占率百分比，故不应为扣子标注精确市占。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BUSINESS 1/2 · PRICING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商业模式与变现：四档订阅 + 资源点计费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定价随计费规则在 2024–2026 间反复调整，时效性强；带“中”者为第三方整理，未经官网直接确认，以官网为准 |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0887" y="1371600"/>
          <a:ext cx="1078992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3931920"/>
                <a:gridCol w="12801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</a:t>
                      </a:r>
                    </a:p>
                  </a:txBody>
                  <a:tcPr anchor="ctr" marL="64008" marR="45720" marT="18288" marB="18288">
                    <a:solidFill>
                      <a:srgbClr val="0C16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价格(人民币)</a:t>
                      </a:r>
                    </a:p>
                  </a:txBody>
                  <a:tcPr anchor="ctr" marL="64008" marR="45720" marT="18288" marB="18288">
                    <a:solidFill>
                      <a:srgbClr val="0C16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资源/权益</a:t>
                      </a:r>
                    </a:p>
                  </a:txBody>
                  <a:tcPr anchor="ctr" marL="64008" marR="45720" marT="18288" marB="18288">
                    <a:solidFill>
                      <a:srgbClr val="0C16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可信度</a:t>
                      </a:r>
                    </a:p>
                  </a:txBody>
                  <a:tcPr anchor="ctr" marL="64008" marR="45720" marT="18288" marB="18288">
                    <a:solidFill>
                      <a:srgbClr val="0C162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个人免费版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500 资源点/天(每日重置)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29A5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个人进阶版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首月 9.9 元(原价 39.9 元/月)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3 万积分/月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C26B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团队版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按席位包年包月(单价未确证)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协同开发、跨空间迁移、方舟模型接入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C26B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企业版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4980 元/月，年付 8.3 折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300 万资源点/月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C26B0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专业版(付费)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按调用 Token 计费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付费用户每日赠 500 资源点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29A5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计费单位 — </a:t>
            </a: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资源点(积分)为核心结算；模型费 = Token 用量 × 模型单价；扣减顺序：资源点 &gt; 代金券 &gt; 现金账户。智能体交互已改为仅按模型 Token 计费(不再单独按次收费)。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创作者变现 — </a:t>
            </a:r>
            <a:r>
              <a: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2024.10 上线模板中心，创作者可定价售卖智能体模板，平台抽成 20%(创作者得 80%)；以 50 万奖池赛事拉新。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BUSINESS 2/2 · STRATEGY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商业化战略：双平台 + 三段式火箭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 | 聚焦国内版 coze.cn ·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486400" cy="18288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82296" cy="18288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27048"/>
            <a:ext cx="51572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双平台分工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扣子(coze.cn)：面向 C 端/开发者，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 低代码、易用、广度，含开源版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HiAgent(火山引擎)：面向企业级，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 支持私有化部署、数据不出内网，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 满足金融/医疗/制造合规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486400" cy="18288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82296" cy="1828800"/>
          </a:xfrm>
          <a:prstGeom prst="rect">
            <a:avLst/>
          </a:prstGeom>
          <a:solidFill>
            <a:srgbClr val="6E4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527048"/>
            <a:ext cx="51572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4AF0"/>
                </a:solidFill>
                <a:latin typeface="Microsoft YaHei"/>
                <a:ea typeface="Microsoft YaHei"/>
                <a:cs typeface="Microsoft YaHei"/>
              </a:rPr>
              <a:t>企业落地“1+N+X”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1 个统一控制台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N 个预置通用 Agent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X 个企业自建 Agent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宣称 AI 应用开发周期缩短 95%+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(火山引擎厂商口径)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20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C162C"/>
                </a:solidFill>
                <a:latin typeface="Microsoft YaHei"/>
                <a:ea typeface="Microsoft YaHei"/>
                <a:cs typeface="Microsoft YaHei"/>
              </a:rPr>
              <a:t>三段式火箭（媒体/分析框架，非官方表述）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69080"/>
            <a:ext cx="3611880" cy="1554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069080"/>
            <a:ext cx="82296" cy="1554480"/>
          </a:xfrm>
          <a:prstGeom prst="rect">
            <a:avLst/>
          </a:prstGeom>
          <a:solidFill>
            <a:srgbClr val="1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178808"/>
            <a:ext cx="32826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9A5E"/>
                </a:solidFill>
                <a:latin typeface="Microsoft YaHei"/>
                <a:ea typeface="Microsoft YaHei"/>
                <a:cs typeface="Microsoft YaHei"/>
              </a:rPr>
              <a:t>① 开源引流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社区版 Apache 2.0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免费可商用、本地部署，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吸引开发者、抢事实标准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8536" y="4069080"/>
            <a:ext cx="3611880" cy="1554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8536" y="4069080"/>
            <a:ext cx="82296" cy="155448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9704" y="4178808"/>
            <a:ext cx="32826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② 企业订阅变现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专属集群、SLA 保障、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租户管理、安全合规等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高级功能付费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4152" y="4069080"/>
            <a:ext cx="3611880" cy="15544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74152" y="4069080"/>
            <a:ext cx="82296" cy="1554480"/>
          </a:xfrm>
          <a:prstGeom prst="rect">
            <a:avLst/>
          </a:prstGeom>
          <a:solidFill>
            <a:srgbClr val="6E4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178808"/>
            <a:ext cx="32826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4AF0"/>
                </a:solidFill>
                <a:latin typeface="Microsoft YaHei"/>
                <a:ea typeface="Microsoft YaHei"/>
                <a:cs typeface="Microsoft YaHei"/>
              </a:rPr>
              <a:t>③ 生态层盈利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火山引擎算力/方舟模型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Token 费 + 抖音流量分发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(变现与云资源深度捆绑)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线索：据极客公园报道，扣子团队 2025 年初设定的商业化目标“半年内即达成”；但无公开营收金额，属定性表述。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ECOSYSTEM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字节 AI 生态协同：模型 → 应用 → 分发 → 算力闭环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 | 聚焦国内版 coze.cn ·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11880" cy="16002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82296" cy="16002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27048"/>
            <a:ext cx="3282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豆包 App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 端 AI 助手入口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月活以亿计(2026Q1 约 3.4 亿)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为生态导流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1417320"/>
            <a:ext cx="3611880" cy="16002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417320"/>
            <a:ext cx="82296" cy="1600200"/>
          </a:xfrm>
          <a:prstGeom prst="rect">
            <a:avLst/>
          </a:prstGeom>
          <a:solidFill>
            <a:srgbClr val="12B5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527048"/>
            <a:ext cx="3282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B5CB"/>
                </a:solidFill>
                <a:latin typeface="Microsoft YaHei"/>
                <a:ea typeface="Microsoft YaHei"/>
                <a:cs typeface="Microsoft YaHei"/>
              </a:rPr>
              <a:t>即梦 / Seedance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图像 / 视频生成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多模态创作能力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供扣子工作流调用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1417320"/>
            <a:ext cx="3611880" cy="16002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2" y="1417320"/>
            <a:ext cx="82296" cy="1600200"/>
          </a:xfrm>
          <a:prstGeom prst="rect">
            <a:avLst/>
          </a:prstGeom>
          <a:solidFill>
            <a:srgbClr val="6E4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27048"/>
            <a:ext cx="3282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E4AF0"/>
                </a:solidFill>
                <a:latin typeface="Microsoft YaHei"/>
                <a:ea typeface="Microsoft YaHei"/>
                <a:cs typeface="Microsoft YaHei"/>
              </a:rPr>
              <a:t>扣子 Coze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Agent / AI 应用构建层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开发者与企业的搭建平台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(本报告主角)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54680"/>
            <a:ext cx="3611880" cy="16002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154680"/>
            <a:ext cx="82296" cy="1600200"/>
          </a:xfrm>
          <a:prstGeom prst="rect">
            <a:avLst/>
          </a:prstGeom>
          <a:solidFill>
            <a:srgbClr val="1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264408"/>
            <a:ext cx="3282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9A5E"/>
                </a:solidFill>
                <a:latin typeface="Microsoft YaHei"/>
                <a:ea typeface="Microsoft YaHei"/>
                <a:cs typeface="Microsoft YaHei"/>
              </a:rPr>
              <a:t>火山引擎 + HiAgent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算力 / 方舟模型 / 向量库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企业级私有化 Agent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商业化与变现底座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8536" y="3154680"/>
            <a:ext cx="3611880" cy="16002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88536" y="3154680"/>
            <a:ext cx="82296" cy="16002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264408"/>
            <a:ext cx="3282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飞书智能伙伴 / Aily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办公协同场景 Agent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企业内部知识与流程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B 端落地入口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3154680"/>
            <a:ext cx="3611880" cy="160020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3154680"/>
            <a:ext cx="82296" cy="1600200"/>
          </a:xfrm>
          <a:prstGeom prst="rect">
            <a:avLst/>
          </a:prstGeom>
          <a:solidFill>
            <a:srgbClr val="C26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264408"/>
            <a:ext cx="3282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抖音 / 头条 / 番茄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海量 C 端流量分发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智能体可直接部署触达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扣子独特冷启动优势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9834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协同逻辑：豆包(模型)训练能力 → 扣子(平台)让能力可被搭建 → 抖音/飞书(渠道)分发触达 → 火山引擎(算力)承载并变现。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这条“模型—应用—分发—算力”闭环是扣子相对独立 Agent 平台的最大结构性差异。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COMPETITIVE LANDSCAPE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竞争格局对比：国内主要 Agent 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各家定位/数字多为厂商披露或媒体整理(中-高可信)；扣子优势在“易用+流量生态”，劣势在与竞品高度同质化 |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2287" y="1371600"/>
          <a:ext cx="1124712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6126480"/>
                <a:gridCol w="155448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</a:t>
                      </a:r>
                    </a:p>
                  </a:txBody>
                  <a:tcPr anchor="ctr" marL="64008" marR="45720" marT="18288" marB="18288">
                    <a:solidFill>
                      <a:srgbClr val="0C16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厂商/模型</a:t>
                      </a:r>
                    </a:p>
                  </a:txBody>
                  <a:tcPr anchor="ctr" marL="64008" marR="45720" marT="18288" marB="18288">
                    <a:solidFill>
                      <a:srgbClr val="0C16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定位与关键事实</a:t>
                      </a:r>
                    </a:p>
                  </a:txBody>
                  <a:tcPr anchor="ctr" marL="64008" marR="45720" marT="18288" marB="18288">
                    <a:solidFill>
                      <a:srgbClr val="0C16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分发壁垒</a:t>
                      </a:r>
                    </a:p>
                  </a:txBody>
                  <a:tcPr anchor="ctr" marL="64008" marR="45720" marT="18288" marB="18288">
                    <a:solidFill>
                      <a:srgbClr val="0C162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扣子 Coze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字节/豆包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零/低代码、易用、广度强；开源 Studio/Loop；个人+企业双线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B6CF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抖音/飞书/豆包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腾讯元器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腾讯/混元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免费、偏 C 端创作；一键分发，打通微信支付/企微 CRM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微信/QQ/公众号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腾讯云 ADP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腾讯云/混元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ADP 3.0(2025.09)，偏 To B 严肃生产，强 RAG/合规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企业渠道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文心 AgentBuilder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百度/文心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零低代码；核心=百度搜索/文心 App 流量；80万开发者(2024.11)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百度搜索/地图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阿里云百炼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阿里/通义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模型服务+Agent 双核；20万+开发者、80万+ Agent；企业级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阿里云/钉钉</a:t>
                      </a:r>
                    </a:p>
                  </a:txBody>
                  <a:tcPr anchor="ctr" marL="64008" marR="45720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Dify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一站式工业化流水线，企业级运维完整；扣子开源后最直接对手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中立/自托管</a:t>
                      </a:r>
                    </a:p>
                  </a:txBody>
                  <a:tcPr anchor="ctr" marL="64008" marR="45720" marT="18288" marB="18288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MOATS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护城河分析：四位一体的结构性优势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 | 聚焦国内版 coze.cn ·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① 自研模型底座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豆包系列 + 区间定价把成本压到 DeepSeek-R1 约 1/3；日均 token 两年增约 1000 倍至 120 万亿，模型能力与成本双重护城。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〔中-强〕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② 火山引擎算力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大模型云上调用量份额 2025 年 59.2%(IDC)，超百万家企业/个人使用；为扣子提供算力、推理、向量库底座并直接变现。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〔中-强〕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③ 字节流量分发(最独特)—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智能体可直接部署到抖音、今日头条、飞书等字节系产品，被评“生态繁荣度行业独一无二”；解决 Agent 冷启动与触达难题。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④ 开源生态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Apache 2.0 开源 + 2核4G 本地部署，抢占开发者心智与“事实标准”，对标 Dify；社区贡献反哺产品。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〔强〕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⑤ 易用性 + 多模型开放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可视化拖拽 + 200+ 插件 + 多模型(豆包/DeepSeek/Qwen/GLM…)，降低门槛、避免单一模型锁定担忧。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SWOT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SWOT 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 | 聚焦国内版 coze.cn ·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532120" cy="22402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82296" cy="2240280"/>
          </a:xfrm>
          <a:prstGeom prst="rect">
            <a:avLst/>
          </a:prstGeom>
          <a:solidFill>
            <a:srgbClr val="1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481328"/>
            <a:ext cx="5202936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9A5E"/>
                </a:solidFill>
                <a:latin typeface="Microsoft YaHei"/>
                <a:ea typeface="Microsoft YaHei"/>
                <a:cs typeface="Microsoft YaHei"/>
              </a:rPr>
              <a:t>S 优势 Strengths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豆包模型(120万亿 token/全球前三)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火山引擎(调用份额 59.2%)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抖音/飞书流量分发独一无二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开源生态(Studio 约 2.1万 Star)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易用 + 多模型开放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371600"/>
            <a:ext cx="5532120" cy="22402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82296" cy="2240280"/>
          </a:xfrm>
          <a:prstGeom prst="rect">
            <a:avLst/>
          </a:prstGeom>
          <a:solidFill>
            <a:srgbClr val="C26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481328"/>
            <a:ext cx="5202936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W 劣势 Weaknesses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工具型变现天花板、低粘性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两年内定位多次摇摆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与竞品功能高度同质化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深度绑定字节生态(迁移成本)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国内/海外版本割裂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49039"/>
            <a:ext cx="5532120" cy="22402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749039"/>
            <a:ext cx="82296" cy="224028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858767"/>
            <a:ext cx="5202936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O 机会 Opportunities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MCP/A2A 标准化(扣子已支持 MCP)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2026 被视为 Agent 规模化落地元年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职场 AI / Vibe Coding 新赛道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火山引擎主战场押注 Agent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企业 To B 私有化需求(HiAgent)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749039"/>
            <a:ext cx="5532120" cy="224028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749039"/>
            <a:ext cx="82296" cy="22402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858767"/>
            <a:ext cx="5202936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T 威胁 Threats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母公司利润波动加大算力投入压力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腾讯 ADP3.0/阿里百炼/Dify 夹击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模型进步“稀释工作流价值”悖论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监管/合规(出海面临欧盟 AI 法案)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同质化致价格战风险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RISKS &amp; CHALLENGES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风险与挑战（诚实披露）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 | 聚焦国内版 coze.cn ·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母公司利润压力 — </a:t>
            </a:r>
            <a:r>
              <a:rPr sz="1300" b="0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有报道称字节 2025 净利润同比下滑超 70%(主因 AI 算力/芯片采购猛增)；官方回应称系国际会计准则口径(含优先股/期权成本)，不反映运营实质。算力“吞金”是宏观风险。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〔中-强(含官方部分否认)〕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商业化天花板与低粘性 — </a:t>
            </a:r>
            <a:r>
              <a:rPr sz="1300" b="0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分析指工具型产品订阅付费逻辑挑战大、LTV 天花板低、低频低粘性。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〔中(观点)〕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“模型进步稀释工作流价值”悖论 — </a:t>
            </a:r>
            <a:r>
              <a:rPr sz="1300" b="0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模型越弱、工作流越有意义；模型不断进步，手工编排的价值被稀释。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〔中(观点)〕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定位摇摆 — </a:t>
            </a:r>
            <a:r>
              <a:rPr sz="1300" b="0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两年内 Bot 工厂 → 通用 Agent → 职场 AI + Vibe Coding 多次重定位，被报道描述为“走一步看一步”。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同质化 + 生态绑定双刃 — </a:t>
            </a:r>
            <a:r>
              <a:rPr sz="1300" b="0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与腾讯/百度/阿里/Dify 在工作流+插件+知识库+商店上高度趋同，差异主要落在各自流量入口；深绑字节生态既是冷启动优势，也带来锁定与迁移成本担忧。</a:t>
            </a:r>
            <a:r>
              <a:rPr sz="110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INDUSTRY TRENDS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行业趋势 2025–2026：对扣子的影响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 | 聚焦国内版 coze.cn ·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MCP 成事实标准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2025.12 MCP 捐入 Linux 基金会，多巨头共治；2026 成熟度快速追平 Docker。扣子空间/2.0 已全面支持 MCP，顺势受益。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〔中-强〕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多智能体进入生产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2026 被视为 Multi-Agent 进生产环境、A2A/AP2 协议标准化的关键年，出现“Agent 控制平面/多 Agent 仪表盘”。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从“可用”到“规模化生产力”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2026 被多份研报称为 Agent 规模化落地元年，深入企业核心流程、超越 RPA。与扣子 2.0“职场 AI”定位一致。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〔中〕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火山引擎押注 Agent — </a:t>
            </a: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豆包破 50 万亿 token 后，火山引擎宣布主战场转向 Agent 落地，与扣子/HiAgent 战略协同强化。</a:t>
            </a:r>
            <a:r>
              <a:rPr sz="1150" i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  〔中-强〕</a:t>
            </a:r>
          </a:p>
          <a:p>
            <a:pPr lvl="1" algn="l">
              <a:spcBef>
                <a:spcPts val="0"/>
              </a:spcBef>
              <a:spcAft>
                <a:spcPts val="1100"/>
              </a:spcAft>
            </a:pPr>
            <a:r>
              <a:rPr sz="1150" b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➔  </a:t>
            </a:r>
            <a:r>
              <a:rPr sz="115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含义：扣子的重心正从 C 端创作迁向“职场/企业生产力 + Vibe Coding”，踩在“Agent 规模化元年 + MCP 标准化”两大趋势上。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KEY JUDGMENTS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核心洞察与建议（分析层）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可信度: 强=官方+多源 · 中=单一媒体/厂商自报 · 弱=已剔除/降级 | 聚焦国内版 coze.cn · 数据截至 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洞察① 扣子的本质是字节 AI 闭环的“应用层抓手”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其价值不只在工具本身，而在把豆包模型、火山算力、抖音流量串成可变现闭环。脱离这条闭环看扣子会低估其战略权重。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洞察② 开源是攻守兼备的一步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对外抢 Agent 开发“事实标准”、压制 Dify；对内为企业版/云服务引流。是当前最清晰、最具杠杆的战略动作。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洞察③ 真正的战役在“长时程 + 企业生产力” — </a:t>
            </a: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竞争从“谁更易用”转向“谁能在职场/企业核心流程稳定跑通多 Agent”。2.0/2.5 的职场 AI、Agent World 即押此方向。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建议(企业用户)— </a:t>
            </a:r>
            <a:r>
              <a:rPr sz="1300" b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轻量/创作/快速验证用扣子(SaaS)；数据敏感/合规/私有化用 HiAgent 或开源自托管；多模型自由度需求高者，评估 Dify 等中立平台并行。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3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建议(观察/投资)— </a:t>
            </a:r>
            <a:r>
              <a:rPr sz="1300" b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盯三个信号：① 企业版/专业版付费转化与营收披露；② 开源社区活跃度(Star/贡献/企业自托管)；③ 与抖音电商等字节场景的深度变现案例。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SOURCES &amp; CONFIDENCE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数据来源与可信度说明（节选）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完整来源见随附研究记录；以下为各维度最权威/最具价值来源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官方 / 一手(高可信)—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github.com/coze-dev/coze-studio、coze-loop(Stars/版本 API 实测) · coze.cn 官方文档 · volcengine.com 火山引擎扣子文档/产品页 · cloudwego.io(Eino)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发布会 / 厂商披露 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火山引擎 Force 大会(2024.12 / 2025.06 / 2025.12) · 扣子 2.0 发布稿(2026.01) · 豆包大模型 1.6 发布(2025.06) · 火山引擎扣子企业交流日(2025.06)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权威媒体 / 智库 — </a:t>
            </a: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极客公园《扣子两年生长真相》 · 量子位(开源拆箱/年度 AI 100) · 36氪 · InfoQ · 钛媒体 · 雷峰网 · 新浪/腾讯财经 · IDC(MaaS 份额)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200" b="1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可信度处理 — </a:t>
            </a:r>
            <a:r>
              <a:rPr sz="1200" b="0">
                <a:solidFill>
                  <a:srgbClr val="C26B09"/>
                </a:solidFill>
                <a:latin typeface="Microsoft YaHei"/>
                <a:ea typeface="Microsoft YaHei"/>
                <a:cs typeface="Microsoft YaHei"/>
              </a:rPr>
              <a:t>GitHub 数字为 API 直读(强)；定价、458万月活、首日50万、300万开发者等单源/时效数字标注为“中”，建议以官网/官方稿复核。</a:t>
            </a:r>
          </a:p>
          <a:p>
            <a:pPr lvl="1"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⚠  </a:t>
            </a: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重点提示：务必区分“豆包(C 端 App)”与“扣子(开发者平台)”数据；开发者数量随时间存在“活跃/月活/用户/开发场景”口径切换。</a:t>
            </a:r>
          </a:p>
          <a:p>
            <a:pPr lvl="1"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129A5E"/>
                </a:solidFill>
                <a:latin typeface="Microsoft YaHei"/>
                <a:ea typeface="Microsoft YaHei"/>
                <a:cs typeface="Microsoft YaHei"/>
              </a:rPr>
              <a:t>✔  </a:t>
            </a:r>
            <a:r>
              <a:rPr sz="1200" b="1">
                <a:solidFill>
                  <a:srgbClr val="129A5E"/>
                </a:solidFill>
                <a:latin typeface="Microsoft YaHei"/>
                <a:ea typeface="Microsoft YaHei"/>
                <a:cs typeface="Microsoft YaHei"/>
              </a:rPr>
              <a:t>研究方式：5 路并行检索 + 多源交叉验证 + 可信度全程分层标注。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81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B6CF6"/>
                </a:solidFill>
                <a:latin typeface="Microsoft YaHei"/>
                <a:ea typeface="Microsoft YaHei"/>
                <a:cs typeface="Microsoft YaHei"/>
              </a:rPr>
              <a:t>扣子 Coze · 深度洞察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一个平台，一条字节 AI 闭环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5E7EB"/>
                </a:solidFill>
                <a:latin typeface="Microsoft YaHei"/>
                <a:ea typeface="Microsoft YaHei"/>
                <a:cs typeface="Microsoft YaHei"/>
              </a:rPr>
              <a:t>模型(豆包) → 应用(扣子) → 分发(抖音/飞书) → 算力(火山引擎)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综合全景洞察 · 2026 年 6 月 · 多源交叉验证 · 引用前请以官网/官方发布稿复核确切数字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