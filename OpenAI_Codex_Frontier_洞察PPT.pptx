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SWE-bench Verified</c:v>
                </c:pt>
              </c:strCache>
            </c:strRef>
          </c:tx>
          <c:spPr>
            <a:solidFill>
              <a:srgbClr val="10A3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A3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C9B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GPT-5-Codex</c:v>
                  </c:pt>
                  <c:pt idx="1">
                    <c:v>5.1-Codex-Max</c:v>
                  </c:pt>
                  <c:pt idx="2">
                    <c:v>GPT-5.5*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74.5</c:v>
                </c:pt>
                <c:pt idx="1">
                  <c:v>77.9</c:v>
                </c:pt>
                <c:pt idx="2">
                  <c:v>88.7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DCE5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采用率 %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GitHub Copilot</c:v>
                  </c:pt>
                  <c:pt idx="1">
                    <c:v>Cursor</c:v>
                  </c:pt>
                  <c:pt idx="2">
                    <c:v>Claude Code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</c:v>
                </c:pt>
                <c:pt idx="1">
                  <c:v>18</c:v>
                </c:pt>
                <c:pt idx="2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0"/>
        <c:axPos val="b"/>
        <c:majorGridlines>
          <c:spPr>
            <a:ln w="6350" cap="flat">
              <a:solidFill>
                <a:srgbClr val="DCE5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周活(万)</c:v>
                </c:pt>
              </c:strCache>
            </c:strRef>
          </c:tx>
          <c:spPr>
            <a:solidFill>
              <a:srgbClr val="10A37F"/>
            </a:solidFill>
            <a:ln w="38100" cap="flat">
              <a:solidFill>
                <a:srgbClr val="10A37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A37F"/>
              </a:solidFill>
              <a:ln w="9525" cap="flat">
                <a:solidFill>
                  <a:srgbClr val="10A3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2月</c:v>
                  </c:pt>
                  <c:pt idx="1">
                    <c:v>3月</c:v>
                  </c:pt>
                  <c:pt idx="2">
                    <c:v>4月初</c:v>
                  </c:pt>
                  <c:pt idx="3">
                    <c:v>4-21</c:v>
                  </c:pt>
                  <c:pt idx="4">
                    <c:v>6-02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5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深度洞察  ·  DEEP INSIGHT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Codex × Frontier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25420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纵深的编码 Agent  ×  横向的企业 Agent 平台 —— 同一战略的一体两面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1B2A47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3675888"/>
            <a:ext cx="841248" cy="841248"/>
          </a:xfrm>
          <a:prstGeom prst="ellipse">
            <a:avLst/>
          </a:prstGeom>
          <a:solidFill>
            <a:srgbClr val="10A37F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0137" y="3903025"/>
            <a:ext cx="386974" cy="3869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40280" y="36941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Codex(纵深)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240280" y="409651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把『软件工程』一个垂直做到极致:模型 × harness × 沙箱三位一体的自主编码 coworker。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45352" y="338328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1B2A47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65392" y="3675888"/>
            <a:ext cx="841248" cy="841248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529" y="3903025"/>
            <a:ext cx="386974" cy="3869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62672" y="36941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Frontier(横向)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62672" y="409651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agent 推广到全企业,补齐上下文/治理/评估的 AI coworker 控制平面。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650992" y="3886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4000" dirty="0"/>
          </a:p>
        </p:txBody>
      </p:sp>
      <p:sp>
        <p:nvSpPr>
          <p:cNvPr id="16" name="Text 12"/>
          <p:cNvSpPr/>
          <p:nvPr/>
        </p:nvSpPr>
        <p:spPr>
          <a:xfrm>
            <a:off x="822960" y="5532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年 6 月   ·   5 角度并行检索 + 对抗式核验(2/3 证伪即剔除)   ·   可信度全程分层标注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执行摘要:七条核心洞察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640080" cy="640080"/>
          </a:xfrm>
          <a:prstGeom prst="ellipse">
            <a:avLst/>
          </a:prstGeom>
          <a:solidFill>
            <a:srgbClr val="10A37F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750" y="1800454"/>
            <a:ext cx="294437" cy="2944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08176" y="160934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一个战略,两条战线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408176" y="192024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GPT-5.3-Codex 与 Frontier 同日(2026-02-05)发布,互为纵深与横向。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2798064"/>
            <a:ext cx="640080" cy="640080"/>
          </a:xfrm>
          <a:prstGeom prst="ellipse">
            <a:avLst/>
          </a:prstGeom>
          <a:solidFill>
            <a:srgbClr val="10A37F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50" y="2970886"/>
            <a:ext cx="294437" cy="2944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8176" y="27797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凶猛迭代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408176" y="309067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codex-1 → 5-Codex → 5.1-Max(24h+)→ 5.3 → GPT-5.5;基准持续刷新。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66928" y="3968496"/>
            <a:ext cx="640080" cy="64008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50" y="4141318"/>
            <a:ext cx="294437" cy="29443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08176" y="39502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Frontier=控制平面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408176" y="426110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四组件(上下文/执行/评估/治理),像管员工一样管 agent。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66928" y="5138928"/>
            <a:ext cx="640080" cy="640080"/>
          </a:xfrm>
          <a:prstGeom prst="ellipse">
            <a:avLst/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50" y="5311750"/>
            <a:ext cx="294437" cy="29443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08176" y="51206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企业收入引擎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408176" y="543153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企业收入 &gt;40%、目标年底~50%,Frontier 是『载体』(自报)。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272784" y="1627632"/>
            <a:ext cx="640080" cy="64008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5606" y="1800454"/>
            <a:ext cx="294437" cy="29443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14032" y="160934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格局两层叠加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7114032" y="192024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编码工具层(Copilot/Cursor/Claude Code)+ 企业平台层(Frontier vs 在位者)。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272784" y="2798064"/>
            <a:ext cx="640080" cy="640080"/>
          </a:xfrm>
          <a:prstGeom prst="ellipse">
            <a:avLst/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5606" y="2970886"/>
            <a:ext cx="294437" cy="29443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14032" y="27797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三重『Frontier』撞名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7114032" y="309067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Frontier ≠ Microsoft Frontier Suite ≠ OpenAI『frontier risk』。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272784" y="3968496"/>
            <a:ext cx="640080" cy="640080"/>
          </a:xfrm>
          <a:prstGeom prst="ellipse">
            <a:avLst/>
          </a:prstGeom>
          <a:solidFill>
            <a:srgbClr val="B91C1C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5606" y="4141318"/>
            <a:ext cx="294437" cy="294437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114032" y="39502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对前作的关键更正</a:t>
            </a:r>
            <a:endParaRPr lang="en-US" sz="1450" dirty="0"/>
          </a:p>
        </p:txBody>
      </p:sp>
      <p:sp>
        <p:nvSpPr>
          <p:cNvPr id="31" name="Text 22"/>
          <p:cNvSpPr/>
          <p:nvPr/>
        </p:nvSpPr>
        <p:spPr>
          <a:xfrm>
            <a:off x="7114032" y="426110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Alliances/Deployment Co/Codex Labs 实为真实;仅 Codex 2.0 系列判虚构。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566928" y="647395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〔强/中〕详见配套大纲与研究报告 · 中/弱项多为厂商自报或单源</a:t>
            </a:r>
            <a:endParaRPr lang="en-US" sz="850" dirty="0"/>
          </a:p>
        </p:txBody>
      </p:sp>
      <p:sp>
        <p:nvSpPr>
          <p:cNvPr id="33" name="Text 24"/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的 Agent 栈:Codex 与 Frontier 的位置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691640"/>
            <a:ext cx="512064" cy="512064"/>
          </a:xfrm>
          <a:prstGeom prst="ellipse">
            <a:avLst/>
          </a:prstGeom>
          <a:solidFill>
            <a:srgbClr val="64748B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1829897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2763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 模型层 · Models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0" y="162763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GPT-5.x 家族,含 GPT-5.3-Codex 推理引擎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2441448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6384" y="2560320"/>
            <a:ext cx="512064" cy="512064"/>
          </a:xfrm>
          <a:prstGeom prst="ellipse">
            <a:avLst/>
          </a:prstGeom>
          <a:solidFill>
            <a:srgbClr val="64748B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41" y="2698577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49631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 构建层 · Build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029200" y="249631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AgentKit / Agents SDK(Agent Builder · Connector Registry · ChatKit)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66928" y="3310128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E6F5EF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6384" y="3429000"/>
            <a:ext cx="512064" cy="512064"/>
          </a:xfrm>
          <a:prstGeom prst="ellipse">
            <a:avLst/>
          </a:prstGeom>
          <a:solidFill>
            <a:srgbClr val="10A37F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3567257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3649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 专用执行 · Codex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029200" y="336499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软件工程垂直的自主编码 coworker —— 模型×harness×沙箱(纵深)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66928" y="4178808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E2F0EF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6384" y="4297680"/>
            <a:ext cx="512064" cy="51206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41" y="4435937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23367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 编排治理 · Frontier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029200" y="42336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全企业 AI coworker 控制平面:上下文 + 执行 + 评估 + 治理(横向)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66928" y="5047488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86384" y="5166360"/>
            <a:ext cx="512064" cy="512064"/>
          </a:xfrm>
          <a:prstGeom prst="ellipse">
            <a:avLst/>
          </a:prstGeom>
          <a:solidFill>
            <a:srgbClr val="64748B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641" y="5304617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510235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 分发层 · ChatGPT 超级应用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029200" y="510235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 ChatGPT + Codex + agentic browsing + 合作伙伴应用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66928" y="5971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= 纵深</a:t>
            </a:r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(一个垂直做到极致) · </a:t>
            </a:r>
            <a:pPr algn="ctr"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= 横向</a:t>
            </a:r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(推广到全企业 + 治理) · 同日推进 2026-02-05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566928" y="647395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栈为本报告分析框架(综合官方表述 + 媒体框定)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· LINEAGE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Codex:三代复用,凶猛迭代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65376"/>
            <a:ext cx="566928" cy="566928"/>
          </a:xfrm>
          <a:prstGeom prst="ellipse">
            <a:avLst/>
          </a:prstGeom>
          <a:solidFill>
            <a:srgbClr val="10A37F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319" y="2018447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79222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身份澄清(2021 ≠ 2025)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72768" y="210312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初代(驱动 Copilot,API 2023-03 关停)≠ 2025 重启的自主软件工程 agent(codex-1 ← o3 RL 后训练)。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320040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BEDE3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41248" y="3438144"/>
            <a:ext cx="566928" cy="566928"/>
          </a:xfrm>
          <a:prstGeom prst="ellipse">
            <a:avLst/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319" y="3591215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72768" y="33649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更正(经核验)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72768" y="3675888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GPT-5.2-Codex 实为 2025-12-18(非 1 月);GPT-5.4 确实存在(2026-03-05,非 Codex 专用)。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66928" y="48006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基准已从 SWE-bench Verified 迁到 SWE-bench Pro / Terminal-Bench 2.0 —— 跨版本不可直接续比。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26480" y="15910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SWE-bench Verified(%)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035040" y="1874520"/>
          <a:ext cx="56692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 12"/>
          <p:cNvSpPr/>
          <p:nvPr/>
        </p:nvSpPr>
        <p:spPr>
          <a:xfrm>
            <a:off x="6035040" y="49834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GPT-5.5 88.7% 为 OpenAI 自报;独立 harness 约 82.6%。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66928" y="647395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数字为厂商自报基准 · 详见研究报告 §1.2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· ENGINEERING 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的工程内核:模型 × Harness × 沙箱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938528"/>
            <a:ext cx="731520" cy="731520"/>
          </a:xfrm>
          <a:prstGeom prst="ellipse">
            <a:avLst/>
          </a:prstGeom>
          <a:solidFill>
            <a:srgbClr val="10A37F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136038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73936" y="19568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Harness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73936" y="237744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零依赖、毫秒级启动、长会话无 GC 抖动;五工具循环走 Responses API。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72784" y="1627632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1938528"/>
            <a:ext cx="731520" cy="73152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902" y="2136038"/>
            <a:ext cx="336499" cy="3364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79792" y="19568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级沙箱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79792" y="237744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macOS=Seatbelt · Linux=bubblewrap+seccomp · Windows=受限令牌(+WSL)。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66928" y="36118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9536" y="3922776"/>
            <a:ext cx="731520" cy="731520"/>
          </a:xfrm>
          <a:prstGeom prst="ellipse">
            <a:avLst/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4120286"/>
            <a:ext cx="336499" cy="33649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73936" y="39410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Compaction · 长时程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73936" y="436168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跨上下文窗口蒸馏关键状态;5.1-Max 内部观察 24h+ 自主迭代。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72784" y="36118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3922776"/>
            <a:ext cx="731520" cy="731520"/>
          </a:xfrm>
          <a:prstGeom prst="ellipse">
            <a:avLst/>
          </a:prstGeom>
          <a:solidFill>
            <a:srgbClr val="10A37F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902" y="4120286"/>
            <a:ext cx="336499" cy="33649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79792" y="39410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自适应推理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79792" y="436168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low/medium/high + xhigh;单模型自调步,≠ 系统级路由。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66928" y="647395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架构事实多为官方文档/源码直读(高可信)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Frontier:企业 Agent 的控制平面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2026-02-05 发布的端到端企业平台,构建 / 部署 / 管理 AI agent(AI coworkers)。四大核心组件: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121408"/>
            <a:ext cx="731520" cy="731520"/>
          </a:xfrm>
          <a:prstGeom prst="ellipse">
            <a:avLst/>
          </a:prstGeom>
          <a:solidFill>
            <a:srgbClr val="10A37F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318918"/>
            <a:ext cx="336499" cy="3364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73936" y="213969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业务上下文(语义层)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73936" y="256032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 CRM/ERP/工单/数仓/内部应用,统一权限与检索,成为可共享的企业语义层。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72784" y="1810512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65392" y="2121408"/>
            <a:ext cx="731520" cy="73152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902" y="2318918"/>
            <a:ext cx="336499" cy="33649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79792" y="213969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Agent 执行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479792" y="256032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推理、处理文件、跑代码、调工具并建立记忆;开放环境,兼容第三方 agent。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66928" y="3822192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9536" y="4133088"/>
            <a:ext cx="731520" cy="731520"/>
          </a:xfrm>
          <a:prstGeom prst="ellipse">
            <a:avLst/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4330598"/>
            <a:ext cx="336499" cy="33649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73936" y="415137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评估与优化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773936" y="457200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内建反馈回路,表现对人类管理者透明,随时间持续改进(如绩效复盘)。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72784" y="3822192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65392" y="4133088"/>
            <a:ext cx="731520" cy="731520"/>
          </a:xfrm>
          <a:prstGeom prst="ellipse">
            <a:avLst/>
          </a:prstGeom>
          <a:solidFill>
            <a:srgbClr val="1B2A47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902" y="4330598"/>
            <a:ext cx="336499" cy="33649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79792" y="415137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安全与治理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479792" y="457200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对人 + AI coworker 统一 IAM;受限身份、清晰边界、可审计动作。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66928" y="647395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组件清单为官方;『控制平面』为媒体框定 · 研究报告 §5.2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· MODEL &amp; OPENNESS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像管员工一样管 Agent —— 且兼容多供应商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440680" cy="4114800"/>
          </a:xfrm>
          <a:prstGeom prst="roundRect">
            <a:avLst>
              <a:gd name="adj" fmla="val 2000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65376"/>
            <a:ext cx="603504" cy="603504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194" y="2028322"/>
            <a:ext cx="277612" cy="27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91056" y="18836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运营心智模型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246888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入职 Onboarding —— 学习机构知识与内部语言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80160" y="3218688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在岗学习 + 反馈 —— 表现透明、定向改进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80160" y="3968496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权限与边界 —— 受限身份、与 IAM 打通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80160" y="4718304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agent 从『一次性脚本』升级为可治理数字员工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99632" y="1627632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E2F0EF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73952" y="1865376"/>
            <a:ext cx="603504" cy="603504"/>
          </a:xfrm>
          <a:prstGeom prst="ellipse">
            <a:avLst/>
          </a:prstGeom>
          <a:solidFill>
            <a:srgbClr val="10A37F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898" y="2028322"/>
            <a:ext cx="277612" cy="2776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23760" y="18836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开放性 · 多供应商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473952" y="248716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兼容 OpenAI / 企业自建 / 第三方(Google · Microsoft · Anthropic)agent,经 MCP 集成;不取代 AgentKit/SDK,而是统一上下文+执行+评估。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199632" y="3776472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BEDE3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73952" y="4014216"/>
            <a:ext cx="603504" cy="603504"/>
          </a:xfrm>
          <a:prstGeom prst="ellipse">
            <a:avLst/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898" y="4177162"/>
            <a:ext cx="277612" cy="2776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223760" y="40325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中立悖论(分析)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473952" y="463600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宣称中立,却与自家 GPT-5.x 深绑;批评者主张『LLM 中立的控制平面』。真实中立程度取决于第三方集成深度,仍待观察。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66928" y="647395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运营模型为官方表述;中立悖论为分析/批评(部分批评源自身卖中立方案)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纵深 × 横向:同一战略的一体两面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212080" cy="3246120"/>
          </a:xfrm>
          <a:prstGeom prst="roundRect">
            <a:avLst>
              <a:gd name="adj" fmla="val 2535"/>
            </a:avLst>
          </a:prstGeom>
          <a:solidFill>
            <a:srgbClr val="E6F5EF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75104"/>
            <a:ext cx="731520" cy="731520"/>
          </a:xfrm>
          <a:prstGeom prst="ellipse">
            <a:avLst/>
          </a:prstGeom>
          <a:solidFill>
            <a:srgbClr val="10A37F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2172614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11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—— 纵深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把『软件工程』一个垂直做到极致。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 × harness × 沙箱三位一体;长时程自主、并行、可委派。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回答:『单个 agent 能做到多强?』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82512" y="1691640"/>
            <a:ext cx="5212080" cy="3246120"/>
          </a:xfrm>
          <a:prstGeom prst="roundRect">
            <a:avLst>
              <a:gd name="adj" fmla="val 2535"/>
            </a:avLst>
          </a:prstGeom>
          <a:solidFill>
            <a:srgbClr val="E2F0EF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84264" y="1975104"/>
            <a:ext cx="731520" cy="73152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774" y="2172614"/>
            <a:ext cx="336499" cy="3364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98664" y="2011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—— 横向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84264" y="292608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agent 推广到所有职能。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补齐上下文 / 治理 / 评估,让 agent 可被像员工一样管理。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回答:『一群 agent 如何在企业里安全协作?』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779008" y="2743200"/>
            <a:ext cx="603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3400" dirty="0"/>
          </a:p>
        </p:txBody>
      </p:sp>
      <p:sp>
        <p:nvSpPr>
          <p:cNvPr id="15" name="Shape 11"/>
          <p:cNvSpPr/>
          <p:nvPr/>
        </p:nvSpPr>
        <p:spPr>
          <a:xfrm>
            <a:off x="566928" y="512064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0E1729"/>
          </a:solidFill>
          <a:ln/>
        </p:spPr>
      </p:sp>
      <p:sp>
        <p:nvSpPr>
          <p:cNvPr id="16" name="Text 12"/>
          <p:cNvSpPr/>
          <p:nvPr/>
        </p:nvSpPr>
        <p:spPr>
          <a:xfrm>
            <a:off x="868680" y="512064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两条战线共同把竞争从『单轮代码质量』推向『企业级 agent 操作系统』——谁能同时做好『强单体 agent』与『可治理的 agent 群』,谁赢下一阶段。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两层竞争格局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编码工具层 · 职场采用率(JetBrains 2026,n&gt;10,000)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874520"/>
          <a:ext cx="55321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452628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满意度居首:CSAT 91% / NPS 54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~$2B ARR · 一年内 Claude Code 采用 ~6x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55080" y="155448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 Agent 平台层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27648" y="1920240"/>
            <a:ext cx="5303520" cy="749808"/>
          </a:xfrm>
          <a:prstGeom prst="roundRect">
            <a:avLst>
              <a:gd name="adj" fmla="val 10976"/>
            </a:avLst>
          </a:prstGeom>
          <a:solidFill>
            <a:srgbClr val="E6F5EF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47104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Frontier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47104" y="23134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多供应商控制平面 + 语义层;非 GA、定制定价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327648" y="2779776"/>
            <a:ext cx="5303520" cy="749808"/>
          </a:xfrm>
          <a:prstGeom prst="roundRect">
            <a:avLst>
              <a:gd name="adj" fmla="val 10976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47104" y="287121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Agentforce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547104" y="31729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18,000+ 公司;最贴近 CRM,锁定最紧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327648" y="3639312"/>
            <a:ext cx="5303520" cy="749808"/>
          </a:xfrm>
          <a:prstGeom prst="roundRect">
            <a:avLst>
              <a:gd name="adj" fmla="val 10976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47104" y="37307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Agent 365 / Frontier Suite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547104" y="40325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M365 E7,$99/用户;分发优势(撞名!)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327648" y="4498848"/>
            <a:ext cx="5303520" cy="749808"/>
          </a:xfrm>
          <a:prstGeom prst="roundRect">
            <a:avLst>
              <a:gd name="adj" fmla="val 10976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547104" y="459028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watsonx Orchestrate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547104" y="48920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多厂商控制平面;受监管行业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327648" y="5358384"/>
            <a:ext cx="5303520" cy="749808"/>
          </a:xfrm>
          <a:prstGeom prst="roundRect">
            <a:avLst>
              <a:gd name="adj" fmla="val 10976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547104" y="54498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AI Control Tower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547104" y="57515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ITSM/工作流就近治理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66928" y="647395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 2026 调查(强)· 平台数据多源(强/中)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&amp;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商业:企业收入引擎(多为自报 / 单源)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828800"/>
            <a:ext cx="2478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&gt;40%→~50%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76656" y="2743200"/>
            <a:ext cx="2478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企业收入占比(目标年底)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1828800"/>
            <a:ext cx="2478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$57–60亿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478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2026 Q1 营收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828800"/>
            <a:ext cx="2478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+~$10亿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478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季度领先 Anthropic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15984" y="1691640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25712" y="1828800"/>
            <a:ext cx="2478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500万+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25712" y="2743200"/>
            <a:ext cx="2478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周活(6-02)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3703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周活增长(万,2026)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02920" y="3977640"/>
          <a:ext cx="557784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355080" y="3703320"/>
            <a:ext cx="5285232" cy="2514600"/>
          </a:xfrm>
          <a:prstGeom prst="roundRect">
            <a:avLst>
              <a:gd name="adj" fmla="val 3273"/>
            </a:avLst>
          </a:prstGeom>
          <a:solidFill>
            <a:srgbClr val="FBEDE3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29400" y="3950208"/>
            <a:ext cx="603504" cy="603504"/>
          </a:xfrm>
          <a:prstGeom prst="ellipse">
            <a:avLst/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346" y="4113154"/>
            <a:ext cx="277612" cy="27761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379208" y="39684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战略与口径提醒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629400" y="4553712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是企业营收『载体』,与 Salesforce/ServiceNow/Microsoft 正面相撞。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口径:OpenAI 季度营收领先,但 ARR 口径 Anthropic 更高——勿混用。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66928" y="647395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营收/周活均为 OpenAI 自报或单一媒体(The Information),无第三方审计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核验结论与重要更正(诚实披露)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3584448" cy="2834640"/>
          </a:xfrm>
          <a:prstGeom prst="roundRect">
            <a:avLst>
              <a:gd name="adj" fmla="val 2903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01952"/>
            <a:ext cx="640080" cy="640080"/>
          </a:xfrm>
          <a:prstGeom prst="ellipse">
            <a:avLst/>
          </a:prstGeom>
          <a:solidFill>
            <a:srgbClr val="B91C1C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2074774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151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已剔除(证伪)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999232"/>
            <a:ext cx="31272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「Codex 2.0 / Orchestrator / SafeDeploy / OpenRepo」无可信来源;真实编排规范 = Symphony。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06824" y="1664208"/>
            <a:ext cx="3584448" cy="2834640"/>
          </a:xfrm>
          <a:prstGeom prst="roundRect">
            <a:avLst>
              <a:gd name="adj" fmla="val 2903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62856" y="1901952"/>
            <a:ext cx="640080" cy="640080"/>
          </a:xfrm>
          <a:prstGeom prst="ellipse">
            <a:avLst/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678" y="2074774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4568" y="26151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重要更正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44568" y="2999232"/>
            <a:ext cx="31272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Alliances / Deployment Co / Codex Labs 实为真实;5.2-Codex=2025-12-18;3M 周活在 4 月初;GPT-5.4 存在。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664208"/>
            <a:ext cx="3584448" cy="2834640"/>
          </a:xfrm>
          <a:prstGeom prst="roundRect">
            <a:avLst>
              <a:gd name="adj" fmla="val 2903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1901952"/>
            <a:ext cx="640080" cy="64008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574" y="2074774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84464" y="26151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已降级 / 已证实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84464" y="2999232"/>
            <a:ext cx="31272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「省 4x token」为 n≈1 任务级;营收/成效/周活多为自报。Frontier 多供应商开放性已多源证实。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66928" y="4736592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0E1729"/>
          </a:solidFill>
          <a:ln/>
        </p:spPr>
      </p:sp>
      <p:sp>
        <p:nvSpPr>
          <p:cNvPr id="20" name="Shape 15"/>
          <p:cNvSpPr/>
          <p:nvPr/>
        </p:nvSpPr>
        <p:spPr>
          <a:xfrm>
            <a:off x="841248" y="4992624"/>
            <a:ext cx="603504" cy="603504"/>
          </a:xfrm>
          <a:prstGeom prst="ellipse">
            <a:avLst/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194" y="5155570"/>
            <a:ext cx="277612" cy="2776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91056" y="49560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三重『Frontier』撞名,引用务必区分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591056" y="534009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OpenAI Frontier(企业 agent 平台)  ·  ② Microsoft Frontier Suite(M365 E7,$99/用户)  ·  ③ OpenAI『frontier risk』(前沿模型安全政策)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66928" y="647395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对抗式核验:2/3 证伪即剔除 · 详见研究报告 §6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选型建议:按场景对号入座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10512"/>
            <a:ext cx="548640" cy="548640"/>
          </a:xfrm>
          <a:prstGeom prst="ellipse">
            <a:avLst/>
          </a:prstGeom>
          <a:solidFill>
            <a:srgbClr val="10A37F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517" y="1958645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17904" y="171907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异步委派 / 并行批量 / CI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17920" y="17190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Codex(云)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732520" y="171907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隔离容器 + worktree + 免审批自主更可控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66928" y="2578608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6384" y="2724912"/>
            <a:ext cx="548640" cy="54864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17" y="2873045"/>
            <a:ext cx="252374" cy="252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17904" y="263347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数据敏感 / 隔离 / 合规(编码)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217920" y="26334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732520" y="263347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本地优先 + 应用层细粒度权限 + hooks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66928" y="3493008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86384" y="3639312"/>
            <a:ext cx="548640" cy="54864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7" y="3787445"/>
            <a:ext cx="252374" cy="25237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17904" y="354787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跨职能 agent 投产 + 治理 / 审计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17920" y="35478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Frontier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732520" y="354787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共享上下文 + 评估 + 权限(早期访问、定价未公开)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66928" y="4407408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86384" y="4553712"/>
            <a:ext cx="548640" cy="548640"/>
          </a:xfrm>
          <a:prstGeom prst="ellipse">
            <a:avLst/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17" y="4701845"/>
            <a:ext cx="252374" cy="25237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17904" y="446227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已重度绑定某 SaaS 生态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217920" y="44622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Agentforce / Agent 365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732520" y="446227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贴近业务与采购,但编排锁定更紧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66928" y="5321808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2F6F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86384" y="5468112"/>
            <a:ext cx="548640" cy="548640"/>
          </a:xfrm>
          <a:prstGeom prst="ellipse">
            <a:avLst/>
          </a:prstGeom>
          <a:solidFill>
            <a:srgbClr val="1B2A47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517" y="5616245"/>
            <a:ext cx="252374" cy="25237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17904" y="537667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务实团队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6217920" y="53766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双持 + 平台中立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8732520" y="537667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Codex/Claude 跑编码;按生态选编排层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566928" y="647395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综合工程事实与社区共识;非厂商背书 · 落地前须验证集成深度与合规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核心判断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566928" cy="566928"/>
          </a:xfrm>
          <a:prstGeom prst="ellipse">
            <a:avLst/>
          </a:prstGeom>
          <a:solidFill>
            <a:srgbClr val="10A37F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031" y="1936151"/>
            <a:ext cx="260787" cy="2607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27632" y="17465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护城河 = 模型×harness 协同设计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627632" y="211226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让模型与 agent 循环协同;代价是 OpenAI 模型锁定。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22960" y="2715768"/>
            <a:ext cx="566928" cy="566928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031" y="2868839"/>
            <a:ext cx="260787" cy="2607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27632" y="26791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的赌注 = 治理与上下文,而非模型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627632" y="30449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若兑现,护城河来自企业系统集成深度,而非单纯模型领先。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22960" y="3648456"/>
            <a:ext cx="566928" cy="566928"/>
          </a:xfrm>
          <a:prstGeom prst="ellipse">
            <a:avLst/>
          </a:prstGeom>
          <a:solidFill>
            <a:srgbClr val="10A37F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31" y="3801527"/>
            <a:ext cx="260787" cy="26078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27632" y="3611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竞争主战场 = 企业级 Agent 操作系统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627632" y="39776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从『单轮代码质量』转向『跨窗口状态 + 多 agent 治理』。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22960" y="4581144"/>
            <a:ext cx="566928" cy="566928"/>
          </a:xfrm>
          <a:prstGeom prst="ellipse">
            <a:avLst/>
          </a:prstGeom>
          <a:solidFill>
            <a:srgbClr val="C2410C"/>
          </a:solidFill>
          <a:ln/>
          <a:effectLst>
            <a:outerShdw sx="100000" sy="100000" kx="0" ky="0" algn="bl" rotWithShape="0" blurRad="88900" dist="38100" dir="5400000">
              <a:srgbClr val="0E1729">
                <a:alpha val="13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031" y="4734215"/>
            <a:ext cx="260787" cy="26078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27632" y="45445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认知风险 = 别被『谁第一』与『撞名』带偏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627632" y="49103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任何能力数字都须绑定『产品 + 版本 + 日期 + 来源』。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822960" y="58064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来源:OpenAI 官方 · TechCrunch/CNBC/Fortune/VentureBeat/SiliconANGLE/The Information · JetBrains 2026 · Epoch AI · Aikido · 详见配套大纲与研究报告。本次 WebFetch 受限,以多源搜索摘要交叉验证。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OpenAI Codex × Frontier 洞察</dc:title>
  <dc:subject>PptxGenJS Presentation</dc:subject>
  <dc:creator>Insight Research</dc:creator>
  <cp:lastModifiedBy>Insight Research</cp:lastModifiedBy>
  <cp:revision>1</cp:revision>
  <dcterms:created xsi:type="dcterms:W3CDTF">2026-06-22T17:57:36Z</dcterms:created>
  <dcterms:modified xsi:type="dcterms:W3CDTF">2026-06-22T17:57:36Z</dcterms:modified>
</cp:coreProperties>
</file>